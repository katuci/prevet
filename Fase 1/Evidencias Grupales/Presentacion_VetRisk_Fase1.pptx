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800" b="1" i="0">
                <a:solidFill>
                  <a:srgbClr val="FFFFFF"/>
                </a:solidFill>
                <a:latin typeface="Calibri"/>
              </a:rPr>
              <a:t>VetRisk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692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BFD3E6"/>
                </a:solidFill>
                <a:latin typeface="Calibri"/>
              </a:rPr>
              <a:t>Sistema predictivo de gestión del riesgo de inasistencia para clínicas veterinarias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160520"/>
            <a:ext cx="2926080" cy="411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Capstone PTY4614 · Definición de Proyecto APT — Fase 1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Katalina Mora Quiñones  ·  Uciell Madrid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Docente: Juan Alberto Gana Reyes  ·  Sede Plaza Norte  · 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Cómo agendan hoy las clínicas veterinarias pequeñas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6616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64008" cy="182880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Canales informales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15768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Las horas se piden, confirman y cancelan por llamada telefónica, WhatsApp e Instagram. No existe un sistema.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057400"/>
            <a:ext cx="356616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057400"/>
            <a:ext cx="64008" cy="1828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219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El cliente no llega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15768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Horas reservadas a las que el tutor no se presenta y que no alcanzan a reasignarse: box vacío, profesional ocioso, ingreso perdido.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2057400"/>
            <a:ext cx="356616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057400"/>
            <a:ext cx="64008" cy="182880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221992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Nadie lo mide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715768"/>
            <a:ext cx="31089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Sin registro estructurado la clínica no sabe cuántas horas pierde, ni cuándo, ni cuánto le cuesta.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11100816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53712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 problema que no se mide no se puede gestionar. Esa es la primera carencia que atacamos.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Dónde y a quiénes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Clínicas veterinarias periurbanas de la zona norte de la 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94960" cy="23774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" cy="237744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Nuestro caso de estudio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24328"/>
            <a:ext cx="49377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Clínica Veterinaria Clan — Lo Pinto
Junto a otros establecimientos de Batuco, que permiten contrastar los hallazgos.
Son clínicas pequeñas, de equipo reducido, fuera del radio de las grandes cadenas.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039112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12.482.679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1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perros y gatos con tutor en Chile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587752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60904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65 %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70662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asiste a la veterinaria al menos 1 vez al año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209544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282696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22 %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2841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creció el rubro veterinario en la RM durante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31336"/>
            <a:ext cx="5394960" cy="51206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04488"/>
            <a:ext cx="2011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3A5F"/>
                </a:solidFill>
                <a:latin typeface="Calibri"/>
              </a:rPr>
              <a:t>USD 1.942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50208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22303C"/>
                </a:solidFill>
                <a:latin typeface="Calibri"/>
              </a:rPr>
              <a:t>tamaño del mercado de cuidado de mascotas (2024)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5262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0" i="1">
                <a:solidFill>
                  <a:srgbClr val="8A9AA8"/>
                </a:solidFill>
                <a:latin typeface="Calibri"/>
              </a:rPr>
              <a:t>Fuentes: Subdere / U. Católica · INE · Informes de Expertos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Lo que ya existe en el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Revisión de la oferta tecnológica en Chile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0072"/>
                <a:gridCol w="4770598"/>
                <a:gridCol w="4220144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Solución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trata la inasistencia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Wirevet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Software integral. +240 clínicas. Desde $59.990/mes.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Recordatorio por WhatsApp, igual para todos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GVET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Gestión de clínicas y petshops, con app para el cliente.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Avisos por WhatsApp, sin diferenciación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VeteSoft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Plataforma en la nube: agenda, facturación, inventario.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Recordatorios automáticos programados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Ponkis · Okvet · PawZone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Soluciones de gestión clínica de menor escala.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03C"/>
                          </a:solidFill>
                          <a:latin typeface="Calibri"/>
                        </a:rPr>
                        <a:t>Recordatorios automáticos programados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00600"/>
            <a:ext cx="11100816" cy="914400"/>
          </a:xfrm>
          <a:prstGeom prst="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00600"/>
            <a:ext cx="73152" cy="91440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C3A2A"/>
                </a:solidFill>
                <a:latin typeface="Calibri"/>
              </a:rPr>
              <a:t>Todas hacen lo mismo: mandan el mismo recordatorio a todo el mundo. Ninguna distingue el riesgo.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 brecha que encontramos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Observación directa en terreno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394960" cy="2148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64008" cy="21488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055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No es que la tecnología no exista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24328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Existe, y es buena. Pero está diseñada para clínicas medianas y grandes de zonas urbanas centrales, con planes desde $59.990 mensuales.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65960"/>
            <a:ext cx="5394960" cy="2148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64008" cy="214884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3055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Es que no llega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24328"/>
            <a:ext cx="49377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En Lo Pinto y Batuco las clínicas siguen agendando por WhatsApp y llamada. La brecha no es de tecnología: es de adopción en un segmento desatendido.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11100816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Y hay una segunda brecha, más importante:</a:t>
            </a:r>
          </a:p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nadie estima la probabilidad de que una hora específica se pierda.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De dónde partimos: Huellitas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Sistema de gestión veterinaria en Django, desarrollado antes de esta asignatura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305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Usuarios y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7208" y="2011680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4368" y="21305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Mascotas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65776" y="2011680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2936" y="21305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Agenda de citas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24344" y="2011680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1504" y="21305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Historial clínico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2912" y="2011680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72" y="213055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Vacunas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70048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88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Síntomas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7208" y="2670048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2788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Inventario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65776" y="2670048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02936" y="2788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Adopciones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24344" y="2670048"/>
            <a:ext cx="2121408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7889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Reportes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520440"/>
            <a:ext cx="11100816" cy="2194560"/>
          </a:xfrm>
          <a:prstGeom prst="rect">
            <a:avLst/>
          </a:prstGeom>
          <a:solidFill>
            <a:srgbClr val="FB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520440"/>
            <a:ext cx="73152" cy="219456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033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8C3A2A"/>
                </a:solidFill>
                <a:latin typeface="Calibri"/>
              </a:rPr>
              <a:t>Y acá está el hallazgo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49377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El modelo de citas tiene tres estados: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pendiente  ·  completada  ·  cancelada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No existe «no asistió».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16052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3A2A"/>
                </a:solidFill>
                <a:latin typeface="Calibri"/>
              </a:rPr>
              <a:t>Si el tutor no llega, la cita queda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3A2A"/>
                </a:solidFill>
                <a:latin typeface="Calibri"/>
              </a:rPr>
              <a:t>«pendiente» para siempre.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3A2A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3A2A"/>
                </a:solidFill>
                <a:latin typeface="Calibri"/>
              </a:rPr>
              <a:t>El sistema gestiona la agenda,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C3A2A"/>
                </a:solidFill>
                <a:latin typeface="Calibri"/>
              </a:rPr>
              <a:t>pero no puede medir su pérdida.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1008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Ese es exactamente nuestro aporte: hacer medible lo que hoy no se registra.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 innovación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De recordar a predecir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257800" cy="3291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A9AA8"/>
                </a:solidFill>
                <a:latin typeface="Calibri"/>
              </a:rPr>
              <a:t>HOY  ·  Reactivo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16936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788920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Se manda un recordatorio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483864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355848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Idéntico para todos los clientes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050791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922776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Después de reservar, sin evaluar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617720"/>
            <a:ext cx="118872" cy="11887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489704"/>
            <a:ext cx="44805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No se usan los datos históricos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8" y="3383280"/>
            <a:ext cx="685800" cy="548640"/>
          </a:xfrm>
          <a:prstGeom prst="rightArrow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2011680"/>
            <a:ext cx="4837176" cy="32918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212848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09F3E"/>
                </a:solidFill>
                <a:latin typeface="Calibri"/>
              </a:rPr>
              <a:t>VETRISK  ·  Predictivo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2916936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27889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 calcula el riesgo de cada hora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483864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335584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Diferenciado según su historial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4050791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7" y="3922776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Al momento de reservar, anticipado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4617720"/>
            <a:ext cx="118872" cy="11887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7" y="4489704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Usa comportamiento previo y patrones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32120"/>
            <a:ext cx="1110081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Trasladamos modelos de predicción de inasistencia ya validados en salud humana a un sector que todavía no los usa.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 solución en cinco etapas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Cada etapa resuelve una carencia concreta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2121408" cy="82296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423160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Formalizar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Modelamos el proceso real de agendamiento en BPMN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7208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208" y="2148840"/>
            <a:ext cx="2121408" cy="82296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0168" y="2423160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Estructurar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Agregamos el registro de inasistencia que hoy no existe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65776" y="2148840"/>
            <a:ext cx="2121408" cy="8229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88736" y="2423160"/>
            <a:ext cx="502920" cy="502920"/>
          </a:xfrm>
          <a:prstGeom prst="ellipse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88736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8656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Medir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Indicadores: cuántas horas se pierden y cuánto cuestan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4344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24344" y="2148840"/>
            <a:ext cx="2121408" cy="82296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47304" y="2423160"/>
            <a:ext cx="502920" cy="502920"/>
          </a:xfrm>
          <a:prstGeom prst="ellipse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7304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7224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Predecir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7224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Puntuación de riesgo por cada hora agendada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82912" y="2148840"/>
            <a:ext cx="2121408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82912" y="2148840"/>
            <a:ext cx="2121408" cy="82296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05872" y="2423160"/>
            <a:ext cx="502920" cy="502920"/>
          </a:xfrm>
          <a:prstGeom prst="ellipse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05872" y="250545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3127248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F3A5F"/>
                </a:solidFill>
                <a:latin typeface="Calibri"/>
              </a:rPr>
              <a:t>Recomendar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5792" y="3611880"/>
            <a:ext cx="1783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Calibri"/>
              </a:rPr>
              <a:t>Tablero con las horas en riesgo y qué hacer con cada una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100816" cy="8686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21808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Primero lo hacemos medible. Después lo hacemos predecible.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Mock-up · Aplicación del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Prototipo navegable de la interfaz del cliente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828800"/>
            <a:ext cx="2148840" cy="4069080"/>
          </a:xfrm>
          <a:prstGeom prst="round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3856" y="1975104"/>
            <a:ext cx="1984248" cy="3776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3856" y="1975104"/>
            <a:ext cx="1984248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206654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Agendar hora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39" y="2578608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34439" y="2578608"/>
            <a:ext cx="54864" cy="53035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62456" y="262432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Clínica Clan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834639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Lo Pinto · Abierto hoy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39" y="3200400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62456" y="324612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Tipo de atención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345643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Consulta general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39" y="3822191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62456" y="3867911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Mascota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456" y="407822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Michi · Felino, 4 años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39" y="4443983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62456" y="4489703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Fecha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2456" y="470001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Lun 25 de agosto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39" y="5065775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34439" y="5065775"/>
            <a:ext cx="54864" cy="53035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62456" y="5111495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Continuar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62456" y="532180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1828800"/>
            <a:ext cx="2148840" cy="4069080"/>
          </a:xfrm>
          <a:prstGeom prst="round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85615" y="1975104"/>
            <a:ext cx="1984248" cy="3776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85615" y="1975104"/>
            <a:ext cx="1984248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86200" y="206654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Elegir profesional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86200" y="2578608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86200" y="2578608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14215" y="262432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Dra. Paz Herrera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14215" y="2834639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Medicina general · 11:30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86200" y="3200400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200400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4215" y="324612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Dr. Luis Contreras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14215" y="345643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Cirugía · 12:00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86200" y="3822191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886200" y="3822191"/>
            <a:ext cx="54864" cy="530352"/>
          </a:xfrm>
          <a:prstGeom prst="rect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4215" y="3867911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Dra. Ana Rojas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4215" y="407822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Sin cupo hoy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86200" y="4443983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14215" y="4489703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Ver más horarios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4215" y="470001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5065775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886200" y="5065775"/>
            <a:ext cx="54864" cy="53035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14215" y="5111495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Confirmar hora 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14215" y="532180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/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55080" y="1828800"/>
            <a:ext cx="2148840" cy="4069080"/>
          </a:xfrm>
          <a:prstGeom prst="roundRect">
            <a:avLst/>
          </a:prstGeom>
          <a:solidFill>
            <a:srgbClr val="2B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37376" y="1975104"/>
            <a:ext cx="1984248" cy="37764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37376" y="1975104"/>
            <a:ext cx="1984248" cy="47548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2066543"/>
            <a:ext cx="1783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Mis horas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37960" y="2578608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37960" y="2578608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65976" y="262432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Lun 25 · 11:30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5976" y="2834639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Consulta · Dra. Herrera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3200400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537960" y="3200400"/>
            <a:ext cx="54864" cy="530352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65976" y="3246120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Confirmar asistencia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5976" y="345643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Toca para confirmar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37960" y="3822191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537960" y="3822191"/>
            <a:ext cx="54864" cy="530352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65976" y="3867911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Cancelar hora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65976" y="4078224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Sin costo hasta 24 h antes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4443983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37960" y="4443983"/>
            <a:ext cx="54864" cy="530352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65976" y="4489703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Jue 04 · 17:00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65976" y="4700016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Vacunación · Dr. Contreras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5065775"/>
            <a:ext cx="1783080" cy="530352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65976" y="5111495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Historial de Michi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65976" y="5321807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50" b="0" i="0">
                <a:solidFill>
                  <a:srgbClr val="8A9AA8"/>
                </a:solidFill>
                <a:latin typeface="Calibri"/>
              </a:rPr>
              <a:t>3 atenciones previas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35440" y="1828800"/>
            <a:ext cx="2423160" cy="4069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235440" y="1828800"/>
            <a:ext cx="64008" cy="406908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491472" y="1993392"/>
            <a:ext cx="1965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Por qué importa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91472" y="2487168"/>
            <a:ext cx="1965960" cy="3246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La app no es solo comodidad para el tutor.
Es el canal que captura los datos que hoy no existen: quién reserva, cuándo, con cuánta anticipación, si confirma y si cancela.
Sin esos datos no hay predicción posible.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Mock-up · Tablero de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Lo que ve la administradora cada mañana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100816" cy="397763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2514600" cy="64008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Horas agendadas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142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esta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02152" y="2194560"/>
            <a:ext cx="2514600" cy="6400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Tasa de inasistencia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18,3 %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26 horas perdidas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194560"/>
            <a:ext cx="2514600" cy="6400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Ingreso no percibido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5936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$ 676.000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estimado del 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0536" y="2194560"/>
            <a:ext cx="251460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0536" y="2194560"/>
            <a:ext cx="2514600" cy="64008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23317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8A9AA8"/>
                </a:solidFill>
                <a:latin typeface="Calibri"/>
              </a:rPr>
              <a:t>Horas en riesgo alto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5128" y="2542032"/>
            <a:ext cx="2194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 i="0">
                <a:solidFill>
                  <a:srgbClr val="1F3A5F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2962656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8A9AA8"/>
                </a:solidFill>
                <a:latin typeface="Calibri"/>
              </a:rPr>
              <a:t>próximos 3 días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429000"/>
            <a:ext cx="512064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547872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Inasistencia por día de la semana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4459986"/>
            <a:ext cx="502920" cy="67894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Lun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20240" y="4706874"/>
            <a:ext cx="502920" cy="43205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2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Mar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4620463"/>
            <a:ext cx="502920" cy="518464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Mié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0" y="4768596"/>
            <a:ext cx="502920" cy="37033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2900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Jue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0" y="4299508"/>
            <a:ext cx="502920" cy="839419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Vie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3966210"/>
            <a:ext cx="502920" cy="117271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519379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950" b="0" i="0">
                <a:solidFill>
                  <a:srgbClr val="22303C"/>
                </a:solidFill>
                <a:latin typeface="Calibri"/>
              </a:rPr>
              <a:t>Sáb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42900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3547872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Horas en riesgo · acción recomendada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950208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46520" y="3950208"/>
            <a:ext cx="54864" cy="38404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005072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Mar 26 · 10:00 · J. Pérez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4032504"/>
            <a:ext cx="566928" cy="219456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050792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40233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Pedir confirmación telefónica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4379976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4379976"/>
            <a:ext cx="54864" cy="384048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4434840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Mar 26 · 16:30 · M. Silva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95360" y="4462272"/>
            <a:ext cx="566928" cy="219456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480560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ALTO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44531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Ofrecer en lista de espera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4809744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46520" y="4809744"/>
            <a:ext cx="54864" cy="3840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864607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Mié 27 · 09:00 · C. Rivas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95360" y="4892040"/>
            <a:ext cx="566928" cy="219456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4910328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81160" y="488289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Reforzar recordatorio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5239512"/>
            <a:ext cx="5029200" cy="38404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446520" y="5239512"/>
            <a:ext cx="54864" cy="384048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5294375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 i="0">
                <a:solidFill>
                  <a:srgbClr val="1F3A5F"/>
                </a:solidFill>
                <a:latin typeface="Calibri"/>
              </a:rPr>
              <a:t>Mié 27 · 12:00 · P. Soto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95360" y="5321807"/>
            <a:ext cx="566928" cy="219456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95360" y="5340096"/>
            <a:ext cx="5669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5312664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 i="0">
                <a:solidFill>
                  <a:srgbClr val="22303C"/>
                </a:solidFill>
                <a:latin typeface="Calibri"/>
              </a:rPr>
              <a:t>Sin acción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Arquitectura y tecnologías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Qué construimos y con qué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5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299"/>
                <a:gridCol w="3394464"/>
                <a:gridCol w="532105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Función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Sistema base Huellitas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Django 4.2 · SQLite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Pacientes, profesionales, agenda, roles — preexistente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Extensión del modelo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Django ORM · migraciones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Registro de inasistencia y variables predictoras — aporte del equipo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Modelamiento del proceso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BPMN — Bizagi Modeler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Representación formal del proceso y sus puntos críticos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Indicadores de gestión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Consultas SQL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Tasa de inasistencia, distribución e impacto económico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Modelo predictivo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Puntuación por reglas en SQL
(opcional: Python + scikit-learn)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Probabilidad de inasistencia y clasificación por nivel de riesgo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Tablero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Power BI Desktop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Indicadores, horas en riesgo y acción recomendada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Prototipo de interfaz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Figma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Especificación navegable de la app del tutor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Pruebas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Katalon Studio · Postman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Integridad del modelo, exactitud de indicadores y del modelo predictivo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374912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Control de versiones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Git · GitHub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Trazabilidad del desarrollo y de los aportes individuales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Metodología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CRISP-DM para el análisis, marco ágil para la gestión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6642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Comprensión del negocio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9424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32304" y="2103120"/>
            <a:ext cx="16642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23744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Comprensión de los datos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33088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103120"/>
            <a:ext cx="1664208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Preparación de los datos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16752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103120"/>
            <a:ext cx="1664208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Modelado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00416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296" y="2103120"/>
            <a:ext cx="1664208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Evaluación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84080" y="2606040"/>
            <a:ext cx="182880" cy="228600"/>
          </a:xfrm>
          <a:prstGeom prst="rightArrow">
            <a:avLst/>
          </a:prstGeom>
          <a:solidFill>
            <a:srgbClr val="8A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0" y="2103120"/>
            <a:ext cx="1664208" cy="123444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331720"/>
            <a:ext cx="148132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Despliegue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57600"/>
            <a:ext cx="35661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64008" cy="210312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822191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Gestión ágil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31596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Incrementos de 2 semanas, cada uno con un entregable verificable. Revisión de avance al cierre de cada incremento contra la carta Gantt.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3657600"/>
            <a:ext cx="35661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3657600"/>
            <a:ext cx="64008" cy="21031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3822191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Gestión de riesgos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31596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Matriz de probabilidad e impacto revisada en cada incremento, con plan de mitigación y contingencia. Es método y a la vez objeto del proyecto.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3657600"/>
            <a:ext cx="3566160" cy="2103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3657600"/>
            <a:ext cx="64008" cy="2103120"/>
          </a:xfrm>
          <a:prstGeom prst="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3822191"/>
            <a:ext cx="3108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Calidad y resguardo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315968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Plan de pruebas con casos documentados. Todo dato de la clínica se anonimiza y se trabaja con consentimiento informado.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Competencias del perfil de egreso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Qué pone en práctica el proyecto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79"/>
                <a:gridCol w="6330217"/>
                <a:gridCol w="1559618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Competencia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Cómo la aplica el proyecto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Indicadores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Gestionar proyectos informáticos, ofreciendo alternativas para la toma de decisiones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Planificación, alcance, carta Gantt y gestión de riesgos. El producto final es, además, una herramienta de gestión de riesgos.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2.1 · 2.2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Construir modelos de datos escalables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La clínica no tiene información estructurada: se diseña, normaliza e implementa el modelo, pensado para replicarse en otras clínicas.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3.1 · 3.2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Realizar pruebas de certificación de productos y procesos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La clínica decidirá con la información que entrega el sistema, por lo que su validez se verifica con un plan de pruebas formal.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1.1 · 1.2 · 1.3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166360"/>
            <a:ext cx="11100816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3A5F"/>
                </a:solidFill>
                <a:latin typeface="Calibri"/>
              </a:rPr>
              <a:t>Respaldadas por 6 Certificaciones de Módulo Duoc UC: Modelos de Datos · Requerimientos · Arquitectura · Calidad de Software · Gestión de Proyectos · Inteligencia de Negocios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El 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Distribución de responsabilidades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3949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64008" cy="29260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Katalina Mora Quiñones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70048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Analista de datos y gestora del proyecto
· Conducción de entrevistas
· Modelamiento BPMN del proceso
· Diseño e implementación del modelo de datos
· Indicadores de gestión
· Modelo de puntuación de riesgo
· Tablero de visualización
· Planificación y gestión de riesgos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394960" cy="292608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64008" cy="2926080"/>
          </a:xfrm>
          <a:prstGeom prst="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17627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Uciell Madrid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70048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Analista funcional y encargada de calidad
· Registro y sistematización de entrevistas
· Preparación y anonimización de los datos
· Diseño del prototipo de interfaz
· Diseño y ejecución del plan de pruebas
· Consolidación de la documentación técnica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74920"/>
            <a:ext cx="11100816" cy="5486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75504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Conjuntas: definición del proyecto · validación con la clínica · informe final · presentación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15000"/>
            <a:ext cx="1110081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8A9AA8"/>
                </a:solidFill>
                <a:latin typeface="Calibri"/>
              </a:rPr>
              <a:t>El sistema base Huellitas fue desarrollado antes de esta asignatura por Katalina Mora junto a una colaboradora externa. El módulo de riesgo de inasistencia es aporte íntegro del equipo.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Plan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12 actividades distribuidas en 18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53712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36554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9396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238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5080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7922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50764" y="19385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8A9AA8"/>
                </a:solidFill>
                <a:latin typeface="Calibri"/>
              </a:rPr>
              <a:t>S19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1284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Definición del Proyecto APT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2267712"/>
            <a:ext cx="1407213" cy="1828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1460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Levantamiento de requerimientos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5334" y="2569464"/>
            <a:ext cx="1407213" cy="1828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81635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Modelamiento del proceso (BPMN)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8176" y="2871216"/>
            <a:ext cx="1046266" cy="182880"/>
          </a:xfrm>
          <a:prstGeom prst="round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1810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Modelo de datos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29124" y="3172968"/>
            <a:ext cx="1407213" cy="182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1985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Preparación y carga de datos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1018" y="3474720"/>
            <a:ext cx="1046266" cy="1828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72160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Indicadores de gestión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2913" y="3776472"/>
            <a:ext cx="1046266" cy="182880"/>
          </a:xfrm>
          <a:prstGeom prst="round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Modelo de puntuación de riesgo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3861" y="4078224"/>
            <a:ext cx="1407213" cy="18288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2511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Prototipo de interfaz móvil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4808" y="4379976"/>
            <a:ext cx="1046266" cy="182880"/>
          </a:xfrm>
          <a:prstGeom prst="round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62686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Tablero de visualización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55755" y="4681728"/>
            <a:ext cx="1046266" cy="182880"/>
          </a:xfrm>
          <a:prstGeom prst="roundRect">
            <a:avLst/>
          </a:prstGeom>
          <a:solidFill>
            <a:srgbClr val="4F8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2861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Plan de pruebas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16703" y="4983480"/>
            <a:ext cx="1046266" cy="182880"/>
          </a:xfrm>
          <a:prstGeom prst="round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23036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Validación con la clínica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77650" y="5285232"/>
            <a:ext cx="1046266" cy="182880"/>
          </a:xfrm>
          <a:prstGeom prst="round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5321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Calibri"/>
              </a:rPr>
              <a:t>Informe final y presentación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38597" y="5586984"/>
            <a:ext cx="1046266" cy="182880"/>
          </a:xfrm>
          <a:prstGeom prst="roundRect">
            <a:avLst/>
          </a:prstGeom>
          <a:solidFill>
            <a:srgbClr val="C95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989320"/>
            <a:ext cx="11100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8A9AA8"/>
                </a:solidFill>
                <a:latin typeface="Calibri"/>
              </a:rPr>
              <a:t>Fase 1: semanas 1-4  ·  Fase 2: semanas 5-16  ·  Fase 3: semanas 16-18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Riesgos identificados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34747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 i="0">
                <a:solidFill>
                  <a:srgbClr val="8FA8C4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2E5C8A"/>
                </a:solidFill>
                <a:latin typeface="Calibri"/>
              </a:rPr>
              <a:t>Y cómo los abordamos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20240"/>
          <a:ext cx="1110081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979"/>
                <a:gridCol w="917422"/>
                <a:gridCol w="1009165"/>
                <a:gridCol w="596324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Prob.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Impacto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Mitigación</a:t>
                      </a:r>
                    </a:p>
                  </a:txBody>
                  <a:tcPr marL="82296" marR="82296" marT="45720" marB="45720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La clínica no conserva datos históricos digitales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El sistema base ya genera datos de demostración: se extiende para producir historial de inasistencias con las tasas que reporte la clínica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Baja disponibilidad de la clínica para entrevistas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Instrumento acotado a 40 minutos y contacto con más de un establecimiento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Dependencias entre las actividades del equipo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Medio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Incrementos de 2 semanas y actividades superpuestas en la Gantt</a:t>
                      </a:r>
                    </a:p>
                  </a:txBody>
                  <a:tcPr marL="82296" marR="82296" marT="45720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Brecha técnica del equipo en modelado predictivo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Alto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2303C"/>
                          </a:solidFill>
                          <a:latin typeface="Calibri"/>
                        </a:rPr>
                        <a:t>Modelo por reglas en SQL como línea base; machine learning como mejora opcional</a:t>
                      </a:r>
                    </a:p>
                  </a:txBody>
                  <a:tcPr marL="82296" marR="82296" marT="45720" marB="4572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40680"/>
            <a:ext cx="11100816" cy="777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</a:rPr>
              <a:t>El proyecto se completa aunque la etapa de machine learning no alcance a desarrollarse.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173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8FA8C4"/>
                </a:solidFill>
                <a:latin typeface="Calibri"/>
              </a:rPr>
              <a:t>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875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Las clínicas veterinarias pequeñas pierden horas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y ni siquiera pueden medir cuántas.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VetRisk estructura esos datos y anticipa</a:t>
            </a:r>
          </a:p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qué hora se va a perder, antes de que ocurra.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800600"/>
            <a:ext cx="2926080" cy="411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Katalina Mora Quiñones  ·  Uciell Madrid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9FB8D0"/>
                </a:solidFill>
                <a:latin typeface="Calibri"/>
              </a:rPr>
              <a:t>Capstone PTY4614 · Fase 1 · Agosto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