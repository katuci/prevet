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73" r:id="rId2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9.xml"/><Relationship Id="rId2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UCIELL — Apertura (30 s)</a:t>
            </a:r>
          </a:p>
          <a:p/>
          <a:p>
            <a:r>
              <a:t>Buenos días. Somos Katalina Mora y Uciell Madrid. Nuestro proyecto se llama PreVet y resuelve un problema que las clínicas veterinarias pequeñas tienen todos los días y no pueden ni siquiera medir.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UCIELL — El problema (1 min)</a:t>
            </a:r>
          </a:p>
          <a:p/>
          <a:p>
            <a:r>
              <a:t>Las clínicas chicas agendan por WhatsApp, teléfono e Instagram. Eso genera dos problemas. El primero: la gente no llega a su hora, y ese bloque se pierde. El segundo, y más grave: como no hay registro, la clínica no sabe cuántas horas pierde ni cuánto le cuesta. Frase para cerrar: un problema que no se mide, no se puede gestionar.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UCIELL — Contexto (45 s)</a:t>
            </a:r>
          </a:p>
          <a:p/>
          <a:p>
            <a:r>
              <a:t>Trabajamos con la Clínica Veterinaria Clan, en Lo Pinto, y con otras de Batuco. Son clínicas chicas, de equipo reducido, fuera del radio de las grandes cadenas. El sector es grande: 12,4 millones de mascotas con tutor en Chile, y las veterinarias crecieron 22% en la Región Metropolitana durante 2025.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UCIELL — El mercado (1 min)</a:t>
            </a:r>
          </a:p>
          <a:p/>
          <a:p>
            <a:r>
              <a:t>Revisamos lo que ya existe: Wirevet, GVET, VeteSoft y otras. El punto importante es la última columna: TODAS resuelven la inasistencia igual, mandando un recordatorio idéntico a todo el mundo. Ninguna distingue el riesgo de cada caso.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UCIELL — La brecha (1 min)</a:t>
            </a:r>
          </a:p>
          <a:p/>
          <a:p>
            <a:r>
              <a:t>Dos hallazgos. Primero: la tecnología existe, pero parte en 59.990 pesos mensuales y no llega a las clínicas chicas. Eso es una brecha de adopción, no de tecnología. Segundo, y es el que nos importa: nadie predice qué hora se va a perder. OJO: si preguntan, aclarar que no decimos que no existan apps veterinarias — sí existen.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KATALINA — El punto de partida (1 min)</a:t>
            </a:r>
          </a:p>
          <a:p/>
          <a:p>
            <a:r>
              <a:t>No partimos de cero: ya teníamos un sistema de gestión veterinaria funcionando. Al analizarlo encontramos el hueco: una cita solo puede estar pendiente, completada o cancelada. No existe 'no asistió'. Entonces, si el tutor no llega, esa cita queda pendiente para siempre y la clínica nunca sabe cuánto perdió. Ahí entra nuestro proyecto.</a:t>
            </a:r>
          </a:p>
          <a:p/>
          <a:p>
            <a:r>
              <a:t>SI PREGUNTAN POR LA AUTORÍA: el sistema base lo desarrollé antes de esta asignatura junto a una colaboradora externa; está declarado en la sección 2.9 del informe. El aporte del equipo es el módulo de riesgo de inasistencia.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KATALINA — La innovación (1 min)</a:t>
            </a:r>
          </a:p>
          <a:p/>
          <a:p>
            <a:r>
              <a:t>Acá está el corazón del proyecto. Hoy el mercado es reactivo: manda un recordatorio igual para todos. Nosotras calculamos el riesgo de cada hora antes de que llegue el día, usando el historial del tutor, la anticipación de la reserva, el día y el tipo de atención. Lo que hacemos es traer a las veterinarias los modelos de predicción de inasistencia que en salud humana ya están validados.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KATALINA — La solución (1 min)</a:t>
            </a:r>
          </a:p>
          <a:p/>
          <a:p>
            <a:r>
              <a:t>Cinco etapas, y el orden importa. Primero formalizamos el proceso, después estructuramos los datos, después medimos, recién ahí predecimos, y finalmente recomendamos qué hacer. La frase: primero lo hacemos medible, después lo hacemos predecible.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KATALINA — Alcance comprometido (1 min)</a:t>
            </a:r>
          </a:p>
          <a:p/>
          <a:p>
            <a:r>
              <a:t>Esta lámina es para dejar cerrado el alcance, como pidió el profesor. A la izquierda lo que nos comprometemos a entregar. A la derecha lo que dejamos explícitamente fuera: la app móvil se entrega como prototipo, no construida, y el machine learning es una mejora opcional. El modelo base de riesgo va en SQL, así que el proyecto se completa igual aunque esa parte no alcance.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UCIELL — Mock-up de la app (1 min)</a:t>
            </a:r>
          </a:p>
          <a:p/>
          <a:p>
            <a:r>
              <a:t>Así se vería la app del tutor: elegir tipo de atención, elegir profesional, y gestionar sus horas. Lo importante no es que sea bonita: es el canal que captura los datos que hoy no existen — quién reserva, cuándo, con cuánta anticipación, si confirma o cancela. Sin esos datos no hay predicción posible.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KATALINA — Mock-up del tablero (1,5 min)</a:t>
            </a:r>
          </a:p>
          <a:p/>
          <a:p>
            <a:r>
              <a:t>Esto es lo que ve la administradora de la clínica cada mañana. Arriba los indicadores: cuántas horas se agendaron, la tasa de inasistencia y cuánto dinero representa. Abajo a la izquierda el patrón por día. Y a la derecha lo importante: las horas en riesgo de los próximos días, con la acción recomendada para cada una. Los números son de ejemplo; los reales salen de la entrevista con la clínica.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KATALINA — Arquitectura (1 min)</a:t>
            </a:r>
          </a:p>
          <a:p/>
          <a:p>
            <a:r>
              <a:t>Las dos primeras filas marcan la diferencia: el sistema base es preexistente, la extensión es nuestra. El resto son herramientas gratuitas o de licencia estudiante, así que el proyecto no requiere inversión. El tablero va en Power BI conectado a la misma base.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UCIELL — Metodología (1 min)</a:t>
            </a:r>
          </a:p>
          <a:p/>
          <a:p>
            <a:r>
              <a:t>Usamos dos marcos que no compiten. CRISP-DM ordena el trabajo analítico, que es el estándar en proyectos de datos. Y un marco ágil ordena la gestión, en incrementos de dos semanas con un entregable verificable cada uno. Más gestión de riesgos y plan de pruebas de forma transversal. Si preguntan por qué dos: una es para el análisis, la otra para la gestión.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UCIELL — Competencias (45 s)</a:t>
            </a:r>
          </a:p>
          <a:p/>
          <a:p>
            <a:r>
              <a:t>El proyecto pone en práctica tres competencias del perfil de egreso, y en la última columna está el indicador de calidad que cubre cada una. Las seis certificaciones de módulo que tenemos respaldan justamente estas áreas.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AMBAS — El equipo (45 s)</a:t>
            </a:r>
          </a:p>
          <a:p/>
          <a:p>
            <a:r>
              <a:t>Katalina: datos, modelo de riesgo, tablero y gestión del proyecto. Uciell: análisis funcional, preparación de datos, prototipo y calidad. Cada una explica su propia parte en esta lámina.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KATALINA — Plan de trabajo (45 s)</a:t>
            </a:r>
          </a:p>
          <a:p/>
          <a:p>
            <a:r>
              <a:t>Doce actividades en las 18 semanas, repartidas en las tres fases. Fíjense en que las actividades se superponen a propósito, para que ninguna de las dos quede esperando el trabajo de la otra.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KATALINA — Riesgos (1 min)</a:t>
            </a:r>
          </a:p>
          <a:p/>
          <a:p>
            <a:r>
              <a:t>El riesgo principal era no tener datos históricos, y lo resolvimos: el sistema base ya trae un generador de datos de demostración que vamos a extender para producir historial de inasistencias con las tasas reales que nos reporte la clínica. Y la frase de abajo es importante: el proyecto se completa aunque el machine learning no alcance a desarrollarse.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UCIELL — Cierre (30 s)</a:t>
            </a:r>
          </a:p>
          <a:p/>
          <a:p>
            <a:r>
              <a:t>Para cerrar: las clínicas veterinarias chicas pierden horas y ni siquiera pueden medir cuántas. PreVet estructura esos datos y anticipa qué hora se va a perder, antes de que ocurra. Muchas gracias. Quedamos atentas a sus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10058400" cy="1188720"/>
          </a:xfrm>
          <a:prstGeom prst="rect">
            <a:avLst/>
          </a:prstGeom>
          <a:noFill/>
        </p:spPr>
        <p:txBody>
          <a:bodyPr wrap="square" anchor="t">
            <a:spAutoFit/>
          </a:bodyPr>
          <a:lstStyle/>
          <a:p>
            <a:pPr algn="l">
              <a:spcAft>
                <a:spcPts val="600"/>
              </a:spcAft>
            </a:pPr>
            <a:r>
              <a:rPr sz="6800" b="1" i="0">
                <a:solidFill>
                  <a:srgbClr val="FFFFFF"/>
                </a:solidFill>
                <a:latin typeface="Calibri"/>
              </a:rPr>
              <a:t>PreVet</a:t>
            </a:r>
          </a:p>
        </p:txBody>
      </p:sp>
      <p:sp>
        <p:nvSpPr>
          <p:cNvPr id="5" name="TextBox 4"/>
          <p:cNvSpPr txBox="1"/>
          <p:nvPr/>
        </p:nvSpPr>
        <p:spPr>
          <a:xfrm>
            <a:off x="1097280" y="3017520"/>
            <a:ext cx="9692640" cy="1005840"/>
          </a:xfrm>
          <a:prstGeom prst="rect">
            <a:avLst/>
          </a:prstGeom>
          <a:noFill/>
        </p:spPr>
        <p:txBody>
          <a:bodyPr wrap="square" anchor="t">
            <a:spAutoFit/>
          </a:bodyPr>
          <a:lstStyle/>
          <a:p>
            <a:pPr algn="l">
              <a:spcAft>
                <a:spcPts val="600"/>
              </a:spcAft>
            </a:pPr>
            <a:r>
              <a:rPr sz="2200" b="0" i="0">
                <a:solidFill>
                  <a:srgbClr val="BFD3E6"/>
                </a:solidFill>
                <a:latin typeface="Calibri"/>
              </a:rPr>
              <a:t>Sistema predictivo de gestión del riesgo de inasistencia para clínicas veterinarias</a:t>
            </a:r>
          </a:p>
        </p:txBody>
      </p:sp>
      <p:sp>
        <p:nvSpPr>
          <p:cNvPr id="6" name="Rectangle 5"/>
          <p:cNvSpPr/>
          <p:nvPr/>
        </p:nvSpPr>
        <p:spPr>
          <a:xfrm>
            <a:off x="1143000" y="4160520"/>
            <a:ext cx="292608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4526280"/>
            <a:ext cx="10058400" cy="1371600"/>
          </a:xfrm>
          <a:prstGeom prst="rect">
            <a:avLst/>
          </a:prstGeom>
          <a:noFill/>
        </p:spPr>
        <p:txBody>
          <a:bodyPr wrap="square" anchor="t">
            <a:spAutoFit/>
          </a:bodyPr>
          <a:lstStyle/>
          <a:p>
            <a:pPr algn="l">
              <a:spcAft>
                <a:spcPts val="500"/>
              </a:spcAft>
            </a:pPr>
            <a:r>
              <a:rPr sz="1400" b="0" i="0">
                <a:solidFill>
                  <a:srgbClr val="9FB8D0"/>
                </a:solidFill>
                <a:latin typeface="Calibri"/>
              </a:rPr>
              <a:t>Capstone PTY4614 · Evaluación 1 · Presentación de proyecto</a:t>
            </a:r>
          </a:p>
          <a:p>
            <a:pPr algn="l">
              <a:spcAft>
                <a:spcPts val="500"/>
              </a:spcAft>
            </a:pPr>
            <a:r>
              <a:rPr sz="1400" b="0" i="0">
                <a:solidFill>
                  <a:srgbClr val="9FB8D0"/>
                </a:solidFill>
                <a:latin typeface="Calibri"/>
              </a:rPr>
              <a:t>Katalina Mora Quiñones  ·  Uciell Madrid</a:t>
            </a:r>
          </a:p>
          <a:p>
            <a:pPr algn="l">
              <a:spcAft>
                <a:spcPts val="500"/>
              </a:spcAft>
            </a:pPr>
            <a:r>
              <a:rPr sz="1400" b="0" i="0">
                <a:solidFill>
                  <a:srgbClr val="9FB8D0"/>
                </a:solidFill>
                <a:latin typeface="Calibri"/>
              </a:rPr>
              <a:t>Docente: Juan Alberto Gana Reyes  ·  Sede Plaza Norte  ·  Septiembre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0241280" cy="640080"/>
          </a:xfrm>
          <a:prstGeom prst="rect">
            <a:avLst/>
          </a:prstGeom>
          <a:noFill/>
        </p:spPr>
        <p:txBody>
          <a:bodyPr wrap="square" anchor="t">
            <a:spAutoFit/>
          </a:bodyPr>
          <a:lstStyle/>
          <a:p>
            <a:pPr algn="l">
              <a:spcAft>
                <a:spcPts val="600"/>
              </a:spcAft>
            </a:pPr>
            <a:r>
              <a:rPr sz="2700" b="1" i="0">
                <a:solidFill>
                  <a:srgbClr val="FFFFFF"/>
                </a:solidFill>
                <a:latin typeface="Calibri"/>
              </a:rPr>
              <a:t>El problema</a:t>
            </a:r>
          </a:p>
        </p:txBody>
      </p:sp>
      <p:sp>
        <p:nvSpPr>
          <p:cNvPr id="5" name="TextBox 4"/>
          <p:cNvSpPr txBox="1"/>
          <p:nvPr/>
        </p:nvSpPr>
        <p:spPr>
          <a:xfrm>
            <a:off x="11247120" y="347472"/>
            <a:ext cx="640080" cy="457200"/>
          </a:xfrm>
          <a:prstGeom prst="rect">
            <a:avLst/>
          </a:prstGeom>
          <a:noFill/>
        </p:spPr>
        <p:txBody>
          <a:bodyPr wrap="square" anchor="t">
            <a:spAutoFit/>
          </a:bodyPr>
          <a:lstStyle/>
          <a:p>
            <a:pPr algn="r">
              <a:spcAft>
                <a:spcPts val="600"/>
              </a:spcAft>
            </a:pPr>
            <a:r>
              <a:rPr sz="1400" b="0" i="0">
                <a:solidFill>
                  <a:srgbClr val="8FA8C4"/>
                </a:solidFill>
                <a:latin typeface="Calibri"/>
              </a:rPr>
              <a:t>2</a:t>
            </a:r>
          </a:p>
        </p:txBody>
      </p:sp>
      <p:sp>
        <p:nvSpPr>
          <p:cNvPr id="6" name="TextBox 5"/>
          <p:cNvSpPr txBox="1"/>
          <p:nvPr/>
        </p:nvSpPr>
        <p:spPr>
          <a:xfrm>
            <a:off x="548640" y="1325880"/>
            <a:ext cx="11064240" cy="457200"/>
          </a:xfrm>
          <a:prstGeom prst="rect">
            <a:avLst/>
          </a:prstGeom>
          <a:noFill/>
        </p:spPr>
        <p:txBody>
          <a:bodyPr wrap="square" anchor="t">
            <a:spAutoFit/>
          </a:bodyPr>
          <a:lstStyle/>
          <a:p>
            <a:pPr algn="l">
              <a:spcAft>
                <a:spcPts val="600"/>
              </a:spcAft>
            </a:pPr>
            <a:r>
              <a:rPr sz="1500" b="0" i="1">
                <a:solidFill>
                  <a:srgbClr val="2E5C8A"/>
                </a:solidFill>
                <a:latin typeface="Calibri"/>
              </a:rPr>
              <a:t>Cómo agendan hoy las clínicas veterinarias pequeñas</a:t>
            </a:r>
          </a:p>
        </p:txBody>
      </p:sp>
      <p:sp>
        <p:nvSpPr>
          <p:cNvPr id="7" name="Rectangle 6"/>
          <p:cNvSpPr/>
          <p:nvPr/>
        </p:nvSpPr>
        <p:spPr>
          <a:xfrm>
            <a:off x="548640" y="2057400"/>
            <a:ext cx="3566160" cy="18288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057400"/>
            <a:ext cx="64008" cy="1828800"/>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221992"/>
            <a:ext cx="3108960" cy="384048"/>
          </a:xfrm>
          <a:prstGeom prst="rect">
            <a:avLst/>
          </a:prstGeom>
          <a:noFill/>
        </p:spPr>
        <p:txBody>
          <a:bodyPr wrap="square" anchor="t">
            <a:spAutoFit/>
          </a:bodyPr>
          <a:lstStyle/>
          <a:p>
            <a:pPr algn="l">
              <a:spcAft>
                <a:spcPts val="600"/>
              </a:spcAft>
            </a:pPr>
            <a:r>
              <a:rPr sz="1500" b="1" i="0">
                <a:solidFill>
                  <a:srgbClr val="1F3A5F"/>
                </a:solidFill>
                <a:latin typeface="Calibri"/>
              </a:rPr>
              <a:t>Canales informales</a:t>
            </a:r>
          </a:p>
        </p:txBody>
      </p:sp>
      <p:sp>
        <p:nvSpPr>
          <p:cNvPr id="10" name="TextBox 9"/>
          <p:cNvSpPr txBox="1"/>
          <p:nvPr/>
        </p:nvSpPr>
        <p:spPr>
          <a:xfrm>
            <a:off x="804672" y="2715768"/>
            <a:ext cx="3108960" cy="1005840"/>
          </a:xfrm>
          <a:prstGeom prst="rect">
            <a:avLst/>
          </a:prstGeom>
          <a:noFill/>
        </p:spPr>
        <p:txBody>
          <a:bodyPr wrap="square" anchor="t">
            <a:spAutoFit/>
          </a:bodyPr>
          <a:lstStyle/>
          <a:p>
            <a:pPr algn="l">
              <a:spcAft>
                <a:spcPts val="300"/>
              </a:spcAft>
            </a:pPr>
            <a:r>
              <a:rPr sz="1250" b="0" i="0">
                <a:solidFill>
                  <a:srgbClr val="22303C"/>
                </a:solidFill>
                <a:latin typeface="Calibri"/>
              </a:rPr>
              <a:t>Las horas se piden, confirman y cancelan por llamada telefónica, WhatsApp e Instagram. No existe un sistema.</a:t>
            </a:r>
          </a:p>
        </p:txBody>
      </p:sp>
      <p:sp>
        <p:nvSpPr>
          <p:cNvPr id="11" name="Rectangle 10"/>
          <p:cNvSpPr/>
          <p:nvPr/>
        </p:nvSpPr>
        <p:spPr>
          <a:xfrm>
            <a:off x="4315968" y="2057400"/>
            <a:ext cx="3566160" cy="18288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15968" y="2057400"/>
            <a:ext cx="64008" cy="182880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2221992"/>
            <a:ext cx="3108960" cy="384048"/>
          </a:xfrm>
          <a:prstGeom prst="rect">
            <a:avLst/>
          </a:prstGeom>
          <a:noFill/>
        </p:spPr>
        <p:txBody>
          <a:bodyPr wrap="square" anchor="t">
            <a:spAutoFit/>
          </a:bodyPr>
          <a:lstStyle/>
          <a:p>
            <a:pPr algn="l">
              <a:spcAft>
                <a:spcPts val="600"/>
              </a:spcAft>
            </a:pPr>
            <a:r>
              <a:rPr sz="1500" b="1" i="0">
                <a:solidFill>
                  <a:srgbClr val="1F3A5F"/>
                </a:solidFill>
                <a:latin typeface="Calibri"/>
              </a:rPr>
              <a:t>El cliente no llega</a:t>
            </a:r>
          </a:p>
        </p:txBody>
      </p:sp>
      <p:sp>
        <p:nvSpPr>
          <p:cNvPr id="14" name="TextBox 13"/>
          <p:cNvSpPr txBox="1"/>
          <p:nvPr/>
        </p:nvSpPr>
        <p:spPr>
          <a:xfrm>
            <a:off x="4572000" y="2715768"/>
            <a:ext cx="3108960" cy="1005840"/>
          </a:xfrm>
          <a:prstGeom prst="rect">
            <a:avLst/>
          </a:prstGeom>
          <a:noFill/>
        </p:spPr>
        <p:txBody>
          <a:bodyPr wrap="square" anchor="t">
            <a:spAutoFit/>
          </a:bodyPr>
          <a:lstStyle/>
          <a:p>
            <a:pPr algn="l">
              <a:spcAft>
                <a:spcPts val="300"/>
              </a:spcAft>
            </a:pPr>
            <a:r>
              <a:rPr sz="1250" b="0" i="0">
                <a:solidFill>
                  <a:srgbClr val="22303C"/>
                </a:solidFill>
                <a:latin typeface="Calibri"/>
              </a:rPr>
              <a:t>Horas reservadas a las que el tutor no se presenta y que no alcanzan a reasignarse: box vacío, profesional ocioso, ingreso perdido.</a:t>
            </a:r>
          </a:p>
        </p:txBody>
      </p:sp>
      <p:sp>
        <p:nvSpPr>
          <p:cNvPr id="15" name="Rectangle 14"/>
          <p:cNvSpPr/>
          <p:nvPr/>
        </p:nvSpPr>
        <p:spPr>
          <a:xfrm>
            <a:off x="8083296" y="2057400"/>
            <a:ext cx="3566160" cy="18288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3296" y="2057400"/>
            <a:ext cx="64008" cy="1828800"/>
          </a:xfrm>
          <a:prstGeom prst="rect">
            <a:avLst/>
          </a:prstGeom>
          <a:solidFill>
            <a:srgbClr val="C95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9327" y="2221992"/>
            <a:ext cx="3108960" cy="384048"/>
          </a:xfrm>
          <a:prstGeom prst="rect">
            <a:avLst/>
          </a:prstGeom>
          <a:noFill/>
        </p:spPr>
        <p:txBody>
          <a:bodyPr wrap="square" anchor="t">
            <a:spAutoFit/>
          </a:bodyPr>
          <a:lstStyle/>
          <a:p>
            <a:pPr algn="l">
              <a:spcAft>
                <a:spcPts val="600"/>
              </a:spcAft>
            </a:pPr>
            <a:r>
              <a:rPr sz="1500" b="1" i="0">
                <a:solidFill>
                  <a:srgbClr val="1F3A5F"/>
                </a:solidFill>
                <a:latin typeface="Calibri"/>
              </a:rPr>
              <a:t>Nadie lo mide</a:t>
            </a:r>
          </a:p>
        </p:txBody>
      </p:sp>
      <p:sp>
        <p:nvSpPr>
          <p:cNvPr id="18" name="TextBox 17"/>
          <p:cNvSpPr txBox="1"/>
          <p:nvPr/>
        </p:nvSpPr>
        <p:spPr>
          <a:xfrm>
            <a:off x="8339327" y="2715768"/>
            <a:ext cx="3108960" cy="1005840"/>
          </a:xfrm>
          <a:prstGeom prst="rect">
            <a:avLst/>
          </a:prstGeom>
          <a:noFill/>
        </p:spPr>
        <p:txBody>
          <a:bodyPr wrap="square" anchor="t">
            <a:spAutoFit/>
          </a:bodyPr>
          <a:lstStyle/>
          <a:p>
            <a:pPr algn="l">
              <a:spcAft>
                <a:spcPts val="300"/>
              </a:spcAft>
            </a:pPr>
            <a:r>
              <a:rPr sz="1250" b="0" i="0">
                <a:solidFill>
                  <a:srgbClr val="22303C"/>
                </a:solidFill>
                <a:latin typeface="Calibri"/>
              </a:rPr>
              <a:t>Sin registro estructurado la clínica no sabe cuántas horas pierde, ni cuándo, ni cuánto le cuesta.</a:t>
            </a:r>
          </a:p>
        </p:txBody>
      </p:sp>
      <p:sp>
        <p:nvSpPr>
          <p:cNvPr id="19" name="Rectangle 18"/>
          <p:cNvSpPr/>
          <p:nvPr/>
        </p:nvSpPr>
        <p:spPr>
          <a:xfrm>
            <a:off x="548640" y="4343400"/>
            <a:ext cx="11100816" cy="10515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553712"/>
            <a:ext cx="10424160" cy="731520"/>
          </a:xfrm>
          <a:prstGeom prst="rect">
            <a:avLst/>
          </a:prstGeom>
          <a:noFill/>
        </p:spPr>
        <p:txBody>
          <a:bodyPr wrap="square" anchor="ctr">
            <a:spAutoFit/>
          </a:bodyPr>
          <a:lstStyle/>
          <a:p>
            <a:pPr algn="l">
              <a:spcAft>
                <a:spcPts val="600"/>
              </a:spcAft>
            </a:pPr>
            <a:r>
              <a:rPr sz="2000" b="1" i="0">
                <a:solidFill>
                  <a:srgbClr val="FFFFFF"/>
                </a:solidFill>
                <a:latin typeface="Calibri"/>
              </a:rPr>
              <a:t>Un problema que no se mide no se puede gestionar. Esa es la primera carencia que atacamos.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0241280" cy="640080"/>
          </a:xfrm>
          <a:prstGeom prst="rect">
            <a:avLst/>
          </a:prstGeom>
          <a:noFill/>
        </p:spPr>
        <p:txBody>
          <a:bodyPr wrap="square" anchor="t">
            <a:spAutoFit/>
          </a:bodyPr>
          <a:lstStyle/>
          <a:p>
            <a:pPr algn="l">
              <a:spcAft>
                <a:spcPts val="600"/>
              </a:spcAft>
            </a:pPr>
            <a:r>
              <a:rPr sz="2700" b="1" i="0">
                <a:solidFill>
                  <a:srgbClr val="FFFFFF"/>
                </a:solidFill>
                <a:latin typeface="Calibri"/>
              </a:rPr>
              <a:t>Dónde y a quiénes</a:t>
            </a:r>
          </a:p>
        </p:txBody>
      </p:sp>
      <p:sp>
        <p:nvSpPr>
          <p:cNvPr id="5" name="TextBox 4"/>
          <p:cNvSpPr txBox="1"/>
          <p:nvPr/>
        </p:nvSpPr>
        <p:spPr>
          <a:xfrm>
            <a:off x="11247120" y="347472"/>
            <a:ext cx="640080" cy="457200"/>
          </a:xfrm>
          <a:prstGeom prst="rect">
            <a:avLst/>
          </a:prstGeom>
          <a:noFill/>
        </p:spPr>
        <p:txBody>
          <a:bodyPr wrap="square" anchor="t">
            <a:spAutoFit/>
          </a:bodyPr>
          <a:lstStyle/>
          <a:p>
            <a:pPr algn="r">
              <a:spcAft>
                <a:spcPts val="600"/>
              </a:spcAft>
            </a:pPr>
            <a:r>
              <a:rPr sz="1400" b="0" i="0">
                <a:solidFill>
                  <a:srgbClr val="8FA8C4"/>
                </a:solidFill>
                <a:latin typeface="Calibri"/>
              </a:rPr>
              <a:t>3</a:t>
            </a:r>
          </a:p>
        </p:txBody>
      </p:sp>
      <p:sp>
        <p:nvSpPr>
          <p:cNvPr id="6" name="TextBox 5"/>
          <p:cNvSpPr txBox="1"/>
          <p:nvPr/>
        </p:nvSpPr>
        <p:spPr>
          <a:xfrm>
            <a:off x="548640" y="1325880"/>
            <a:ext cx="11064240" cy="457200"/>
          </a:xfrm>
          <a:prstGeom prst="rect">
            <a:avLst/>
          </a:prstGeom>
          <a:noFill/>
        </p:spPr>
        <p:txBody>
          <a:bodyPr wrap="square" anchor="t">
            <a:spAutoFit/>
          </a:bodyPr>
          <a:lstStyle/>
          <a:p>
            <a:pPr algn="l">
              <a:spcAft>
                <a:spcPts val="600"/>
              </a:spcAft>
            </a:pPr>
            <a:r>
              <a:rPr sz="1500" b="0" i="1">
                <a:solidFill>
                  <a:srgbClr val="2E5C8A"/>
                </a:solidFill>
                <a:latin typeface="Calibri"/>
              </a:rPr>
              <a:t>Clínicas veterinarias periurbanas de la zona norte de la RM</a:t>
            </a:r>
          </a:p>
        </p:txBody>
      </p:sp>
      <p:sp>
        <p:nvSpPr>
          <p:cNvPr id="7" name="Rectangle 6"/>
          <p:cNvSpPr/>
          <p:nvPr/>
        </p:nvSpPr>
        <p:spPr>
          <a:xfrm>
            <a:off x="548640" y="1965960"/>
            <a:ext cx="5394960" cy="237744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965960"/>
            <a:ext cx="64008" cy="2377440"/>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130552"/>
            <a:ext cx="4937760" cy="384048"/>
          </a:xfrm>
          <a:prstGeom prst="rect">
            <a:avLst/>
          </a:prstGeom>
          <a:noFill/>
        </p:spPr>
        <p:txBody>
          <a:bodyPr wrap="square" anchor="t">
            <a:spAutoFit/>
          </a:bodyPr>
          <a:lstStyle/>
          <a:p>
            <a:pPr algn="l">
              <a:spcAft>
                <a:spcPts val="600"/>
              </a:spcAft>
            </a:pPr>
            <a:r>
              <a:rPr sz="1500" b="1" i="0">
                <a:solidFill>
                  <a:srgbClr val="1F3A5F"/>
                </a:solidFill>
                <a:latin typeface="Calibri"/>
              </a:rPr>
              <a:t>Nuestro caso de estudio</a:t>
            </a:r>
          </a:p>
        </p:txBody>
      </p:sp>
      <p:sp>
        <p:nvSpPr>
          <p:cNvPr id="10" name="TextBox 9"/>
          <p:cNvSpPr txBox="1"/>
          <p:nvPr/>
        </p:nvSpPr>
        <p:spPr>
          <a:xfrm>
            <a:off x="804672" y="2624328"/>
            <a:ext cx="4937760" cy="1554480"/>
          </a:xfrm>
          <a:prstGeom prst="rect">
            <a:avLst/>
          </a:prstGeom>
          <a:noFill/>
        </p:spPr>
        <p:txBody>
          <a:bodyPr wrap="square" anchor="t">
            <a:spAutoFit/>
          </a:bodyPr>
          <a:lstStyle/>
          <a:p>
            <a:pPr algn="l">
              <a:spcAft>
                <a:spcPts val="300"/>
              </a:spcAft>
            </a:pPr>
            <a:r>
              <a:rPr sz="1400" b="0" i="0">
                <a:solidFill>
                  <a:srgbClr val="22303C"/>
                </a:solidFill>
                <a:latin typeface="Calibri"/>
              </a:rPr>
              <a:t>Clínica Veterinaria Clan — Lo Pinto
Junto a otros establecimientos de Batuco, que permiten contrastar los hallazgos.
Son clínicas pequeñas, de equipo reducido, fuera del radio de las grandes cadenas.</a:t>
            </a:r>
          </a:p>
        </p:txBody>
      </p:sp>
      <p:sp>
        <p:nvSpPr>
          <p:cNvPr id="11" name="Rectangle 10"/>
          <p:cNvSpPr/>
          <p:nvPr/>
        </p:nvSpPr>
        <p:spPr>
          <a:xfrm>
            <a:off x="6263640" y="1965960"/>
            <a:ext cx="5394960" cy="51206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2039112"/>
            <a:ext cx="2011680" cy="384048"/>
          </a:xfrm>
          <a:prstGeom prst="rect">
            <a:avLst/>
          </a:prstGeom>
          <a:noFill/>
        </p:spPr>
        <p:txBody>
          <a:bodyPr wrap="square" anchor="t">
            <a:spAutoFit/>
          </a:bodyPr>
          <a:lstStyle/>
          <a:p>
            <a:pPr algn="l">
              <a:spcAft>
                <a:spcPts val="600"/>
              </a:spcAft>
            </a:pPr>
            <a:r>
              <a:rPr sz="1700" b="1" i="0">
                <a:solidFill>
                  <a:srgbClr val="1F3A5F"/>
                </a:solidFill>
                <a:latin typeface="Calibri"/>
              </a:rPr>
              <a:t>12.482.679</a:t>
            </a:r>
          </a:p>
        </p:txBody>
      </p:sp>
      <p:sp>
        <p:nvSpPr>
          <p:cNvPr id="13" name="TextBox 12"/>
          <p:cNvSpPr txBox="1"/>
          <p:nvPr/>
        </p:nvSpPr>
        <p:spPr>
          <a:xfrm>
            <a:off x="8503920" y="2084831"/>
            <a:ext cx="3063240" cy="384048"/>
          </a:xfrm>
          <a:prstGeom prst="rect">
            <a:avLst/>
          </a:prstGeom>
          <a:noFill/>
        </p:spPr>
        <p:txBody>
          <a:bodyPr wrap="square" anchor="t">
            <a:spAutoFit/>
          </a:bodyPr>
          <a:lstStyle/>
          <a:p>
            <a:pPr algn="l">
              <a:spcAft>
                <a:spcPts val="600"/>
              </a:spcAft>
            </a:pPr>
            <a:r>
              <a:rPr sz="1100" b="0" i="0">
                <a:solidFill>
                  <a:srgbClr val="22303C"/>
                </a:solidFill>
                <a:latin typeface="Calibri"/>
              </a:rPr>
              <a:t>perros y gatos con tutor en Chile</a:t>
            </a:r>
          </a:p>
        </p:txBody>
      </p:sp>
      <p:sp>
        <p:nvSpPr>
          <p:cNvPr id="14" name="Rectangle 13"/>
          <p:cNvSpPr/>
          <p:nvPr/>
        </p:nvSpPr>
        <p:spPr>
          <a:xfrm>
            <a:off x="6263640" y="2587752"/>
            <a:ext cx="5394960" cy="51206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2660904"/>
            <a:ext cx="2011680" cy="384048"/>
          </a:xfrm>
          <a:prstGeom prst="rect">
            <a:avLst/>
          </a:prstGeom>
          <a:noFill/>
        </p:spPr>
        <p:txBody>
          <a:bodyPr wrap="square" anchor="t">
            <a:spAutoFit/>
          </a:bodyPr>
          <a:lstStyle/>
          <a:p>
            <a:pPr algn="l">
              <a:spcAft>
                <a:spcPts val="600"/>
              </a:spcAft>
            </a:pPr>
            <a:r>
              <a:rPr sz="1700" b="1" i="0">
                <a:solidFill>
                  <a:srgbClr val="1F3A5F"/>
                </a:solidFill>
                <a:latin typeface="Calibri"/>
              </a:rPr>
              <a:t>65 %</a:t>
            </a:r>
          </a:p>
        </p:txBody>
      </p:sp>
      <p:sp>
        <p:nvSpPr>
          <p:cNvPr id="16" name="TextBox 15"/>
          <p:cNvSpPr txBox="1"/>
          <p:nvPr/>
        </p:nvSpPr>
        <p:spPr>
          <a:xfrm>
            <a:off x="8503920" y="2706624"/>
            <a:ext cx="3063240" cy="384048"/>
          </a:xfrm>
          <a:prstGeom prst="rect">
            <a:avLst/>
          </a:prstGeom>
          <a:noFill/>
        </p:spPr>
        <p:txBody>
          <a:bodyPr wrap="square" anchor="t">
            <a:spAutoFit/>
          </a:bodyPr>
          <a:lstStyle/>
          <a:p>
            <a:pPr algn="l">
              <a:spcAft>
                <a:spcPts val="600"/>
              </a:spcAft>
            </a:pPr>
            <a:r>
              <a:rPr sz="1100" b="0" i="0">
                <a:solidFill>
                  <a:srgbClr val="22303C"/>
                </a:solidFill>
                <a:latin typeface="Calibri"/>
              </a:rPr>
              <a:t>asiste a la veterinaria al menos 1 vez al año</a:t>
            </a:r>
          </a:p>
        </p:txBody>
      </p:sp>
      <p:sp>
        <p:nvSpPr>
          <p:cNvPr id="17" name="Rectangle 16"/>
          <p:cNvSpPr/>
          <p:nvPr/>
        </p:nvSpPr>
        <p:spPr>
          <a:xfrm>
            <a:off x="6263640" y="3209544"/>
            <a:ext cx="5394960" cy="51206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3282696"/>
            <a:ext cx="2011680" cy="384048"/>
          </a:xfrm>
          <a:prstGeom prst="rect">
            <a:avLst/>
          </a:prstGeom>
          <a:noFill/>
        </p:spPr>
        <p:txBody>
          <a:bodyPr wrap="square" anchor="t">
            <a:spAutoFit/>
          </a:bodyPr>
          <a:lstStyle/>
          <a:p>
            <a:pPr algn="l">
              <a:spcAft>
                <a:spcPts val="600"/>
              </a:spcAft>
            </a:pPr>
            <a:r>
              <a:rPr sz="1700" b="1" i="0">
                <a:solidFill>
                  <a:srgbClr val="1F3A5F"/>
                </a:solidFill>
                <a:latin typeface="Calibri"/>
              </a:rPr>
              <a:t>22 %</a:t>
            </a:r>
          </a:p>
        </p:txBody>
      </p:sp>
      <p:sp>
        <p:nvSpPr>
          <p:cNvPr id="19" name="TextBox 18"/>
          <p:cNvSpPr txBox="1"/>
          <p:nvPr/>
        </p:nvSpPr>
        <p:spPr>
          <a:xfrm>
            <a:off x="8503920" y="3328416"/>
            <a:ext cx="3063240" cy="384048"/>
          </a:xfrm>
          <a:prstGeom prst="rect">
            <a:avLst/>
          </a:prstGeom>
          <a:noFill/>
        </p:spPr>
        <p:txBody>
          <a:bodyPr wrap="square" anchor="t">
            <a:spAutoFit/>
          </a:bodyPr>
          <a:lstStyle/>
          <a:p>
            <a:pPr algn="l">
              <a:spcAft>
                <a:spcPts val="600"/>
              </a:spcAft>
            </a:pPr>
            <a:r>
              <a:rPr sz="1100" b="0" i="0">
                <a:solidFill>
                  <a:srgbClr val="22303C"/>
                </a:solidFill>
                <a:latin typeface="Calibri"/>
              </a:rPr>
              <a:t>creció el rubro veterinario en la RM durante 2025</a:t>
            </a:r>
          </a:p>
        </p:txBody>
      </p:sp>
      <p:sp>
        <p:nvSpPr>
          <p:cNvPr id="20" name="Rectangle 19"/>
          <p:cNvSpPr/>
          <p:nvPr/>
        </p:nvSpPr>
        <p:spPr>
          <a:xfrm>
            <a:off x="6263640" y="3831336"/>
            <a:ext cx="5394960" cy="512064"/>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3904488"/>
            <a:ext cx="2011680" cy="384048"/>
          </a:xfrm>
          <a:prstGeom prst="rect">
            <a:avLst/>
          </a:prstGeom>
          <a:noFill/>
        </p:spPr>
        <p:txBody>
          <a:bodyPr wrap="square" anchor="t">
            <a:spAutoFit/>
          </a:bodyPr>
          <a:lstStyle/>
          <a:p>
            <a:pPr algn="l">
              <a:spcAft>
                <a:spcPts val="600"/>
              </a:spcAft>
            </a:pPr>
            <a:r>
              <a:rPr sz="1700" b="1" i="0">
                <a:solidFill>
                  <a:srgbClr val="1F3A5F"/>
                </a:solidFill>
                <a:latin typeface="Calibri"/>
              </a:rPr>
              <a:t>USD 1.942 M</a:t>
            </a:r>
          </a:p>
        </p:txBody>
      </p:sp>
      <p:sp>
        <p:nvSpPr>
          <p:cNvPr id="22" name="TextBox 21"/>
          <p:cNvSpPr txBox="1"/>
          <p:nvPr/>
        </p:nvSpPr>
        <p:spPr>
          <a:xfrm>
            <a:off x="8503920" y="3950208"/>
            <a:ext cx="3063240" cy="384048"/>
          </a:xfrm>
          <a:prstGeom prst="rect">
            <a:avLst/>
          </a:prstGeom>
          <a:noFill/>
        </p:spPr>
        <p:txBody>
          <a:bodyPr wrap="square" anchor="t">
            <a:spAutoFit/>
          </a:bodyPr>
          <a:lstStyle/>
          <a:p>
            <a:pPr algn="l">
              <a:spcAft>
                <a:spcPts val="600"/>
              </a:spcAft>
            </a:pPr>
            <a:r>
              <a:rPr sz="1100" b="0" i="0">
                <a:solidFill>
                  <a:srgbClr val="22303C"/>
                </a:solidFill>
                <a:latin typeface="Calibri"/>
              </a:rPr>
              <a:t>tamaño del mercado de cuidado de mascotas (2024)</a:t>
            </a:r>
          </a:p>
        </p:txBody>
      </p:sp>
      <p:sp>
        <p:nvSpPr>
          <p:cNvPr id="23" name="TextBox 22"/>
          <p:cNvSpPr txBox="1"/>
          <p:nvPr/>
        </p:nvSpPr>
        <p:spPr>
          <a:xfrm>
            <a:off x="6263640" y="4526280"/>
            <a:ext cx="5394960" cy="365760"/>
          </a:xfrm>
          <a:prstGeom prst="rect">
            <a:avLst/>
          </a:prstGeom>
          <a:noFill/>
        </p:spPr>
        <p:txBody>
          <a:bodyPr wrap="square" anchor="t">
            <a:spAutoFit/>
          </a:bodyPr>
          <a:lstStyle/>
          <a:p>
            <a:pPr algn="l">
              <a:spcAft>
                <a:spcPts val="600"/>
              </a:spcAft>
            </a:pPr>
            <a:r>
              <a:rPr sz="950" b="0" i="1">
                <a:solidFill>
                  <a:srgbClr val="8A9AA8"/>
                </a:solidFill>
                <a:latin typeface="Calibri"/>
              </a:rPr>
              <a:t>Fuentes: Subdere / U. Católica · INE · Informes de Expertos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0241280" cy="640080"/>
          </a:xfrm>
          <a:prstGeom prst="rect">
            <a:avLst/>
          </a:prstGeom>
          <a:noFill/>
        </p:spPr>
        <p:txBody>
          <a:bodyPr wrap="square" anchor="t">
            <a:spAutoFit/>
          </a:bodyPr>
          <a:lstStyle/>
          <a:p>
            <a:pPr algn="l">
              <a:spcAft>
                <a:spcPts val="600"/>
              </a:spcAft>
            </a:pPr>
            <a:r>
              <a:rPr sz="2700" b="1" i="0">
                <a:solidFill>
                  <a:srgbClr val="FFFFFF"/>
                </a:solidFill>
                <a:latin typeface="Calibri"/>
              </a:rPr>
              <a:t>Lo que ya existe en el mercado</a:t>
            </a:r>
          </a:p>
        </p:txBody>
      </p:sp>
      <p:sp>
        <p:nvSpPr>
          <p:cNvPr id="5" name="TextBox 4"/>
          <p:cNvSpPr txBox="1"/>
          <p:nvPr/>
        </p:nvSpPr>
        <p:spPr>
          <a:xfrm>
            <a:off x="11247120" y="347472"/>
            <a:ext cx="640080" cy="457200"/>
          </a:xfrm>
          <a:prstGeom prst="rect">
            <a:avLst/>
          </a:prstGeom>
          <a:noFill/>
        </p:spPr>
        <p:txBody>
          <a:bodyPr wrap="square" anchor="t">
            <a:spAutoFit/>
          </a:bodyPr>
          <a:lstStyle/>
          <a:p>
            <a:pPr algn="r">
              <a:spcAft>
                <a:spcPts val="600"/>
              </a:spcAft>
            </a:pPr>
            <a:r>
              <a:rPr sz="1400" b="0" i="0">
                <a:solidFill>
                  <a:srgbClr val="8FA8C4"/>
                </a:solidFill>
                <a:latin typeface="Calibri"/>
              </a:rPr>
              <a:t>4</a:t>
            </a:r>
          </a:p>
        </p:txBody>
      </p:sp>
      <p:sp>
        <p:nvSpPr>
          <p:cNvPr id="6" name="TextBox 5"/>
          <p:cNvSpPr txBox="1"/>
          <p:nvPr/>
        </p:nvSpPr>
        <p:spPr>
          <a:xfrm>
            <a:off x="548640" y="1325880"/>
            <a:ext cx="11064240" cy="457200"/>
          </a:xfrm>
          <a:prstGeom prst="rect">
            <a:avLst/>
          </a:prstGeom>
          <a:noFill/>
        </p:spPr>
        <p:txBody>
          <a:bodyPr wrap="square" anchor="t">
            <a:spAutoFit/>
          </a:bodyPr>
          <a:lstStyle/>
          <a:p>
            <a:pPr algn="l">
              <a:spcAft>
                <a:spcPts val="600"/>
              </a:spcAft>
            </a:pPr>
            <a:r>
              <a:rPr sz="1500" b="0" i="1">
                <a:solidFill>
                  <a:srgbClr val="2E5C8A"/>
                </a:solidFill>
                <a:latin typeface="Calibri"/>
              </a:rPr>
              <a:t>Revisión de la oferta tecnológica en Chile</a:t>
            </a:r>
          </a:p>
        </p:txBody>
      </p:sp>
      <p:graphicFrame>
        <p:nvGraphicFramePr>
          <p:cNvPr id="7" name="Table 6"/>
          <p:cNvGraphicFramePr>
            <a:graphicFrameLocks noGrp="1"/>
          </p:cNvGraphicFramePr>
          <p:nvPr/>
        </p:nvGraphicFramePr>
        <p:xfrm>
          <a:off x="548640" y="1920240"/>
          <a:ext cx="11100814" cy="2468880"/>
        </p:xfrm>
        <a:graphic>
          <a:graphicData uri="http://schemas.openxmlformats.org/drawingml/2006/table">
            <a:tbl>
              <a:tblPr firstRow="1" bandRow="1">
                <a:tableStyleId>{5C22544A-7EE6-4342-B048-85BDC9FD1C3A}</a:tableStyleId>
              </a:tblPr>
              <a:tblGrid>
                <a:gridCol w="2110072"/>
                <a:gridCol w="4770598"/>
                <a:gridCol w="4220144"/>
              </a:tblGrid>
              <a:tr h="493776">
                <a:tc>
                  <a:txBody>
                    <a:bodyPr wrap="square"/>
                    <a:lstStyle/>
                    <a:p>
                      <a:r>
                        <a:rPr sz="1200" b="1">
                          <a:solidFill>
                            <a:srgbClr val="FFFFFF"/>
                          </a:solidFill>
                          <a:latin typeface="Calibri"/>
                        </a:rPr>
                        <a:t>Solución</a:t>
                      </a:r>
                    </a:p>
                  </a:txBody>
                  <a:tcPr marL="82296" marR="82296" marT="45720" marB="45720">
                    <a:solidFill>
                      <a:srgbClr val="1F3A5F"/>
                    </a:solidFill>
                  </a:tcPr>
                </a:tc>
                <a:tc>
                  <a:txBody>
                    <a:bodyPr wrap="square"/>
                    <a:lstStyle/>
                    <a:p>
                      <a:r>
                        <a:rPr sz="1200" b="1">
                          <a:solidFill>
                            <a:srgbClr val="FFFFFF"/>
                          </a:solidFill>
                          <a:latin typeface="Calibri"/>
                        </a:rPr>
                        <a:t>Enfoque</a:t>
                      </a:r>
                    </a:p>
                  </a:txBody>
                  <a:tcPr marL="82296" marR="82296" marT="45720" marB="45720">
                    <a:solidFill>
                      <a:srgbClr val="1F3A5F"/>
                    </a:solidFill>
                  </a:tcPr>
                </a:tc>
                <a:tc>
                  <a:txBody>
                    <a:bodyPr wrap="square"/>
                    <a:lstStyle/>
                    <a:p>
                      <a:r>
                        <a:rPr sz="1200" b="1">
                          <a:solidFill>
                            <a:srgbClr val="FFFFFF"/>
                          </a:solidFill>
                          <a:latin typeface="Calibri"/>
                        </a:rPr>
                        <a:t>Cómo trata la inasistencia</a:t>
                      </a:r>
                    </a:p>
                  </a:txBody>
                  <a:tcPr marL="82296" marR="82296" marT="45720" marB="45720">
                    <a:solidFill>
                      <a:srgbClr val="1F3A5F"/>
                    </a:solidFill>
                  </a:tcPr>
                </a:tc>
              </a:tr>
              <a:tr h="493776">
                <a:tc>
                  <a:txBody>
                    <a:bodyPr wrap="square"/>
                    <a:lstStyle/>
                    <a:p>
                      <a:r>
                        <a:rPr sz="1200" b="0">
                          <a:solidFill>
                            <a:srgbClr val="22303C"/>
                          </a:solidFill>
                          <a:latin typeface="Calibri"/>
                        </a:rPr>
                        <a:t>Wirevet</a:t>
                      </a:r>
                    </a:p>
                  </a:txBody>
                  <a:tcPr marL="82296" marR="82296" marT="45720" marB="45720">
                    <a:solidFill>
                      <a:srgbClr val="FFFFFF"/>
                    </a:solidFill>
                  </a:tcPr>
                </a:tc>
                <a:tc>
                  <a:txBody>
                    <a:bodyPr wrap="square"/>
                    <a:lstStyle/>
                    <a:p>
                      <a:r>
                        <a:rPr sz="1200" b="0">
                          <a:solidFill>
                            <a:srgbClr val="22303C"/>
                          </a:solidFill>
                          <a:latin typeface="Calibri"/>
                        </a:rPr>
                        <a:t>Software integral. +240 clínicas. Desde $59.990/mes.</a:t>
                      </a:r>
                    </a:p>
                  </a:txBody>
                  <a:tcPr marL="82296" marR="82296" marT="45720" marB="45720">
                    <a:solidFill>
                      <a:srgbClr val="FFFFFF"/>
                    </a:solidFill>
                  </a:tcPr>
                </a:tc>
                <a:tc>
                  <a:txBody>
                    <a:bodyPr wrap="square"/>
                    <a:lstStyle/>
                    <a:p>
                      <a:r>
                        <a:rPr sz="1200" b="0">
                          <a:solidFill>
                            <a:srgbClr val="22303C"/>
                          </a:solidFill>
                          <a:latin typeface="Calibri"/>
                        </a:rPr>
                        <a:t>Recordatorio por WhatsApp, igual para todos</a:t>
                      </a:r>
                    </a:p>
                  </a:txBody>
                  <a:tcPr marL="82296" marR="82296" marT="45720" marB="45720">
                    <a:solidFill>
                      <a:srgbClr val="FFFFFF"/>
                    </a:solidFill>
                  </a:tcPr>
                </a:tc>
              </a:tr>
              <a:tr h="493776">
                <a:tc>
                  <a:txBody>
                    <a:bodyPr wrap="square"/>
                    <a:lstStyle/>
                    <a:p>
                      <a:r>
                        <a:rPr sz="1200" b="0">
                          <a:solidFill>
                            <a:srgbClr val="22303C"/>
                          </a:solidFill>
                          <a:latin typeface="Calibri"/>
                        </a:rPr>
                        <a:t>GVET</a:t>
                      </a:r>
                    </a:p>
                  </a:txBody>
                  <a:tcPr marL="82296" marR="82296" marT="45720" marB="45720">
                    <a:solidFill>
                      <a:srgbClr val="F4F7FA"/>
                    </a:solidFill>
                  </a:tcPr>
                </a:tc>
                <a:tc>
                  <a:txBody>
                    <a:bodyPr wrap="square"/>
                    <a:lstStyle/>
                    <a:p>
                      <a:r>
                        <a:rPr sz="1200" b="0">
                          <a:solidFill>
                            <a:srgbClr val="22303C"/>
                          </a:solidFill>
                          <a:latin typeface="Calibri"/>
                        </a:rPr>
                        <a:t>Gestión de clínicas y petshops, con app para el cliente.</a:t>
                      </a:r>
                    </a:p>
                  </a:txBody>
                  <a:tcPr marL="82296" marR="82296" marT="45720" marB="45720">
                    <a:solidFill>
                      <a:srgbClr val="F4F7FA"/>
                    </a:solidFill>
                  </a:tcPr>
                </a:tc>
                <a:tc>
                  <a:txBody>
                    <a:bodyPr wrap="square"/>
                    <a:lstStyle/>
                    <a:p>
                      <a:r>
                        <a:rPr sz="1200" b="0">
                          <a:solidFill>
                            <a:srgbClr val="22303C"/>
                          </a:solidFill>
                          <a:latin typeface="Calibri"/>
                        </a:rPr>
                        <a:t>Avisos por WhatsApp, sin diferenciación</a:t>
                      </a:r>
                    </a:p>
                  </a:txBody>
                  <a:tcPr marL="82296" marR="82296" marT="45720" marB="45720">
                    <a:solidFill>
                      <a:srgbClr val="F4F7FA"/>
                    </a:solidFill>
                  </a:tcPr>
                </a:tc>
              </a:tr>
              <a:tr h="493776">
                <a:tc>
                  <a:txBody>
                    <a:bodyPr wrap="square"/>
                    <a:lstStyle/>
                    <a:p>
                      <a:r>
                        <a:rPr sz="1200" b="0">
                          <a:solidFill>
                            <a:srgbClr val="22303C"/>
                          </a:solidFill>
                          <a:latin typeface="Calibri"/>
                        </a:rPr>
                        <a:t>VeteSoft</a:t>
                      </a:r>
                    </a:p>
                  </a:txBody>
                  <a:tcPr marL="82296" marR="82296" marT="45720" marB="45720">
                    <a:solidFill>
                      <a:srgbClr val="FFFFFF"/>
                    </a:solidFill>
                  </a:tcPr>
                </a:tc>
                <a:tc>
                  <a:txBody>
                    <a:bodyPr wrap="square"/>
                    <a:lstStyle/>
                    <a:p>
                      <a:r>
                        <a:rPr sz="1200" b="0">
                          <a:solidFill>
                            <a:srgbClr val="22303C"/>
                          </a:solidFill>
                          <a:latin typeface="Calibri"/>
                        </a:rPr>
                        <a:t>Plataforma en la nube: agenda, facturación, inventario.</a:t>
                      </a:r>
                    </a:p>
                  </a:txBody>
                  <a:tcPr marL="82296" marR="82296" marT="45720" marB="45720">
                    <a:solidFill>
                      <a:srgbClr val="FFFFFF"/>
                    </a:solidFill>
                  </a:tcPr>
                </a:tc>
                <a:tc>
                  <a:txBody>
                    <a:bodyPr wrap="square"/>
                    <a:lstStyle/>
                    <a:p>
                      <a:r>
                        <a:rPr sz="1200" b="0">
                          <a:solidFill>
                            <a:srgbClr val="22303C"/>
                          </a:solidFill>
                          <a:latin typeface="Calibri"/>
                        </a:rPr>
                        <a:t>Recordatorios automáticos programados</a:t>
                      </a:r>
                    </a:p>
                  </a:txBody>
                  <a:tcPr marL="82296" marR="82296" marT="45720" marB="45720">
                    <a:solidFill>
                      <a:srgbClr val="FFFFFF"/>
                    </a:solidFill>
                  </a:tcPr>
                </a:tc>
              </a:tr>
              <a:tr h="493776">
                <a:tc>
                  <a:txBody>
                    <a:bodyPr wrap="square"/>
                    <a:lstStyle/>
                    <a:p>
                      <a:r>
                        <a:rPr sz="1200" b="0">
                          <a:solidFill>
                            <a:srgbClr val="22303C"/>
                          </a:solidFill>
                          <a:latin typeface="Calibri"/>
                        </a:rPr>
                        <a:t>Ponkis · Okvet · PawZone</a:t>
                      </a:r>
                    </a:p>
                  </a:txBody>
                  <a:tcPr marL="82296" marR="82296" marT="45720" marB="45720">
                    <a:solidFill>
                      <a:srgbClr val="F4F7FA"/>
                    </a:solidFill>
                  </a:tcPr>
                </a:tc>
                <a:tc>
                  <a:txBody>
                    <a:bodyPr wrap="square"/>
                    <a:lstStyle/>
                    <a:p>
                      <a:r>
                        <a:rPr sz="1200" b="0">
                          <a:solidFill>
                            <a:srgbClr val="22303C"/>
                          </a:solidFill>
                          <a:latin typeface="Calibri"/>
                        </a:rPr>
                        <a:t>Soluciones de gestión clínica de menor escala.</a:t>
                      </a:r>
                    </a:p>
                  </a:txBody>
                  <a:tcPr marL="82296" marR="82296" marT="45720" marB="45720">
                    <a:solidFill>
                      <a:srgbClr val="F4F7FA"/>
                    </a:solidFill>
                  </a:tcPr>
                </a:tc>
                <a:tc>
                  <a:txBody>
                    <a:bodyPr wrap="square"/>
                    <a:lstStyle/>
                    <a:p>
                      <a:r>
                        <a:rPr sz="1200" b="0">
                          <a:solidFill>
                            <a:srgbClr val="22303C"/>
                          </a:solidFill>
                          <a:latin typeface="Calibri"/>
                        </a:rPr>
                        <a:t>Recordatorios automáticos programados</a:t>
                      </a:r>
                    </a:p>
                  </a:txBody>
                  <a:tcPr marL="82296" marR="82296" marT="45720" marB="45720">
                    <a:solidFill>
                      <a:srgbClr val="F4F7FA"/>
                    </a:solidFill>
                  </a:tcPr>
                </a:tc>
              </a:tr>
            </a:tbl>
          </a:graphicData>
        </a:graphic>
      </p:graphicFrame>
      <p:sp>
        <p:nvSpPr>
          <p:cNvPr id="8" name="Rectangle 7"/>
          <p:cNvSpPr/>
          <p:nvPr/>
        </p:nvSpPr>
        <p:spPr>
          <a:xfrm>
            <a:off x="548640" y="4800600"/>
            <a:ext cx="11100816" cy="914400"/>
          </a:xfrm>
          <a:prstGeom prst="rect">
            <a:avLst/>
          </a:prstGeom>
          <a:solidFill>
            <a:srgbClr val="F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4800600"/>
            <a:ext cx="73152" cy="914400"/>
          </a:xfrm>
          <a:prstGeom prst="rect">
            <a:avLst/>
          </a:prstGeom>
          <a:solidFill>
            <a:srgbClr val="C95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956048"/>
            <a:ext cx="10607040" cy="640080"/>
          </a:xfrm>
          <a:prstGeom prst="rect">
            <a:avLst/>
          </a:prstGeom>
          <a:noFill/>
        </p:spPr>
        <p:txBody>
          <a:bodyPr wrap="square" anchor="t">
            <a:spAutoFit/>
          </a:bodyPr>
          <a:lstStyle/>
          <a:p>
            <a:pPr algn="l">
              <a:spcAft>
                <a:spcPts val="600"/>
              </a:spcAft>
            </a:pPr>
            <a:r>
              <a:rPr sz="1700" b="1" i="0">
                <a:solidFill>
                  <a:srgbClr val="8C3A2A"/>
                </a:solidFill>
                <a:latin typeface="Calibri"/>
              </a:rPr>
              <a:t>Todas hacen lo mismo: mandan el mismo recordatorio a todo el mundo. Ninguna distingue el riesgo.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0241280" cy="640080"/>
          </a:xfrm>
          <a:prstGeom prst="rect">
            <a:avLst/>
          </a:prstGeom>
          <a:noFill/>
        </p:spPr>
        <p:txBody>
          <a:bodyPr wrap="square" anchor="t">
            <a:spAutoFit/>
          </a:bodyPr>
          <a:lstStyle/>
          <a:p>
            <a:pPr algn="l">
              <a:spcAft>
                <a:spcPts val="600"/>
              </a:spcAft>
            </a:pPr>
            <a:r>
              <a:rPr sz="2700" b="1" i="0">
                <a:solidFill>
                  <a:srgbClr val="FFFFFF"/>
                </a:solidFill>
                <a:latin typeface="Calibri"/>
              </a:rPr>
              <a:t>La brecha que encontramos</a:t>
            </a:r>
          </a:p>
        </p:txBody>
      </p:sp>
      <p:sp>
        <p:nvSpPr>
          <p:cNvPr id="5" name="TextBox 4"/>
          <p:cNvSpPr txBox="1"/>
          <p:nvPr/>
        </p:nvSpPr>
        <p:spPr>
          <a:xfrm>
            <a:off x="11247120" y="347472"/>
            <a:ext cx="640080" cy="457200"/>
          </a:xfrm>
          <a:prstGeom prst="rect">
            <a:avLst/>
          </a:prstGeom>
          <a:noFill/>
        </p:spPr>
        <p:txBody>
          <a:bodyPr wrap="square" anchor="t">
            <a:spAutoFit/>
          </a:bodyPr>
          <a:lstStyle/>
          <a:p>
            <a:pPr algn="r">
              <a:spcAft>
                <a:spcPts val="600"/>
              </a:spcAft>
            </a:pPr>
            <a:r>
              <a:rPr sz="1400" b="0" i="0">
                <a:solidFill>
                  <a:srgbClr val="8FA8C4"/>
                </a:solidFill>
                <a:latin typeface="Calibri"/>
              </a:rPr>
              <a:t>5</a:t>
            </a:r>
          </a:p>
        </p:txBody>
      </p:sp>
      <p:sp>
        <p:nvSpPr>
          <p:cNvPr id="6" name="TextBox 5"/>
          <p:cNvSpPr txBox="1"/>
          <p:nvPr/>
        </p:nvSpPr>
        <p:spPr>
          <a:xfrm>
            <a:off x="548640" y="1325880"/>
            <a:ext cx="11064240" cy="457200"/>
          </a:xfrm>
          <a:prstGeom prst="rect">
            <a:avLst/>
          </a:prstGeom>
          <a:noFill/>
        </p:spPr>
        <p:txBody>
          <a:bodyPr wrap="square" anchor="t">
            <a:spAutoFit/>
          </a:bodyPr>
          <a:lstStyle/>
          <a:p>
            <a:pPr algn="l">
              <a:spcAft>
                <a:spcPts val="600"/>
              </a:spcAft>
            </a:pPr>
            <a:r>
              <a:rPr sz="1500" b="0" i="1">
                <a:solidFill>
                  <a:srgbClr val="2E5C8A"/>
                </a:solidFill>
                <a:latin typeface="Calibri"/>
              </a:rPr>
              <a:t>Observación directa en terreno</a:t>
            </a:r>
          </a:p>
        </p:txBody>
      </p:sp>
      <p:sp>
        <p:nvSpPr>
          <p:cNvPr id="7" name="Rectangle 6"/>
          <p:cNvSpPr/>
          <p:nvPr/>
        </p:nvSpPr>
        <p:spPr>
          <a:xfrm>
            <a:off x="548640" y="1965960"/>
            <a:ext cx="5394960" cy="214884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965960"/>
            <a:ext cx="64008" cy="2148840"/>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130552"/>
            <a:ext cx="4937760" cy="384048"/>
          </a:xfrm>
          <a:prstGeom prst="rect">
            <a:avLst/>
          </a:prstGeom>
          <a:noFill/>
        </p:spPr>
        <p:txBody>
          <a:bodyPr wrap="square" anchor="t">
            <a:spAutoFit/>
          </a:bodyPr>
          <a:lstStyle/>
          <a:p>
            <a:pPr algn="l">
              <a:spcAft>
                <a:spcPts val="600"/>
              </a:spcAft>
            </a:pPr>
            <a:r>
              <a:rPr sz="1500" b="1" i="0">
                <a:solidFill>
                  <a:srgbClr val="1F3A5F"/>
                </a:solidFill>
                <a:latin typeface="Calibri"/>
              </a:rPr>
              <a:t>No es que la tecnología no exista</a:t>
            </a:r>
          </a:p>
        </p:txBody>
      </p:sp>
      <p:sp>
        <p:nvSpPr>
          <p:cNvPr id="10" name="TextBox 9"/>
          <p:cNvSpPr txBox="1"/>
          <p:nvPr/>
        </p:nvSpPr>
        <p:spPr>
          <a:xfrm>
            <a:off x="804672" y="2624328"/>
            <a:ext cx="4937760" cy="1325880"/>
          </a:xfrm>
          <a:prstGeom prst="rect">
            <a:avLst/>
          </a:prstGeom>
          <a:noFill/>
        </p:spPr>
        <p:txBody>
          <a:bodyPr wrap="square" anchor="t">
            <a:spAutoFit/>
          </a:bodyPr>
          <a:lstStyle/>
          <a:p>
            <a:pPr algn="l">
              <a:spcAft>
                <a:spcPts val="300"/>
              </a:spcAft>
            </a:pPr>
            <a:r>
              <a:rPr sz="1400" b="0" i="0">
                <a:solidFill>
                  <a:srgbClr val="22303C"/>
                </a:solidFill>
                <a:latin typeface="Calibri"/>
              </a:rPr>
              <a:t>Existe, y es buena. Pero está diseñada para clínicas medianas y grandes de zonas urbanas centrales, con planes desde $59.990 mensuales.</a:t>
            </a:r>
          </a:p>
        </p:txBody>
      </p:sp>
      <p:sp>
        <p:nvSpPr>
          <p:cNvPr id="11" name="Rectangle 10"/>
          <p:cNvSpPr/>
          <p:nvPr/>
        </p:nvSpPr>
        <p:spPr>
          <a:xfrm>
            <a:off x="6263640" y="1965960"/>
            <a:ext cx="5394960" cy="214884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1965960"/>
            <a:ext cx="64008" cy="214884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9672" y="2130552"/>
            <a:ext cx="4937760" cy="384048"/>
          </a:xfrm>
          <a:prstGeom prst="rect">
            <a:avLst/>
          </a:prstGeom>
          <a:noFill/>
        </p:spPr>
        <p:txBody>
          <a:bodyPr wrap="square" anchor="t">
            <a:spAutoFit/>
          </a:bodyPr>
          <a:lstStyle/>
          <a:p>
            <a:pPr algn="l">
              <a:spcAft>
                <a:spcPts val="600"/>
              </a:spcAft>
            </a:pPr>
            <a:r>
              <a:rPr sz="1500" b="1" i="0">
                <a:solidFill>
                  <a:srgbClr val="1F3A5F"/>
                </a:solidFill>
                <a:latin typeface="Calibri"/>
              </a:rPr>
              <a:t>Es que no llega</a:t>
            </a:r>
          </a:p>
        </p:txBody>
      </p:sp>
      <p:sp>
        <p:nvSpPr>
          <p:cNvPr id="14" name="TextBox 13"/>
          <p:cNvSpPr txBox="1"/>
          <p:nvPr/>
        </p:nvSpPr>
        <p:spPr>
          <a:xfrm>
            <a:off x="6519672" y="2624328"/>
            <a:ext cx="4937760" cy="1325880"/>
          </a:xfrm>
          <a:prstGeom prst="rect">
            <a:avLst/>
          </a:prstGeom>
          <a:noFill/>
        </p:spPr>
        <p:txBody>
          <a:bodyPr wrap="square" anchor="t">
            <a:spAutoFit/>
          </a:bodyPr>
          <a:lstStyle/>
          <a:p>
            <a:pPr algn="l">
              <a:spcAft>
                <a:spcPts val="300"/>
              </a:spcAft>
            </a:pPr>
            <a:r>
              <a:rPr sz="1400" b="0" i="0">
                <a:solidFill>
                  <a:srgbClr val="22303C"/>
                </a:solidFill>
                <a:latin typeface="Calibri"/>
              </a:rPr>
              <a:t>En Lo Pinto y Batuco las clínicas siguen agendando por WhatsApp y llamada. La brecha no es de tecnología: es de adopción en un segmento desatendido.</a:t>
            </a:r>
          </a:p>
        </p:txBody>
      </p:sp>
      <p:sp>
        <p:nvSpPr>
          <p:cNvPr id="15" name="Rectangle 14"/>
          <p:cNvSpPr/>
          <p:nvPr/>
        </p:nvSpPr>
        <p:spPr>
          <a:xfrm>
            <a:off x="548640" y="4526280"/>
            <a:ext cx="11100816" cy="13716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709160"/>
            <a:ext cx="10424160" cy="1005840"/>
          </a:xfrm>
          <a:prstGeom prst="rect">
            <a:avLst/>
          </a:prstGeom>
          <a:noFill/>
        </p:spPr>
        <p:txBody>
          <a:bodyPr wrap="square" anchor="t">
            <a:spAutoFit/>
          </a:bodyPr>
          <a:lstStyle/>
          <a:p>
            <a:pPr algn="l">
              <a:spcAft>
                <a:spcPts val="400"/>
              </a:spcAft>
            </a:pPr>
            <a:r>
              <a:rPr sz="1900" b="1" i="0">
                <a:solidFill>
                  <a:srgbClr val="FFFFFF"/>
                </a:solidFill>
                <a:latin typeface="Calibri"/>
              </a:rPr>
              <a:t>Y hay una segunda brecha, más importante:</a:t>
            </a:r>
          </a:p>
          <a:p>
            <a:pPr algn="l">
              <a:spcAft>
                <a:spcPts val="400"/>
              </a:spcAft>
            </a:pPr>
            <a:r>
              <a:rPr sz="1900" b="1" i="0">
                <a:solidFill>
                  <a:srgbClr val="FFFFFF"/>
                </a:solidFill>
                <a:latin typeface="Calibri"/>
              </a:rPr>
              <a:t>nadie estima la probabilidad de que una hora específica se pierda.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0241280" cy="640080"/>
          </a:xfrm>
          <a:prstGeom prst="rect">
            <a:avLst/>
          </a:prstGeom>
          <a:noFill/>
        </p:spPr>
        <p:txBody>
          <a:bodyPr wrap="square" anchor="t">
            <a:spAutoFit/>
          </a:bodyPr>
          <a:lstStyle/>
          <a:p>
            <a:pPr algn="l">
              <a:spcAft>
                <a:spcPts val="600"/>
              </a:spcAft>
            </a:pPr>
            <a:r>
              <a:rPr sz="2700" b="1" i="0">
                <a:solidFill>
                  <a:srgbClr val="FFFFFF"/>
                </a:solidFill>
                <a:latin typeface="Calibri"/>
              </a:rPr>
              <a:t>El punto de partida</a:t>
            </a:r>
          </a:p>
        </p:txBody>
      </p:sp>
      <p:sp>
        <p:nvSpPr>
          <p:cNvPr id="5" name="TextBox 4"/>
          <p:cNvSpPr txBox="1"/>
          <p:nvPr/>
        </p:nvSpPr>
        <p:spPr>
          <a:xfrm>
            <a:off x="11247120" y="347472"/>
            <a:ext cx="640080" cy="457200"/>
          </a:xfrm>
          <a:prstGeom prst="rect">
            <a:avLst/>
          </a:prstGeom>
          <a:noFill/>
        </p:spPr>
        <p:txBody>
          <a:bodyPr wrap="square" anchor="t">
            <a:spAutoFit/>
          </a:bodyPr>
          <a:lstStyle/>
          <a:p>
            <a:pPr algn="r">
              <a:spcAft>
                <a:spcPts val="600"/>
              </a:spcAft>
            </a:pPr>
            <a:r>
              <a:rPr sz="1400" b="0" i="0">
                <a:solidFill>
                  <a:srgbClr val="8FA8C4"/>
                </a:solidFill>
                <a:latin typeface="Calibri"/>
              </a:rPr>
              <a:t>6</a:t>
            </a:r>
          </a:p>
        </p:txBody>
      </p:sp>
      <p:sp>
        <p:nvSpPr>
          <p:cNvPr id="6" name="TextBox 5"/>
          <p:cNvSpPr txBox="1"/>
          <p:nvPr/>
        </p:nvSpPr>
        <p:spPr>
          <a:xfrm>
            <a:off x="548640" y="1325880"/>
            <a:ext cx="11064240" cy="457200"/>
          </a:xfrm>
          <a:prstGeom prst="rect">
            <a:avLst/>
          </a:prstGeom>
          <a:noFill/>
        </p:spPr>
        <p:txBody>
          <a:bodyPr wrap="square" anchor="t">
            <a:spAutoFit/>
          </a:bodyPr>
          <a:lstStyle/>
          <a:p>
            <a:pPr algn="l">
              <a:spcAft>
                <a:spcPts val="600"/>
              </a:spcAft>
            </a:pPr>
            <a:r>
              <a:rPr sz="1500" b="0" i="1">
                <a:solidFill>
                  <a:srgbClr val="2E5C8A"/>
                </a:solidFill>
                <a:latin typeface="Calibri"/>
              </a:rPr>
              <a:t>Ya tenemos un sistema funcionando. Le falta una sola cosa.</a:t>
            </a:r>
          </a:p>
        </p:txBody>
      </p:sp>
      <p:sp>
        <p:nvSpPr>
          <p:cNvPr id="7" name="Rectangle 6"/>
          <p:cNvSpPr/>
          <p:nvPr/>
        </p:nvSpPr>
        <p:spPr>
          <a:xfrm>
            <a:off x="548640" y="2011680"/>
            <a:ext cx="5029200" cy="210312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011680"/>
            <a:ext cx="73152" cy="2103120"/>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94560"/>
            <a:ext cx="4480560" cy="384048"/>
          </a:xfrm>
          <a:prstGeom prst="rect">
            <a:avLst/>
          </a:prstGeom>
          <a:noFill/>
        </p:spPr>
        <p:txBody>
          <a:bodyPr wrap="square" anchor="t">
            <a:spAutoFit/>
          </a:bodyPr>
          <a:lstStyle/>
          <a:p>
            <a:pPr algn="l">
              <a:spcAft>
                <a:spcPts val="600"/>
              </a:spcAft>
            </a:pPr>
            <a:r>
              <a:rPr sz="1600" b="1" i="0">
                <a:solidFill>
                  <a:srgbClr val="1F3A5F"/>
                </a:solidFill>
                <a:latin typeface="Calibri"/>
              </a:rPr>
              <a:t>Lo que ya existe</a:t>
            </a:r>
          </a:p>
        </p:txBody>
      </p:sp>
      <p:sp>
        <p:nvSpPr>
          <p:cNvPr id="10" name="TextBox 9"/>
          <p:cNvSpPr txBox="1"/>
          <p:nvPr/>
        </p:nvSpPr>
        <p:spPr>
          <a:xfrm>
            <a:off x="868680" y="2670048"/>
            <a:ext cx="4480560" cy="1371600"/>
          </a:xfrm>
          <a:prstGeom prst="rect">
            <a:avLst/>
          </a:prstGeom>
          <a:noFill/>
        </p:spPr>
        <p:txBody>
          <a:bodyPr wrap="square" anchor="t">
            <a:spAutoFit/>
          </a:bodyPr>
          <a:lstStyle/>
          <a:p>
            <a:pPr algn="l">
              <a:spcAft>
                <a:spcPts val="600"/>
              </a:spcAft>
            </a:pPr>
            <a:r>
              <a:rPr sz="1400" b="0" i="0">
                <a:solidFill>
                  <a:srgbClr val="22303C"/>
                </a:solidFill>
                <a:latin typeface="Calibri"/>
              </a:rPr>
              <a:t>Un sistema de gestión veterinaria en Django: pacientes, agenda, historial clínico, vacunas e inventario. Operativo.</a:t>
            </a:r>
          </a:p>
        </p:txBody>
      </p:sp>
      <p:sp>
        <p:nvSpPr>
          <p:cNvPr id="11" name="TextBox 10"/>
          <p:cNvSpPr txBox="1"/>
          <p:nvPr/>
        </p:nvSpPr>
        <p:spPr>
          <a:xfrm>
            <a:off x="548640" y="4224528"/>
            <a:ext cx="5029200" cy="457200"/>
          </a:xfrm>
          <a:prstGeom prst="rect">
            <a:avLst/>
          </a:prstGeom>
          <a:noFill/>
        </p:spPr>
        <p:txBody>
          <a:bodyPr wrap="square" anchor="t">
            <a:spAutoFit/>
          </a:bodyPr>
          <a:lstStyle/>
          <a:p>
            <a:pPr algn="l">
              <a:spcAft>
                <a:spcPts val="600"/>
              </a:spcAft>
            </a:pPr>
            <a:r>
              <a:rPr sz="1100" b="0" i="1">
                <a:solidFill>
                  <a:srgbClr val="8A9AA8"/>
                </a:solidFill>
                <a:latin typeface="Calibri"/>
              </a:rPr>
              <a:t>Desarrollado antes de esta asignatura, y así está declarado en el informe.</a:t>
            </a:r>
          </a:p>
        </p:txBody>
      </p:sp>
      <p:sp>
        <p:nvSpPr>
          <p:cNvPr id="12" name="Rectangle 11"/>
          <p:cNvSpPr/>
          <p:nvPr/>
        </p:nvSpPr>
        <p:spPr>
          <a:xfrm>
            <a:off x="5943600" y="2011680"/>
            <a:ext cx="5705856" cy="2880360"/>
          </a:xfrm>
          <a:prstGeom prst="rect">
            <a:avLst/>
          </a:prstGeom>
          <a:solidFill>
            <a:srgbClr val="F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0" y="2011680"/>
            <a:ext cx="73152" cy="2880360"/>
          </a:xfrm>
          <a:prstGeom prst="rect">
            <a:avLst/>
          </a:prstGeom>
          <a:solidFill>
            <a:srgbClr val="C95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2194560"/>
            <a:ext cx="5120640" cy="384048"/>
          </a:xfrm>
          <a:prstGeom prst="rect">
            <a:avLst/>
          </a:prstGeom>
          <a:noFill/>
        </p:spPr>
        <p:txBody>
          <a:bodyPr wrap="square" anchor="t">
            <a:spAutoFit/>
          </a:bodyPr>
          <a:lstStyle/>
          <a:p>
            <a:pPr algn="l">
              <a:spcAft>
                <a:spcPts val="600"/>
              </a:spcAft>
            </a:pPr>
            <a:r>
              <a:rPr sz="1600" b="1" i="0">
                <a:solidFill>
                  <a:srgbClr val="8C3A2A"/>
                </a:solidFill>
                <a:latin typeface="Calibri"/>
              </a:rPr>
              <a:t>Lo que le falta</a:t>
            </a:r>
          </a:p>
        </p:txBody>
      </p:sp>
      <p:sp>
        <p:nvSpPr>
          <p:cNvPr id="15" name="TextBox 14"/>
          <p:cNvSpPr txBox="1"/>
          <p:nvPr/>
        </p:nvSpPr>
        <p:spPr>
          <a:xfrm>
            <a:off x="6309360" y="2651760"/>
            <a:ext cx="5120640" cy="365760"/>
          </a:xfrm>
          <a:prstGeom prst="rect">
            <a:avLst/>
          </a:prstGeom>
          <a:noFill/>
        </p:spPr>
        <p:txBody>
          <a:bodyPr wrap="square" anchor="t">
            <a:spAutoFit/>
          </a:bodyPr>
          <a:lstStyle/>
          <a:p>
            <a:pPr algn="l">
              <a:spcAft>
                <a:spcPts val="600"/>
              </a:spcAft>
            </a:pPr>
            <a:r>
              <a:rPr sz="1350" b="0" i="0">
                <a:solidFill>
                  <a:srgbClr val="22303C"/>
                </a:solidFill>
                <a:latin typeface="Calibri"/>
              </a:rPr>
              <a:t>Una cita solo puede estar en tres estados:</a:t>
            </a:r>
          </a:p>
        </p:txBody>
      </p:sp>
      <p:sp>
        <p:nvSpPr>
          <p:cNvPr id="16" name="Rectangle 15"/>
          <p:cNvSpPr/>
          <p:nvPr/>
        </p:nvSpPr>
        <p:spPr>
          <a:xfrm>
            <a:off x="6309360" y="3090672"/>
            <a:ext cx="1572768"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3163824"/>
            <a:ext cx="1572768" cy="292608"/>
          </a:xfrm>
          <a:prstGeom prst="rect">
            <a:avLst/>
          </a:prstGeom>
          <a:noFill/>
        </p:spPr>
        <p:txBody>
          <a:bodyPr wrap="square" anchor="t">
            <a:spAutoFit/>
          </a:bodyPr>
          <a:lstStyle/>
          <a:p>
            <a:pPr algn="ctr">
              <a:spcAft>
                <a:spcPts val="600"/>
              </a:spcAft>
            </a:pPr>
            <a:r>
              <a:rPr sz="1200" b="0" i="0">
                <a:solidFill>
                  <a:srgbClr val="22303C"/>
                </a:solidFill>
                <a:latin typeface="Calibri"/>
              </a:rPr>
              <a:t>pendiente</a:t>
            </a:r>
          </a:p>
        </p:txBody>
      </p:sp>
      <p:sp>
        <p:nvSpPr>
          <p:cNvPr id="18" name="Rectangle 17"/>
          <p:cNvSpPr/>
          <p:nvPr/>
        </p:nvSpPr>
        <p:spPr>
          <a:xfrm>
            <a:off x="8001000" y="3090672"/>
            <a:ext cx="1572768"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01000" y="3163824"/>
            <a:ext cx="1572768" cy="292608"/>
          </a:xfrm>
          <a:prstGeom prst="rect">
            <a:avLst/>
          </a:prstGeom>
          <a:noFill/>
        </p:spPr>
        <p:txBody>
          <a:bodyPr wrap="square" anchor="t">
            <a:spAutoFit/>
          </a:bodyPr>
          <a:lstStyle/>
          <a:p>
            <a:pPr algn="ctr">
              <a:spcAft>
                <a:spcPts val="600"/>
              </a:spcAft>
            </a:pPr>
            <a:r>
              <a:rPr sz="1200" b="0" i="0">
                <a:solidFill>
                  <a:srgbClr val="22303C"/>
                </a:solidFill>
                <a:latin typeface="Calibri"/>
              </a:rPr>
              <a:t>completada</a:t>
            </a:r>
          </a:p>
        </p:txBody>
      </p:sp>
      <p:sp>
        <p:nvSpPr>
          <p:cNvPr id="20" name="Rectangle 19"/>
          <p:cNvSpPr/>
          <p:nvPr/>
        </p:nvSpPr>
        <p:spPr>
          <a:xfrm>
            <a:off x="9692640" y="3090672"/>
            <a:ext cx="1572768"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92640" y="3163824"/>
            <a:ext cx="1572768" cy="292608"/>
          </a:xfrm>
          <a:prstGeom prst="rect">
            <a:avLst/>
          </a:prstGeom>
          <a:noFill/>
        </p:spPr>
        <p:txBody>
          <a:bodyPr wrap="square" anchor="t">
            <a:spAutoFit/>
          </a:bodyPr>
          <a:lstStyle/>
          <a:p>
            <a:pPr algn="ctr">
              <a:spcAft>
                <a:spcPts val="600"/>
              </a:spcAft>
            </a:pPr>
            <a:r>
              <a:rPr sz="1200" b="0" i="0">
                <a:solidFill>
                  <a:srgbClr val="22303C"/>
                </a:solidFill>
                <a:latin typeface="Calibri"/>
              </a:rPr>
              <a:t>cancelada</a:t>
            </a:r>
          </a:p>
        </p:txBody>
      </p:sp>
      <p:sp>
        <p:nvSpPr>
          <p:cNvPr id="22" name="TextBox 21"/>
          <p:cNvSpPr txBox="1"/>
          <p:nvPr/>
        </p:nvSpPr>
        <p:spPr>
          <a:xfrm>
            <a:off x="6309360" y="3712463"/>
            <a:ext cx="5120640" cy="457200"/>
          </a:xfrm>
          <a:prstGeom prst="rect">
            <a:avLst/>
          </a:prstGeom>
          <a:noFill/>
        </p:spPr>
        <p:txBody>
          <a:bodyPr wrap="square" anchor="t">
            <a:spAutoFit/>
          </a:bodyPr>
          <a:lstStyle/>
          <a:p>
            <a:pPr algn="l">
              <a:spcAft>
                <a:spcPts val="600"/>
              </a:spcAft>
            </a:pPr>
            <a:r>
              <a:rPr sz="2100" b="1" i="0">
                <a:solidFill>
                  <a:srgbClr val="8C3A2A"/>
                </a:solidFill>
                <a:latin typeface="Calibri"/>
              </a:rPr>
              <a:t>No existe «no asistió».</a:t>
            </a:r>
          </a:p>
        </p:txBody>
      </p:sp>
      <p:sp>
        <p:nvSpPr>
          <p:cNvPr id="23" name="TextBox 22"/>
          <p:cNvSpPr txBox="1"/>
          <p:nvPr/>
        </p:nvSpPr>
        <p:spPr>
          <a:xfrm>
            <a:off x="6309360" y="4224528"/>
            <a:ext cx="5120640" cy="548640"/>
          </a:xfrm>
          <a:prstGeom prst="rect">
            <a:avLst/>
          </a:prstGeom>
          <a:noFill/>
        </p:spPr>
        <p:txBody>
          <a:bodyPr wrap="square" anchor="t">
            <a:spAutoFit/>
          </a:bodyPr>
          <a:lstStyle/>
          <a:p>
            <a:pPr algn="l">
              <a:spcAft>
                <a:spcPts val="600"/>
              </a:spcAft>
            </a:pPr>
            <a:r>
              <a:rPr sz="1300" b="0" i="0">
                <a:solidFill>
                  <a:srgbClr val="22303C"/>
                </a:solidFill>
                <a:latin typeface="Calibri"/>
              </a:rPr>
              <a:t>Si el tutor no llega, la cita queda pendiente para siempre. La clínica no puede medir lo que pierde.</a:t>
            </a:r>
          </a:p>
        </p:txBody>
      </p:sp>
      <p:sp>
        <p:nvSpPr>
          <p:cNvPr id="24" name="Rectangle 23"/>
          <p:cNvSpPr/>
          <p:nvPr/>
        </p:nvSpPr>
        <p:spPr>
          <a:xfrm>
            <a:off x="548640" y="5257800"/>
            <a:ext cx="11100816" cy="9144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440680"/>
            <a:ext cx="10424160" cy="594360"/>
          </a:xfrm>
          <a:prstGeom prst="rect">
            <a:avLst/>
          </a:prstGeom>
          <a:noFill/>
        </p:spPr>
        <p:txBody>
          <a:bodyPr wrap="square" anchor="t">
            <a:spAutoFit/>
          </a:bodyPr>
          <a:lstStyle/>
          <a:p>
            <a:pPr algn="l">
              <a:spcAft>
                <a:spcPts val="600"/>
              </a:spcAft>
            </a:pPr>
            <a:r>
              <a:rPr sz="1900" b="1" i="0">
                <a:solidFill>
                  <a:srgbClr val="FFFFFF"/>
                </a:solidFill>
                <a:latin typeface="Calibri"/>
              </a:rPr>
              <a:t>Ahí entra PreVet: hacer medible lo que hoy no se registra, y después predecirlo.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0241280" cy="640080"/>
          </a:xfrm>
          <a:prstGeom prst="rect">
            <a:avLst/>
          </a:prstGeom>
          <a:noFill/>
        </p:spPr>
        <p:txBody>
          <a:bodyPr wrap="square" anchor="t">
            <a:spAutoFit/>
          </a:bodyPr>
          <a:lstStyle/>
          <a:p>
            <a:pPr algn="l">
              <a:spcAft>
                <a:spcPts val="600"/>
              </a:spcAft>
            </a:pPr>
            <a:r>
              <a:rPr sz="2700" b="1" i="0">
                <a:solidFill>
                  <a:srgbClr val="FFFFFF"/>
                </a:solidFill>
                <a:latin typeface="Calibri"/>
              </a:rPr>
              <a:t>La innovación</a:t>
            </a:r>
          </a:p>
        </p:txBody>
      </p:sp>
      <p:sp>
        <p:nvSpPr>
          <p:cNvPr id="5" name="TextBox 4"/>
          <p:cNvSpPr txBox="1"/>
          <p:nvPr/>
        </p:nvSpPr>
        <p:spPr>
          <a:xfrm>
            <a:off x="11247120" y="347472"/>
            <a:ext cx="640080" cy="457200"/>
          </a:xfrm>
          <a:prstGeom prst="rect">
            <a:avLst/>
          </a:prstGeom>
          <a:noFill/>
        </p:spPr>
        <p:txBody>
          <a:bodyPr wrap="square" anchor="t">
            <a:spAutoFit/>
          </a:bodyPr>
          <a:lstStyle/>
          <a:p>
            <a:pPr algn="r">
              <a:spcAft>
                <a:spcPts val="600"/>
              </a:spcAft>
            </a:pPr>
            <a:r>
              <a:rPr sz="1400" b="0" i="0">
                <a:solidFill>
                  <a:srgbClr val="8FA8C4"/>
                </a:solidFill>
                <a:latin typeface="Calibri"/>
              </a:rPr>
              <a:t>7</a:t>
            </a:r>
          </a:p>
        </p:txBody>
      </p:sp>
      <p:sp>
        <p:nvSpPr>
          <p:cNvPr id="6" name="TextBox 5"/>
          <p:cNvSpPr txBox="1"/>
          <p:nvPr/>
        </p:nvSpPr>
        <p:spPr>
          <a:xfrm>
            <a:off x="548640" y="1325880"/>
            <a:ext cx="11064240" cy="457200"/>
          </a:xfrm>
          <a:prstGeom prst="rect">
            <a:avLst/>
          </a:prstGeom>
          <a:noFill/>
        </p:spPr>
        <p:txBody>
          <a:bodyPr wrap="square" anchor="t">
            <a:spAutoFit/>
          </a:bodyPr>
          <a:lstStyle/>
          <a:p>
            <a:pPr algn="l">
              <a:spcAft>
                <a:spcPts val="600"/>
              </a:spcAft>
            </a:pPr>
            <a:r>
              <a:rPr sz="1500" b="0" i="1">
                <a:solidFill>
                  <a:srgbClr val="2E5C8A"/>
                </a:solidFill>
                <a:latin typeface="Calibri"/>
              </a:rPr>
              <a:t>De recordar a predecir</a:t>
            </a:r>
          </a:p>
        </p:txBody>
      </p:sp>
      <p:sp>
        <p:nvSpPr>
          <p:cNvPr id="7" name="Rectangle 6"/>
          <p:cNvSpPr/>
          <p:nvPr/>
        </p:nvSpPr>
        <p:spPr>
          <a:xfrm>
            <a:off x="548640" y="2011680"/>
            <a:ext cx="5257800" cy="329184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212848"/>
            <a:ext cx="4663440" cy="457200"/>
          </a:xfrm>
          <a:prstGeom prst="rect">
            <a:avLst/>
          </a:prstGeom>
          <a:noFill/>
        </p:spPr>
        <p:txBody>
          <a:bodyPr wrap="square" anchor="t">
            <a:spAutoFit/>
          </a:bodyPr>
          <a:lstStyle/>
          <a:p>
            <a:pPr algn="l">
              <a:spcAft>
                <a:spcPts val="600"/>
              </a:spcAft>
            </a:pPr>
            <a:r>
              <a:rPr sz="1700" b="1" i="0">
                <a:solidFill>
                  <a:srgbClr val="8A9AA8"/>
                </a:solidFill>
                <a:latin typeface="Calibri"/>
              </a:rPr>
              <a:t>HOY  ·  Reactivo</a:t>
            </a:r>
          </a:p>
        </p:txBody>
      </p:sp>
      <p:sp>
        <p:nvSpPr>
          <p:cNvPr id="9" name="Rectangle 8"/>
          <p:cNvSpPr/>
          <p:nvPr/>
        </p:nvSpPr>
        <p:spPr>
          <a:xfrm>
            <a:off x="868680" y="2916936"/>
            <a:ext cx="118872" cy="118872"/>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61288" y="2788920"/>
            <a:ext cx="4480560" cy="566928"/>
          </a:xfrm>
          <a:prstGeom prst="rect">
            <a:avLst/>
          </a:prstGeom>
          <a:noFill/>
        </p:spPr>
        <p:txBody>
          <a:bodyPr wrap="square" anchor="t">
            <a:spAutoFit/>
          </a:bodyPr>
          <a:lstStyle/>
          <a:p>
            <a:pPr algn="l">
              <a:spcAft>
                <a:spcPts val="600"/>
              </a:spcAft>
            </a:pPr>
            <a:r>
              <a:rPr sz="1400" b="0" i="0">
                <a:solidFill>
                  <a:srgbClr val="22303C"/>
                </a:solidFill>
                <a:latin typeface="Calibri"/>
              </a:rPr>
              <a:t>Se manda un recordatorio</a:t>
            </a:r>
          </a:p>
        </p:txBody>
      </p:sp>
      <p:sp>
        <p:nvSpPr>
          <p:cNvPr id="11" name="Rectangle 10"/>
          <p:cNvSpPr/>
          <p:nvPr/>
        </p:nvSpPr>
        <p:spPr>
          <a:xfrm>
            <a:off x="868680" y="3483864"/>
            <a:ext cx="118872" cy="118872"/>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61288" y="3355848"/>
            <a:ext cx="4480560" cy="566928"/>
          </a:xfrm>
          <a:prstGeom prst="rect">
            <a:avLst/>
          </a:prstGeom>
          <a:noFill/>
        </p:spPr>
        <p:txBody>
          <a:bodyPr wrap="square" anchor="t">
            <a:spAutoFit/>
          </a:bodyPr>
          <a:lstStyle/>
          <a:p>
            <a:pPr algn="l">
              <a:spcAft>
                <a:spcPts val="600"/>
              </a:spcAft>
            </a:pPr>
            <a:r>
              <a:rPr sz="1400" b="0" i="0">
                <a:solidFill>
                  <a:srgbClr val="22303C"/>
                </a:solidFill>
                <a:latin typeface="Calibri"/>
              </a:rPr>
              <a:t>Idéntico para todos los clientes</a:t>
            </a:r>
          </a:p>
        </p:txBody>
      </p:sp>
      <p:sp>
        <p:nvSpPr>
          <p:cNvPr id="13" name="Rectangle 12"/>
          <p:cNvSpPr/>
          <p:nvPr/>
        </p:nvSpPr>
        <p:spPr>
          <a:xfrm>
            <a:off x="868680" y="4050791"/>
            <a:ext cx="118872" cy="118872"/>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61288" y="3922776"/>
            <a:ext cx="4480560" cy="566928"/>
          </a:xfrm>
          <a:prstGeom prst="rect">
            <a:avLst/>
          </a:prstGeom>
          <a:noFill/>
        </p:spPr>
        <p:txBody>
          <a:bodyPr wrap="square" anchor="t">
            <a:spAutoFit/>
          </a:bodyPr>
          <a:lstStyle/>
          <a:p>
            <a:pPr algn="l">
              <a:spcAft>
                <a:spcPts val="600"/>
              </a:spcAft>
            </a:pPr>
            <a:r>
              <a:rPr sz="1400" b="0" i="0">
                <a:solidFill>
                  <a:srgbClr val="22303C"/>
                </a:solidFill>
                <a:latin typeface="Calibri"/>
              </a:rPr>
              <a:t>Después de reservar, sin evaluar</a:t>
            </a:r>
          </a:p>
        </p:txBody>
      </p:sp>
      <p:sp>
        <p:nvSpPr>
          <p:cNvPr id="15" name="Rectangle 14"/>
          <p:cNvSpPr/>
          <p:nvPr/>
        </p:nvSpPr>
        <p:spPr>
          <a:xfrm>
            <a:off x="868680" y="4617720"/>
            <a:ext cx="118872" cy="118872"/>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61288" y="4489704"/>
            <a:ext cx="4480560" cy="566928"/>
          </a:xfrm>
          <a:prstGeom prst="rect">
            <a:avLst/>
          </a:prstGeom>
          <a:noFill/>
        </p:spPr>
        <p:txBody>
          <a:bodyPr wrap="square" anchor="t">
            <a:spAutoFit/>
          </a:bodyPr>
          <a:lstStyle/>
          <a:p>
            <a:pPr algn="l">
              <a:spcAft>
                <a:spcPts val="600"/>
              </a:spcAft>
            </a:pPr>
            <a:r>
              <a:rPr sz="1400" b="0" i="0">
                <a:solidFill>
                  <a:srgbClr val="22303C"/>
                </a:solidFill>
                <a:latin typeface="Calibri"/>
              </a:rPr>
              <a:t>No se usan los datos históricos</a:t>
            </a:r>
          </a:p>
        </p:txBody>
      </p:sp>
      <p:sp>
        <p:nvSpPr>
          <p:cNvPr id="17" name="Right Arrow 16"/>
          <p:cNvSpPr/>
          <p:nvPr/>
        </p:nvSpPr>
        <p:spPr>
          <a:xfrm>
            <a:off x="5961888" y="3383280"/>
            <a:ext cx="685800" cy="548640"/>
          </a:xfrm>
          <a:prstGeom prst="rightArrow">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12280" y="2011680"/>
            <a:ext cx="4837176" cy="32918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0" y="2212848"/>
            <a:ext cx="4297680" cy="457200"/>
          </a:xfrm>
          <a:prstGeom prst="rect">
            <a:avLst/>
          </a:prstGeom>
          <a:noFill/>
        </p:spPr>
        <p:txBody>
          <a:bodyPr wrap="square" anchor="t">
            <a:spAutoFit/>
          </a:bodyPr>
          <a:lstStyle/>
          <a:p>
            <a:pPr algn="l">
              <a:spcAft>
                <a:spcPts val="600"/>
              </a:spcAft>
            </a:pPr>
            <a:r>
              <a:rPr sz="1700" b="1" i="0">
                <a:solidFill>
                  <a:srgbClr val="E09F3E"/>
                </a:solidFill>
                <a:latin typeface="Calibri"/>
              </a:rPr>
              <a:t>PREVET  ·  Predictivo</a:t>
            </a:r>
          </a:p>
        </p:txBody>
      </p:sp>
      <p:sp>
        <p:nvSpPr>
          <p:cNvPr id="20" name="Rectangle 19"/>
          <p:cNvSpPr/>
          <p:nvPr/>
        </p:nvSpPr>
        <p:spPr>
          <a:xfrm>
            <a:off x="7132320" y="2916936"/>
            <a:ext cx="118872" cy="118872"/>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24927" y="2788920"/>
            <a:ext cx="4023360" cy="548640"/>
          </a:xfrm>
          <a:prstGeom prst="rect">
            <a:avLst/>
          </a:prstGeom>
          <a:noFill/>
        </p:spPr>
        <p:txBody>
          <a:bodyPr wrap="square" anchor="t">
            <a:spAutoFit/>
          </a:bodyPr>
          <a:lstStyle/>
          <a:p>
            <a:pPr algn="l">
              <a:spcAft>
                <a:spcPts val="600"/>
              </a:spcAft>
            </a:pPr>
            <a:r>
              <a:rPr sz="1400" b="0" i="0">
                <a:solidFill>
                  <a:srgbClr val="FFFFFF"/>
                </a:solidFill>
                <a:latin typeface="Calibri"/>
              </a:rPr>
              <a:t>Se calcula el riesgo de cada hora</a:t>
            </a:r>
          </a:p>
        </p:txBody>
      </p:sp>
      <p:sp>
        <p:nvSpPr>
          <p:cNvPr id="22" name="Rectangle 21"/>
          <p:cNvSpPr/>
          <p:nvPr/>
        </p:nvSpPr>
        <p:spPr>
          <a:xfrm>
            <a:off x="7132320" y="3483864"/>
            <a:ext cx="118872" cy="118872"/>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24927" y="3355848"/>
            <a:ext cx="4023360" cy="548640"/>
          </a:xfrm>
          <a:prstGeom prst="rect">
            <a:avLst/>
          </a:prstGeom>
          <a:noFill/>
        </p:spPr>
        <p:txBody>
          <a:bodyPr wrap="square" anchor="t">
            <a:spAutoFit/>
          </a:bodyPr>
          <a:lstStyle/>
          <a:p>
            <a:pPr algn="l">
              <a:spcAft>
                <a:spcPts val="600"/>
              </a:spcAft>
            </a:pPr>
            <a:r>
              <a:rPr sz="1400" b="0" i="0">
                <a:solidFill>
                  <a:srgbClr val="FFFFFF"/>
                </a:solidFill>
                <a:latin typeface="Calibri"/>
              </a:rPr>
              <a:t>Diferenciado según su historial</a:t>
            </a:r>
          </a:p>
        </p:txBody>
      </p:sp>
      <p:sp>
        <p:nvSpPr>
          <p:cNvPr id="24" name="Rectangle 23"/>
          <p:cNvSpPr/>
          <p:nvPr/>
        </p:nvSpPr>
        <p:spPr>
          <a:xfrm>
            <a:off x="7132320" y="4050791"/>
            <a:ext cx="118872" cy="118872"/>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24927" y="3922776"/>
            <a:ext cx="4023360" cy="548640"/>
          </a:xfrm>
          <a:prstGeom prst="rect">
            <a:avLst/>
          </a:prstGeom>
          <a:noFill/>
        </p:spPr>
        <p:txBody>
          <a:bodyPr wrap="square" anchor="t">
            <a:spAutoFit/>
          </a:bodyPr>
          <a:lstStyle/>
          <a:p>
            <a:pPr algn="l">
              <a:spcAft>
                <a:spcPts val="600"/>
              </a:spcAft>
            </a:pPr>
            <a:r>
              <a:rPr sz="1400" b="0" i="0">
                <a:solidFill>
                  <a:srgbClr val="FFFFFF"/>
                </a:solidFill>
                <a:latin typeface="Calibri"/>
              </a:rPr>
              <a:t>Al momento de reservar, anticipado</a:t>
            </a:r>
          </a:p>
        </p:txBody>
      </p:sp>
      <p:sp>
        <p:nvSpPr>
          <p:cNvPr id="26" name="Rectangle 25"/>
          <p:cNvSpPr/>
          <p:nvPr/>
        </p:nvSpPr>
        <p:spPr>
          <a:xfrm>
            <a:off x="7132320" y="4617720"/>
            <a:ext cx="118872" cy="118872"/>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24927" y="4489704"/>
            <a:ext cx="4023360" cy="548640"/>
          </a:xfrm>
          <a:prstGeom prst="rect">
            <a:avLst/>
          </a:prstGeom>
          <a:noFill/>
        </p:spPr>
        <p:txBody>
          <a:bodyPr wrap="square" anchor="t">
            <a:spAutoFit/>
          </a:bodyPr>
          <a:lstStyle/>
          <a:p>
            <a:pPr algn="l">
              <a:spcAft>
                <a:spcPts val="600"/>
              </a:spcAft>
            </a:pPr>
            <a:r>
              <a:rPr sz="1400" b="0" i="0">
                <a:solidFill>
                  <a:srgbClr val="FFFFFF"/>
                </a:solidFill>
                <a:latin typeface="Calibri"/>
              </a:rPr>
              <a:t>Usa comportamiento previo y patrones</a:t>
            </a:r>
          </a:p>
        </p:txBody>
      </p:sp>
      <p:sp>
        <p:nvSpPr>
          <p:cNvPr id="28" name="TextBox 27"/>
          <p:cNvSpPr txBox="1"/>
          <p:nvPr/>
        </p:nvSpPr>
        <p:spPr>
          <a:xfrm>
            <a:off x="548640" y="5532120"/>
            <a:ext cx="11100816" cy="822960"/>
          </a:xfrm>
          <a:prstGeom prst="rect">
            <a:avLst/>
          </a:prstGeom>
          <a:noFill/>
        </p:spPr>
        <p:txBody>
          <a:bodyPr wrap="square" anchor="t">
            <a:spAutoFit/>
          </a:bodyPr>
          <a:lstStyle/>
          <a:p>
            <a:pPr algn="ctr">
              <a:spcAft>
                <a:spcPts val="600"/>
              </a:spcAft>
            </a:pPr>
            <a:r>
              <a:rPr sz="1500" b="0" i="1">
                <a:solidFill>
                  <a:srgbClr val="2E5C8A"/>
                </a:solidFill>
                <a:latin typeface="Calibri"/>
              </a:rPr>
              <a:t>Trasladamos modelos de predicción de inasistencia ya validados en salud humana a un sector que todavía no los usa.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0241280" cy="640080"/>
          </a:xfrm>
          <a:prstGeom prst="rect">
            <a:avLst/>
          </a:prstGeom>
          <a:noFill/>
        </p:spPr>
        <p:txBody>
          <a:bodyPr wrap="square" anchor="t">
            <a:spAutoFit/>
          </a:bodyPr>
          <a:lstStyle/>
          <a:p>
            <a:pPr algn="l">
              <a:spcAft>
                <a:spcPts val="600"/>
              </a:spcAft>
            </a:pPr>
            <a:r>
              <a:rPr sz="2700" b="1" i="0">
                <a:solidFill>
                  <a:srgbClr val="FFFFFF"/>
                </a:solidFill>
                <a:latin typeface="Calibri"/>
              </a:rPr>
              <a:t>La solución en cinco etapas</a:t>
            </a:r>
          </a:p>
        </p:txBody>
      </p:sp>
      <p:sp>
        <p:nvSpPr>
          <p:cNvPr id="5" name="TextBox 4"/>
          <p:cNvSpPr txBox="1"/>
          <p:nvPr/>
        </p:nvSpPr>
        <p:spPr>
          <a:xfrm>
            <a:off x="11247120" y="347472"/>
            <a:ext cx="640080" cy="457200"/>
          </a:xfrm>
          <a:prstGeom prst="rect">
            <a:avLst/>
          </a:prstGeom>
          <a:noFill/>
        </p:spPr>
        <p:txBody>
          <a:bodyPr wrap="square" anchor="t">
            <a:spAutoFit/>
          </a:bodyPr>
          <a:lstStyle/>
          <a:p>
            <a:pPr algn="r">
              <a:spcAft>
                <a:spcPts val="600"/>
              </a:spcAft>
            </a:pPr>
            <a:r>
              <a:rPr sz="1400" b="0" i="0">
                <a:solidFill>
                  <a:srgbClr val="8FA8C4"/>
                </a:solidFill>
                <a:latin typeface="Calibri"/>
              </a:rPr>
              <a:t>8</a:t>
            </a:r>
          </a:p>
        </p:txBody>
      </p:sp>
      <p:sp>
        <p:nvSpPr>
          <p:cNvPr id="6" name="TextBox 5"/>
          <p:cNvSpPr txBox="1"/>
          <p:nvPr/>
        </p:nvSpPr>
        <p:spPr>
          <a:xfrm>
            <a:off x="548640" y="1325880"/>
            <a:ext cx="11064240" cy="457200"/>
          </a:xfrm>
          <a:prstGeom prst="rect">
            <a:avLst/>
          </a:prstGeom>
          <a:noFill/>
        </p:spPr>
        <p:txBody>
          <a:bodyPr wrap="square" anchor="t">
            <a:spAutoFit/>
          </a:bodyPr>
          <a:lstStyle/>
          <a:p>
            <a:pPr algn="l">
              <a:spcAft>
                <a:spcPts val="600"/>
              </a:spcAft>
            </a:pPr>
            <a:r>
              <a:rPr sz="1500" b="0" i="1">
                <a:solidFill>
                  <a:srgbClr val="2E5C8A"/>
                </a:solidFill>
                <a:latin typeface="Calibri"/>
              </a:rPr>
              <a:t>Cada etapa resuelve una carencia concreta</a:t>
            </a:r>
          </a:p>
        </p:txBody>
      </p:sp>
      <p:sp>
        <p:nvSpPr>
          <p:cNvPr id="7" name="Rectangle 6"/>
          <p:cNvSpPr/>
          <p:nvPr/>
        </p:nvSpPr>
        <p:spPr>
          <a:xfrm>
            <a:off x="548640" y="2148840"/>
            <a:ext cx="2121408" cy="27432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148840"/>
            <a:ext cx="2121408" cy="82296"/>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1600" y="2423160"/>
            <a:ext cx="502920" cy="502920"/>
          </a:xfrm>
          <a:prstGeom prst="ellipse">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2505456"/>
            <a:ext cx="502920" cy="365760"/>
          </a:xfrm>
          <a:prstGeom prst="rect">
            <a:avLst/>
          </a:prstGeom>
          <a:noFill/>
        </p:spPr>
        <p:txBody>
          <a:bodyPr wrap="square" anchor="t">
            <a:spAutoFit/>
          </a:bodyPr>
          <a:lstStyle/>
          <a:p>
            <a:pPr algn="ctr">
              <a:spcAft>
                <a:spcPts val="600"/>
              </a:spcAft>
            </a:pPr>
            <a:r>
              <a:rPr sz="1700" b="1" i="0">
                <a:solidFill>
                  <a:srgbClr val="FFFFFF"/>
                </a:solidFill>
                <a:latin typeface="Calibri"/>
              </a:rPr>
              <a:t>1</a:t>
            </a:r>
          </a:p>
        </p:txBody>
      </p:sp>
      <p:sp>
        <p:nvSpPr>
          <p:cNvPr id="11" name="TextBox 10"/>
          <p:cNvSpPr txBox="1"/>
          <p:nvPr/>
        </p:nvSpPr>
        <p:spPr>
          <a:xfrm>
            <a:off x="731520" y="3127248"/>
            <a:ext cx="1783080" cy="411480"/>
          </a:xfrm>
          <a:prstGeom prst="rect">
            <a:avLst/>
          </a:prstGeom>
          <a:noFill/>
        </p:spPr>
        <p:txBody>
          <a:bodyPr wrap="square" anchor="t">
            <a:spAutoFit/>
          </a:bodyPr>
          <a:lstStyle/>
          <a:p>
            <a:pPr algn="ctr">
              <a:spcAft>
                <a:spcPts val="600"/>
              </a:spcAft>
            </a:pPr>
            <a:r>
              <a:rPr sz="1600" b="1" i="0">
                <a:solidFill>
                  <a:srgbClr val="1F3A5F"/>
                </a:solidFill>
                <a:latin typeface="Calibri"/>
              </a:rPr>
              <a:t>Formalizar</a:t>
            </a:r>
          </a:p>
        </p:txBody>
      </p:sp>
      <p:sp>
        <p:nvSpPr>
          <p:cNvPr id="12" name="TextBox 11"/>
          <p:cNvSpPr txBox="1"/>
          <p:nvPr/>
        </p:nvSpPr>
        <p:spPr>
          <a:xfrm>
            <a:off x="731520" y="3611880"/>
            <a:ext cx="1783080" cy="1188720"/>
          </a:xfrm>
          <a:prstGeom prst="rect">
            <a:avLst/>
          </a:prstGeom>
          <a:noFill/>
        </p:spPr>
        <p:txBody>
          <a:bodyPr wrap="square" anchor="t">
            <a:spAutoFit/>
          </a:bodyPr>
          <a:lstStyle/>
          <a:p>
            <a:pPr algn="ctr">
              <a:spcAft>
                <a:spcPts val="600"/>
              </a:spcAft>
            </a:pPr>
            <a:r>
              <a:rPr sz="1150" b="0" i="0">
                <a:solidFill>
                  <a:srgbClr val="22303C"/>
                </a:solidFill>
                <a:latin typeface="Calibri"/>
              </a:rPr>
              <a:t>Modelamos el proceso real de agendamiento en BPMN</a:t>
            </a:r>
          </a:p>
        </p:txBody>
      </p:sp>
      <p:sp>
        <p:nvSpPr>
          <p:cNvPr id="13" name="Rectangle 12"/>
          <p:cNvSpPr/>
          <p:nvPr/>
        </p:nvSpPr>
        <p:spPr>
          <a:xfrm>
            <a:off x="2807208" y="2148840"/>
            <a:ext cx="2121408" cy="27432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807208" y="2148840"/>
            <a:ext cx="2121408" cy="82296"/>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30168" y="2423160"/>
            <a:ext cx="502920" cy="502920"/>
          </a:xfrm>
          <a:prstGeom prst="ellipse">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30168" y="2505456"/>
            <a:ext cx="502920" cy="365760"/>
          </a:xfrm>
          <a:prstGeom prst="rect">
            <a:avLst/>
          </a:prstGeom>
          <a:noFill/>
        </p:spPr>
        <p:txBody>
          <a:bodyPr wrap="square" anchor="t">
            <a:spAutoFit/>
          </a:bodyPr>
          <a:lstStyle/>
          <a:p>
            <a:pPr algn="ctr">
              <a:spcAft>
                <a:spcPts val="600"/>
              </a:spcAft>
            </a:pPr>
            <a:r>
              <a:rPr sz="1700" b="1" i="0">
                <a:solidFill>
                  <a:srgbClr val="FFFFFF"/>
                </a:solidFill>
                <a:latin typeface="Calibri"/>
              </a:rPr>
              <a:t>2</a:t>
            </a:r>
          </a:p>
        </p:txBody>
      </p:sp>
      <p:sp>
        <p:nvSpPr>
          <p:cNvPr id="17" name="TextBox 16"/>
          <p:cNvSpPr txBox="1"/>
          <p:nvPr/>
        </p:nvSpPr>
        <p:spPr>
          <a:xfrm>
            <a:off x="2990088" y="3127248"/>
            <a:ext cx="1783080" cy="411480"/>
          </a:xfrm>
          <a:prstGeom prst="rect">
            <a:avLst/>
          </a:prstGeom>
          <a:noFill/>
        </p:spPr>
        <p:txBody>
          <a:bodyPr wrap="square" anchor="t">
            <a:spAutoFit/>
          </a:bodyPr>
          <a:lstStyle/>
          <a:p>
            <a:pPr algn="ctr">
              <a:spcAft>
                <a:spcPts val="600"/>
              </a:spcAft>
            </a:pPr>
            <a:r>
              <a:rPr sz="1600" b="1" i="0">
                <a:solidFill>
                  <a:srgbClr val="1F3A5F"/>
                </a:solidFill>
                <a:latin typeface="Calibri"/>
              </a:rPr>
              <a:t>Estructurar</a:t>
            </a:r>
          </a:p>
        </p:txBody>
      </p:sp>
      <p:sp>
        <p:nvSpPr>
          <p:cNvPr id="18" name="TextBox 17"/>
          <p:cNvSpPr txBox="1"/>
          <p:nvPr/>
        </p:nvSpPr>
        <p:spPr>
          <a:xfrm>
            <a:off x="2990088" y="3611880"/>
            <a:ext cx="1783080" cy="1188720"/>
          </a:xfrm>
          <a:prstGeom prst="rect">
            <a:avLst/>
          </a:prstGeom>
          <a:noFill/>
        </p:spPr>
        <p:txBody>
          <a:bodyPr wrap="square" anchor="t">
            <a:spAutoFit/>
          </a:bodyPr>
          <a:lstStyle/>
          <a:p>
            <a:pPr algn="ctr">
              <a:spcAft>
                <a:spcPts val="600"/>
              </a:spcAft>
            </a:pPr>
            <a:r>
              <a:rPr sz="1150" b="0" i="0">
                <a:solidFill>
                  <a:srgbClr val="22303C"/>
                </a:solidFill>
                <a:latin typeface="Calibri"/>
              </a:rPr>
              <a:t>Agregamos el registro de inasistencia que hoy no existe</a:t>
            </a:r>
          </a:p>
        </p:txBody>
      </p:sp>
      <p:sp>
        <p:nvSpPr>
          <p:cNvPr id="19" name="Rectangle 18"/>
          <p:cNvSpPr/>
          <p:nvPr/>
        </p:nvSpPr>
        <p:spPr>
          <a:xfrm>
            <a:off x="5065776" y="2148840"/>
            <a:ext cx="2121408" cy="27432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65776" y="2148840"/>
            <a:ext cx="2121408" cy="82296"/>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888736" y="2423160"/>
            <a:ext cx="502920" cy="502920"/>
          </a:xfrm>
          <a:prstGeom prst="ellipse">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88736" y="2505456"/>
            <a:ext cx="502920" cy="365760"/>
          </a:xfrm>
          <a:prstGeom prst="rect">
            <a:avLst/>
          </a:prstGeom>
          <a:noFill/>
        </p:spPr>
        <p:txBody>
          <a:bodyPr wrap="square" anchor="t">
            <a:spAutoFit/>
          </a:bodyPr>
          <a:lstStyle/>
          <a:p>
            <a:pPr algn="ctr">
              <a:spcAft>
                <a:spcPts val="600"/>
              </a:spcAft>
            </a:pPr>
            <a:r>
              <a:rPr sz="1700" b="1" i="0">
                <a:solidFill>
                  <a:srgbClr val="FFFFFF"/>
                </a:solidFill>
                <a:latin typeface="Calibri"/>
              </a:rPr>
              <a:t>3</a:t>
            </a:r>
          </a:p>
        </p:txBody>
      </p:sp>
      <p:sp>
        <p:nvSpPr>
          <p:cNvPr id="23" name="TextBox 22"/>
          <p:cNvSpPr txBox="1"/>
          <p:nvPr/>
        </p:nvSpPr>
        <p:spPr>
          <a:xfrm>
            <a:off x="5248656" y="3127248"/>
            <a:ext cx="1783080" cy="411480"/>
          </a:xfrm>
          <a:prstGeom prst="rect">
            <a:avLst/>
          </a:prstGeom>
          <a:noFill/>
        </p:spPr>
        <p:txBody>
          <a:bodyPr wrap="square" anchor="t">
            <a:spAutoFit/>
          </a:bodyPr>
          <a:lstStyle/>
          <a:p>
            <a:pPr algn="ctr">
              <a:spcAft>
                <a:spcPts val="600"/>
              </a:spcAft>
            </a:pPr>
            <a:r>
              <a:rPr sz="1600" b="1" i="0">
                <a:solidFill>
                  <a:srgbClr val="1F3A5F"/>
                </a:solidFill>
                <a:latin typeface="Calibri"/>
              </a:rPr>
              <a:t>Medir</a:t>
            </a:r>
          </a:p>
        </p:txBody>
      </p:sp>
      <p:sp>
        <p:nvSpPr>
          <p:cNvPr id="24" name="TextBox 23"/>
          <p:cNvSpPr txBox="1"/>
          <p:nvPr/>
        </p:nvSpPr>
        <p:spPr>
          <a:xfrm>
            <a:off x="5248656" y="3611880"/>
            <a:ext cx="1783080" cy="1188720"/>
          </a:xfrm>
          <a:prstGeom prst="rect">
            <a:avLst/>
          </a:prstGeom>
          <a:noFill/>
        </p:spPr>
        <p:txBody>
          <a:bodyPr wrap="square" anchor="t">
            <a:spAutoFit/>
          </a:bodyPr>
          <a:lstStyle/>
          <a:p>
            <a:pPr algn="ctr">
              <a:spcAft>
                <a:spcPts val="600"/>
              </a:spcAft>
            </a:pPr>
            <a:r>
              <a:rPr sz="1150" b="0" i="0">
                <a:solidFill>
                  <a:srgbClr val="22303C"/>
                </a:solidFill>
                <a:latin typeface="Calibri"/>
              </a:rPr>
              <a:t>Indicadores: cuántas horas se pierden y cuánto cuestan</a:t>
            </a:r>
          </a:p>
        </p:txBody>
      </p:sp>
      <p:sp>
        <p:nvSpPr>
          <p:cNvPr id="25" name="Rectangle 24"/>
          <p:cNvSpPr/>
          <p:nvPr/>
        </p:nvSpPr>
        <p:spPr>
          <a:xfrm>
            <a:off x="7324344" y="2148840"/>
            <a:ext cx="2121408" cy="27432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4344" y="2148840"/>
            <a:ext cx="2121408" cy="8229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147304" y="2423160"/>
            <a:ext cx="502920" cy="502920"/>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47304" y="2505456"/>
            <a:ext cx="502920" cy="365760"/>
          </a:xfrm>
          <a:prstGeom prst="rect">
            <a:avLst/>
          </a:prstGeom>
          <a:noFill/>
        </p:spPr>
        <p:txBody>
          <a:bodyPr wrap="square" anchor="t">
            <a:spAutoFit/>
          </a:bodyPr>
          <a:lstStyle/>
          <a:p>
            <a:pPr algn="ctr">
              <a:spcAft>
                <a:spcPts val="600"/>
              </a:spcAft>
            </a:pPr>
            <a:r>
              <a:rPr sz="1700" b="1" i="0">
                <a:solidFill>
                  <a:srgbClr val="FFFFFF"/>
                </a:solidFill>
                <a:latin typeface="Calibri"/>
              </a:rPr>
              <a:t>4</a:t>
            </a:r>
          </a:p>
        </p:txBody>
      </p:sp>
      <p:sp>
        <p:nvSpPr>
          <p:cNvPr id="29" name="TextBox 28"/>
          <p:cNvSpPr txBox="1"/>
          <p:nvPr/>
        </p:nvSpPr>
        <p:spPr>
          <a:xfrm>
            <a:off x="7507224" y="3127248"/>
            <a:ext cx="1783080" cy="411480"/>
          </a:xfrm>
          <a:prstGeom prst="rect">
            <a:avLst/>
          </a:prstGeom>
          <a:noFill/>
        </p:spPr>
        <p:txBody>
          <a:bodyPr wrap="square" anchor="t">
            <a:spAutoFit/>
          </a:bodyPr>
          <a:lstStyle/>
          <a:p>
            <a:pPr algn="ctr">
              <a:spcAft>
                <a:spcPts val="600"/>
              </a:spcAft>
            </a:pPr>
            <a:r>
              <a:rPr sz="1600" b="1" i="0">
                <a:solidFill>
                  <a:srgbClr val="1F3A5F"/>
                </a:solidFill>
                <a:latin typeface="Calibri"/>
              </a:rPr>
              <a:t>Predecir</a:t>
            </a:r>
          </a:p>
        </p:txBody>
      </p:sp>
      <p:sp>
        <p:nvSpPr>
          <p:cNvPr id="30" name="TextBox 29"/>
          <p:cNvSpPr txBox="1"/>
          <p:nvPr/>
        </p:nvSpPr>
        <p:spPr>
          <a:xfrm>
            <a:off x="7507224" y="3611880"/>
            <a:ext cx="1783080" cy="1188720"/>
          </a:xfrm>
          <a:prstGeom prst="rect">
            <a:avLst/>
          </a:prstGeom>
          <a:noFill/>
        </p:spPr>
        <p:txBody>
          <a:bodyPr wrap="square" anchor="t">
            <a:spAutoFit/>
          </a:bodyPr>
          <a:lstStyle/>
          <a:p>
            <a:pPr algn="ctr">
              <a:spcAft>
                <a:spcPts val="600"/>
              </a:spcAft>
            </a:pPr>
            <a:r>
              <a:rPr sz="1150" b="0" i="0">
                <a:solidFill>
                  <a:srgbClr val="22303C"/>
                </a:solidFill>
                <a:latin typeface="Calibri"/>
              </a:rPr>
              <a:t>Puntuación de riesgo por cada hora agendada</a:t>
            </a:r>
          </a:p>
        </p:txBody>
      </p:sp>
      <p:sp>
        <p:nvSpPr>
          <p:cNvPr id="31" name="Rectangle 30"/>
          <p:cNvSpPr/>
          <p:nvPr/>
        </p:nvSpPr>
        <p:spPr>
          <a:xfrm>
            <a:off x="9582912" y="2148840"/>
            <a:ext cx="2121408" cy="27432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82912" y="2148840"/>
            <a:ext cx="2121408" cy="82296"/>
          </a:xfrm>
          <a:prstGeom prst="rect">
            <a:avLst/>
          </a:prstGeom>
          <a:solidFill>
            <a:srgbClr val="C95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405872" y="2423160"/>
            <a:ext cx="502920" cy="502920"/>
          </a:xfrm>
          <a:prstGeom prst="ellipse">
            <a:avLst/>
          </a:prstGeom>
          <a:solidFill>
            <a:srgbClr val="C95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05872" y="2505456"/>
            <a:ext cx="502920" cy="365760"/>
          </a:xfrm>
          <a:prstGeom prst="rect">
            <a:avLst/>
          </a:prstGeom>
          <a:noFill/>
        </p:spPr>
        <p:txBody>
          <a:bodyPr wrap="square" anchor="t">
            <a:spAutoFit/>
          </a:bodyPr>
          <a:lstStyle/>
          <a:p>
            <a:pPr algn="ctr">
              <a:spcAft>
                <a:spcPts val="600"/>
              </a:spcAft>
            </a:pPr>
            <a:r>
              <a:rPr sz="1700" b="1" i="0">
                <a:solidFill>
                  <a:srgbClr val="FFFFFF"/>
                </a:solidFill>
                <a:latin typeface="Calibri"/>
              </a:rPr>
              <a:t>5</a:t>
            </a:r>
          </a:p>
        </p:txBody>
      </p:sp>
      <p:sp>
        <p:nvSpPr>
          <p:cNvPr id="35" name="TextBox 34"/>
          <p:cNvSpPr txBox="1"/>
          <p:nvPr/>
        </p:nvSpPr>
        <p:spPr>
          <a:xfrm>
            <a:off x="9765792" y="3127248"/>
            <a:ext cx="1783080" cy="411480"/>
          </a:xfrm>
          <a:prstGeom prst="rect">
            <a:avLst/>
          </a:prstGeom>
          <a:noFill/>
        </p:spPr>
        <p:txBody>
          <a:bodyPr wrap="square" anchor="t">
            <a:spAutoFit/>
          </a:bodyPr>
          <a:lstStyle/>
          <a:p>
            <a:pPr algn="ctr">
              <a:spcAft>
                <a:spcPts val="600"/>
              </a:spcAft>
            </a:pPr>
            <a:r>
              <a:rPr sz="1600" b="1" i="0">
                <a:solidFill>
                  <a:srgbClr val="1F3A5F"/>
                </a:solidFill>
                <a:latin typeface="Calibri"/>
              </a:rPr>
              <a:t>Recomendar</a:t>
            </a:r>
          </a:p>
        </p:txBody>
      </p:sp>
      <p:sp>
        <p:nvSpPr>
          <p:cNvPr id="36" name="TextBox 35"/>
          <p:cNvSpPr txBox="1"/>
          <p:nvPr/>
        </p:nvSpPr>
        <p:spPr>
          <a:xfrm>
            <a:off x="9765792" y="3611880"/>
            <a:ext cx="1783080" cy="1188720"/>
          </a:xfrm>
          <a:prstGeom prst="rect">
            <a:avLst/>
          </a:prstGeom>
          <a:noFill/>
        </p:spPr>
        <p:txBody>
          <a:bodyPr wrap="square" anchor="t">
            <a:spAutoFit/>
          </a:bodyPr>
          <a:lstStyle/>
          <a:p>
            <a:pPr algn="ctr">
              <a:spcAft>
                <a:spcPts val="600"/>
              </a:spcAft>
            </a:pPr>
            <a:r>
              <a:rPr sz="1150" b="0" i="0">
                <a:solidFill>
                  <a:srgbClr val="22303C"/>
                </a:solidFill>
                <a:latin typeface="Calibri"/>
              </a:rPr>
              <a:t>Tablero con las horas en riesgo y qué hacer con cada una</a:t>
            </a:r>
          </a:p>
        </p:txBody>
      </p:sp>
      <p:sp>
        <p:nvSpPr>
          <p:cNvPr id="37" name="Rectangle 36"/>
          <p:cNvSpPr/>
          <p:nvPr/>
        </p:nvSpPr>
        <p:spPr>
          <a:xfrm>
            <a:off x="548640" y="5166360"/>
            <a:ext cx="11100816" cy="86868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321808"/>
            <a:ext cx="10424160" cy="640080"/>
          </a:xfrm>
          <a:prstGeom prst="rect">
            <a:avLst/>
          </a:prstGeom>
          <a:noFill/>
        </p:spPr>
        <p:txBody>
          <a:bodyPr wrap="square" anchor="t">
            <a:spAutoFit/>
          </a:bodyPr>
          <a:lstStyle/>
          <a:p>
            <a:pPr algn="l">
              <a:spcAft>
                <a:spcPts val="600"/>
              </a:spcAft>
            </a:pPr>
            <a:r>
              <a:rPr sz="1800" b="1" i="0">
                <a:solidFill>
                  <a:srgbClr val="1F3A5F"/>
                </a:solidFill>
                <a:latin typeface="Calibri"/>
              </a:rPr>
              <a:t>Primero lo hacemos medible. Después lo hacemos predecible.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0241280" cy="640080"/>
          </a:xfrm>
          <a:prstGeom prst="rect">
            <a:avLst/>
          </a:prstGeom>
          <a:noFill/>
        </p:spPr>
        <p:txBody>
          <a:bodyPr wrap="square" anchor="t">
            <a:spAutoFit/>
          </a:bodyPr>
          <a:lstStyle/>
          <a:p>
            <a:pPr algn="l">
              <a:spcAft>
                <a:spcPts val="600"/>
              </a:spcAft>
            </a:pPr>
            <a:r>
              <a:rPr sz="2700" b="1" i="0">
                <a:solidFill>
                  <a:srgbClr val="FFFFFF"/>
                </a:solidFill>
                <a:latin typeface="Calibri"/>
              </a:rPr>
              <a:t>Alcance comprometido</a:t>
            </a:r>
          </a:p>
        </p:txBody>
      </p:sp>
      <p:sp>
        <p:nvSpPr>
          <p:cNvPr id="5" name="TextBox 4"/>
          <p:cNvSpPr txBox="1"/>
          <p:nvPr/>
        </p:nvSpPr>
        <p:spPr>
          <a:xfrm>
            <a:off x="11247120" y="347472"/>
            <a:ext cx="640080" cy="457200"/>
          </a:xfrm>
          <a:prstGeom prst="rect">
            <a:avLst/>
          </a:prstGeom>
          <a:noFill/>
        </p:spPr>
        <p:txBody>
          <a:bodyPr wrap="square" anchor="t">
            <a:spAutoFit/>
          </a:bodyPr>
          <a:lstStyle/>
          <a:p>
            <a:pPr algn="r">
              <a:spcAft>
                <a:spcPts val="600"/>
              </a:spcAft>
            </a:pPr>
            <a:r>
              <a:rPr sz="1400" b="0" i="0">
                <a:solidFill>
                  <a:srgbClr val="8FA8C4"/>
                </a:solidFill>
                <a:latin typeface="Calibri"/>
              </a:rPr>
              <a:t>9</a:t>
            </a:r>
          </a:p>
        </p:txBody>
      </p:sp>
      <p:sp>
        <p:nvSpPr>
          <p:cNvPr id="6" name="TextBox 5"/>
          <p:cNvSpPr txBox="1"/>
          <p:nvPr/>
        </p:nvSpPr>
        <p:spPr>
          <a:xfrm>
            <a:off x="548640" y="1325880"/>
            <a:ext cx="11064240" cy="457200"/>
          </a:xfrm>
          <a:prstGeom prst="rect">
            <a:avLst/>
          </a:prstGeom>
          <a:noFill/>
        </p:spPr>
        <p:txBody>
          <a:bodyPr wrap="square" anchor="t">
            <a:spAutoFit/>
          </a:bodyPr>
          <a:lstStyle/>
          <a:p>
            <a:pPr algn="l">
              <a:spcAft>
                <a:spcPts val="600"/>
              </a:spcAft>
            </a:pPr>
            <a:r>
              <a:rPr sz="1500" b="0" i="1">
                <a:solidFill>
                  <a:srgbClr val="2E5C8A"/>
                </a:solidFill>
                <a:latin typeface="Calibri"/>
              </a:rPr>
              <a:t>Qué entregamos en este proyecto y qué queda declarado fuera</a:t>
            </a:r>
          </a:p>
        </p:txBody>
      </p:sp>
      <p:sp>
        <p:nvSpPr>
          <p:cNvPr id="7" name="Rectangle 6"/>
          <p:cNvSpPr/>
          <p:nvPr/>
        </p:nvSpPr>
        <p:spPr>
          <a:xfrm>
            <a:off x="548640" y="1965960"/>
            <a:ext cx="5394960" cy="393192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965960"/>
            <a:ext cx="5394960" cy="82296"/>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148840"/>
            <a:ext cx="4846320" cy="411480"/>
          </a:xfrm>
          <a:prstGeom prst="rect">
            <a:avLst/>
          </a:prstGeom>
          <a:noFill/>
        </p:spPr>
        <p:txBody>
          <a:bodyPr wrap="square" anchor="t">
            <a:spAutoFit/>
          </a:bodyPr>
          <a:lstStyle/>
          <a:p>
            <a:pPr algn="l">
              <a:spcAft>
                <a:spcPts val="600"/>
              </a:spcAft>
            </a:pPr>
            <a:r>
              <a:rPr sz="1700" b="1" i="0">
                <a:solidFill>
                  <a:srgbClr val="4F8A63"/>
                </a:solidFill>
                <a:latin typeface="Calibri"/>
              </a:rPr>
              <a:t>SÍ · Comprometido</a:t>
            </a:r>
          </a:p>
        </p:txBody>
      </p:sp>
      <p:sp>
        <p:nvSpPr>
          <p:cNvPr id="10" name="Rectangle 9"/>
          <p:cNvSpPr/>
          <p:nvPr/>
        </p:nvSpPr>
        <p:spPr>
          <a:xfrm>
            <a:off x="868680" y="2862072"/>
            <a:ext cx="118872" cy="118872"/>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70432" y="2743200"/>
            <a:ext cx="4572000" cy="457200"/>
          </a:xfrm>
          <a:prstGeom prst="rect">
            <a:avLst/>
          </a:prstGeom>
          <a:noFill/>
        </p:spPr>
        <p:txBody>
          <a:bodyPr wrap="square" anchor="t">
            <a:spAutoFit/>
          </a:bodyPr>
          <a:lstStyle/>
          <a:p>
            <a:pPr algn="l">
              <a:spcAft>
                <a:spcPts val="600"/>
              </a:spcAft>
            </a:pPr>
            <a:r>
              <a:rPr sz="1350" b="0" i="0">
                <a:solidFill>
                  <a:srgbClr val="22303C"/>
                </a:solidFill>
                <a:latin typeface="Calibri"/>
              </a:rPr>
              <a:t>Registro de la inasistencia en el modelo de datos</a:t>
            </a:r>
          </a:p>
        </p:txBody>
      </p:sp>
      <p:sp>
        <p:nvSpPr>
          <p:cNvPr id="12" name="Rectangle 11"/>
          <p:cNvSpPr/>
          <p:nvPr/>
        </p:nvSpPr>
        <p:spPr>
          <a:xfrm>
            <a:off x="868680" y="3364991"/>
            <a:ext cx="118872" cy="118872"/>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70432" y="3246120"/>
            <a:ext cx="4572000" cy="457200"/>
          </a:xfrm>
          <a:prstGeom prst="rect">
            <a:avLst/>
          </a:prstGeom>
          <a:noFill/>
        </p:spPr>
        <p:txBody>
          <a:bodyPr wrap="square" anchor="t">
            <a:spAutoFit/>
          </a:bodyPr>
          <a:lstStyle/>
          <a:p>
            <a:pPr algn="l">
              <a:spcAft>
                <a:spcPts val="600"/>
              </a:spcAft>
            </a:pPr>
            <a:r>
              <a:rPr sz="1350" b="0" i="0">
                <a:solidFill>
                  <a:srgbClr val="22303C"/>
                </a:solidFill>
                <a:latin typeface="Calibri"/>
              </a:rPr>
              <a:t>Catálogo de tipos de atención, con duración y valor</a:t>
            </a:r>
          </a:p>
        </p:txBody>
      </p:sp>
      <p:sp>
        <p:nvSpPr>
          <p:cNvPr id="14" name="Rectangle 13"/>
          <p:cNvSpPr/>
          <p:nvPr/>
        </p:nvSpPr>
        <p:spPr>
          <a:xfrm>
            <a:off x="868680" y="3867911"/>
            <a:ext cx="118872" cy="118872"/>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70432" y="3749039"/>
            <a:ext cx="4572000" cy="457200"/>
          </a:xfrm>
          <a:prstGeom prst="rect">
            <a:avLst/>
          </a:prstGeom>
          <a:noFill/>
        </p:spPr>
        <p:txBody>
          <a:bodyPr wrap="square" anchor="t">
            <a:spAutoFit/>
          </a:bodyPr>
          <a:lstStyle/>
          <a:p>
            <a:pPr algn="l">
              <a:spcAft>
                <a:spcPts val="600"/>
              </a:spcAft>
            </a:pPr>
            <a:r>
              <a:rPr sz="1350" b="0" i="0">
                <a:solidFill>
                  <a:srgbClr val="22303C"/>
                </a:solidFill>
                <a:latin typeface="Calibri"/>
              </a:rPr>
              <a:t>Indicadores de gestión e impacto económico</a:t>
            </a:r>
          </a:p>
        </p:txBody>
      </p:sp>
      <p:sp>
        <p:nvSpPr>
          <p:cNvPr id="16" name="Rectangle 15"/>
          <p:cNvSpPr/>
          <p:nvPr/>
        </p:nvSpPr>
        <p:spPr>
          <a:xfrm>
            <a:off x="868680" y="4370832"/>
            <a:ext cx="118872" cy="118872"/>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70432" y="4251960"/>
            <a:ext cx="4572000" cy="457200"/>
          </a:xfrm>
          <a:prstGeom prst="rect">
            <a:avLst/>
          </a:prstGeom>
          <a:noFill/>
        </p:spPr>
        <p:txBody>
          <a:bodyPr wrap="square" anchor="t">
            <a:spAutoFit/>
          </a:bodyPr>
          <a:lstStyle/>
          <a:p>
            <a:pPr algn="l">
              <a:spcAft>
                <a:spcPts val="600"/>
              </a:spcAft>
            </a:pPr>
            <a:r>
              <a:rPr sz="1350" b="0" i="0">
                <a:solidFill>
                  <a:srgbClr val="22303C"/>
                </a:solidFill>
                <a:latin typeface="Calibri"/>
              </a:rPr>
              <a:t>Modelo de puntuación de riesgo en SQL</a:t>
            </a:r>
          </a:p>
        </p:txBody>
      </p:sp>
      <p:sp>
        <p:nvSpPr>
          <p:cNvPr id="18" name="Rectangle 17"/>
          <p:cNvSpPr/>
          <p:nvPr/>
        </p:nvSpPr>
        <p:spPr>
          <a:xfrm>
            <a:off x="868680" y="4873752"/>
            <a:ext cx="118872" cy="118872"/>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70432" y="4754880"/>
            <a:ext cx="4572000" cy="457200"/>
          </a:xfrm>
          <a:prstGeom prst="rect">
            <a:avLst/>
          </a:prstGeom>
          <a:noFill/>
        </p:spPr>
        <p:txBody>
          <a:bodyPr wrap="square" anchor="t">
            <a:spAutoFit/>
          </a:bodyPr>
          <a:lstStyle/>
          <a:p>
            <a:pPr algn="l">
              <a:spcAft>
                <a:spcPts val="600"/>
              </a:spcAft>
            </a:pPr>
            <a:r>
              <a:rPr sz="1350" b="0" i="0">
                <a:solidFill>
                  <a:srgbClr val="22303C"/>
                </a:solidFill>
                <a:latin typeface="Calibri"/>
              </a:rPr>
              <a:t>Tablero en Power BI con acción recomendada</a:t>
            </a:r>
          </a:p>
        </p:txBody>
      </p:sp>
      <p:sp>
        <p:nvSpPr>
          <p:cNvPr id="20" name="Rectangle 19"/>
          <p:cNvSpPr/>
          <p:nvPr/>
        </p:nvSpPr>
        <p:spPr>
          <a:xfrm>
            <a:off x="868680" y="5376672"/>
            <a:ext cx="118872" cy="118872"/>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70432" y="5257800"/>
            <a:ext cx="4572000" cy="457200"/>
          </a:xfrm>
          <a:prstGeom prst="rect">
            <a:avLst/>
          </a:prstGeom>
          <a:noFill/>
        </p:spPr>
        <p:txBody>
          <a:bodyPr wrap="square" anchor="t">
            <a:spAutoFit/>
          </a:bodyPr>
          <a:lstStyle/>
          <a:p>
            <a:pPr algn="l">
              <a:spcAft>
                <a:spcPts val="600"/>
              </a:spcAft>
            </a:pPr>
            <a:r>
              <a:rPr sz="1350" b="0" i="0">
                <a:solidFill>
                  <a:srgbClr val="22303C"/>
                </a:solidFill>
                <a:latin typeface="Calibri"/>
              </a:rPr>
              <a:t>Plan de pruebas y validación con la clínica</a:t>
            </a:r>
          </a:p>
        </p:txBody>
      </p:sp>
      <p:sp>
        <p:nvSpPr>
          <p:cNvPr id="22" name="Rectangle 21"/>
          <p:cNvSpPr/>
          <p:nvPr/>
        </p:nvSpPr>
        <p:spPr>
          <a:xfrm>
            <a:off x="6263640" y="1965960"/>
            <a:ext cx="5394960" cy="393192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63640" y="1965960"/>
            <a:ext cx="5394960" cy="82296"/>
          </a:xfrm>
          <a:prstGeom prst="rect">
            <a:avLst/>
          </a:prstGeom>
          <a:solidFill>
            <a:srgbClr val="8A9A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37960" y="2148840"/>
            <a:ext cx="4846320" cy="411480"/>
          </a:xfrm>
          <a:prstGeom prst="rect">
            <a:avLst/>
          </a:prstGeom>
          <a:noFill/>
        </p:spPr>
        <p:txBody>
          <a:bodyPr wrap="square" anchor="t">
            <a:spAutoFit/>
          </a:bodyPr>
          <a:lstStyle/>
          <a:p>
            <a:pPr algn="l">
              <a:spcAft>
                <a:spcPts val="600"/>
              </a:spcAft>
            </a:pPr>
            <a:r>
              <a:rPr sz="1700" b="1" i="0">
                <a:solidFill>
                  <a:srgbClr val="8A9AA8"/>
                </a:solidFill>
                <a:latin typeface="Calibri"/>
              </a:rPr>
              <a:t>NO · Fuera del alcance</a:t>
            </a:r>
          </a:p>
        </p:txBody>
      </p:sp>
      <p:sp>
        <p:nvSpPr>
          <p:cNvPr id="25" name="Rectangle 24"/>
          <p:cNvSpPr/>
          <p:nvPr/>
        </p:nvSpPr>
        <p:spPr>
          <a:xfrm>
            <a:off x="6583680" y="2862072"/>
            <a:ext cx="118872" cy="118872"/>
          </a:xfrm>
          <a:prstGeom prst="rect">
            <a:avLst/>
          </a:prstGeom>
          <a:solidFill>
            <a:srgbClr val="8A9A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85432" y="2743200"/>
            <a:ext cx="4572000" cy="365760"/>
          </a:xfrm>
          <a:prstGeom prst="rect">
            <a:avLst/>
          </a:prstGeom>
          <a:noFill/>
        </p:spPr>
        <p:txBody>
          <a:bodyPr wrap="square" anchor="t">
            <a:spAutoFit/>
          </a:bodyPr>
          <a:lstStyle/>
          <a:p>
            <a:pPr algn="l">
              <a:spcAft>
                <a:spcPts val="600"/>
              </a:spcAft>
            </a:pPr>
            <a:r>
              <a:rPr sz="1350" b="0" i="0">
                <a:solidFill>
                  <a:srgbClr val="22303C"/>
                </a:solidFill>
                <a:latin typeface="Calibri"/>
              </a:rPr>
              <a:t>Construcción de la app móvil del tutor</a:t>
            </a:r>
          </a:p>
        </p:txBody>
      </p:sp>
      <p:sp>
        <p:nvSpPr>
          <p:cNvPr id="27" name="TextBox 26"/>
          <p:cNvSpPr txBox="1"/>
          <p:nvPr/>
        </p:nvSpPr>
        <p:spPr>
          <a:xfrm>
            <a:off x="6885432" y="3035808"/>
            <a:ext cx="4572000" cy="320040"/>
          </a:xfrm>
          <a:prstGeom prst="rect">
            <a:avLst/>
          </a:prstGeom>
          <a:noFill/>
        </p:spPr>
        <p:txBody>
          <a:bodyPr wrap="square" anchor="t">
            <a:spAutoFit/>
          </a:bodyPr>
          <a:lstStyle/>
          <a:p>
            <a:pPr algn="l">
              <a:spcAft>
                <a:spcPts val="600"/>
              </a:spcAft>
            </a:pPr>
            <a:r>
              <a:rPr sz="1050" b="0" i="1">
                <a:solidFill>
                  <a:srgbClr val="8A9AA8"/>
                </a:solidFill>
                <a:latin typeface="Calibri"/>
              </a:rPr>
              <a:t>Se entrega como prototipo navegable</a:t>
            </a:r>
          </a:p>
        </p:txBody>
      </p:sp>
      <p:sp>
        <p:nvSpPr>
          <p:cNvPr id="28" name="Rectangle 27"/>
          <p:cNvSpPr/>
          <p:nvPr/>
        </p:nvSpPr>
        <p:spPr>
          <a:xfrm>
            <a:off x="6583680" y="3611879"/>
            <a:ext cx="118872" cy="118872"/>
          </a:xfrm>
          <a:prstGeom prst="rect">
            <a:avLst/>
          </a:prstGeom>
          <a:solidFill>
            <a:srgbClr val="8A9A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85432" y="3493008"/>
            <a:ext cx="4572000" cy="365760"/>
          </a:xfrm>
          <a:prstGeom prst="rect">
            <a:avLst/>
          </a:prstGeom>
          <a:noFill/>
        </p:spPr>
        <p:txBody>
          <a:bodyPr wrap="square" anchor="t">
            <a:spAutoFit/>
          </a:bodyPr>
          <a:lstStyle/>
          <a:p>
            <a:pPr algn="l">
              <a:spcAft>
                <a:spcPts val="600"/>
              </a:spcAft>
            </a:pPr>
            <a:r>
              <a:rPr sz="1350" b="0" i="0">
                <a:solidFill>
                  <a:srgbClr val="22303C"/>
                </a:solidFill>
                <a:latin typeface="Calibri"/>
              </a:rPr>
              <a:t>Modelo de machine learning</a:t>
            </a:r>
          </a:p>
        </p:txBody>
      </p:sp>
      <p:sp>
        <p:nvSpPr>
          <p:cNvPr id="30" name="TextBox 29"/>
          <p:cNvSpPr txBox="1"/>
          <p:nvPr/>
        </p:nvSpPr>
        <p:spPr>
          <a:xfrm>
            <a:off x="6885432" y="3785615"/>
            <a:ext cx="4572000" cy="320040"/>
          </a:xfrm>
          <a:prstGeom prst="rect">
            <a:avLst/>
          </a:prstGeom>
          <a:noFill/>
        </p:spPr>
        <p:txBody>
          <a:bodyPr wrap="square" anchor="t">
            <a:spAutoFit/>
          </a:bodyPr>
          <a:lstStyle/>
          <a:p>
            <a:pPr algn="l">
              <a:spcAft>
                <a:spcPts val="600"/>
              </a:spcAft>
            </a:pPr>
            <a:r>
              <a:rPr sz="1050" b="0" i="1">
                <a:solidFill>
                  <a:srgbClr val="8A9AA8"/>
                </a:solidFill>
                <a:latin typeface="Calibri"/>
              </a:rPr>
              <a:t>Mejora opcional si el tiempo alcanza</a:t>
            </a:r>
          </a:p>
        </p:txBody>
      </p:sp>
      <p:sp>
        <p:nvSpPr>
          <p:cNvPr id="31" name="Rectangle 30"/>
          <p:cNvSpPr/>
          <p:nvPr/>
        </p:nvSpPr>
        <p:spPr>
          <a:xfrm>
            <a:off x="6583680" y="4361688"/>
            <a:ext cx="118872" cy="118872"/>
          </a:xfrm>
          <a:prstGeom prst="rect">
            <a:avLst/>
          </a:prstGeom>
          <a:solidFill>
            <a:srgbClr val="8A9A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85432" y="4242816"/>
            <a:ext cx="4572000" cy="365760"/>
          </a:xfrm>
          <a:prstGeom prst="rect">
            <a:avLst/>
          </a:prstGeom>
          <a:noFill/>
        </p:spPr>
        <p:txBody>
          <a:bodyPr wrap="square" anchor="t">
            <a:spAutoFit/>
          </a:bodyPr>
          <a:lstStyle/>
          <a:p>
            <a:pPr algn="l">
              <a:spcAft>
                <a:spcPts val="600"/>
              </a:spcAft>
            </a:pPr>
            <a:r>
              <a:rPr sz="1350" b="0" i="0">
                <a:solidFill>
                  <a:srgbClr val="22303C"/>
                </a:solidFill>
                <a:latin typeface="Calibri"/>
              </a:rPr>
              <a:t>Veterinario preferencial del tutor</a:t>
            </a:r>
          </a:p>
        </p:txBody>
      </p:sp>
      <p:sp>
        <p:nvSpPr>
          <p:cNvPr id="33" name="TextBox 32"/>
          <p:cNvSpPr txBox="1"/>
          <p:nvPr/>
        </p:nvSpPr>
        <p:spPr>
          <a:xfrm>
            <a:off x="6885432" y="4535424"/>
            <a:ext cx="4572000" cy="320040"/>
          </a:xfrm>
          <a:prstGeom prst="rect">
            <a:avLst/>
          </a:prstGeom>
          <a:noFill/>
        </p:spPr>
        <p:txBody>
          <a:bodyPr wrap="square" anchor="t">
            <a:spAutoFit/>
          </a:bodyPr>
          <a:lstStyle/>
          <a:p>
            <a:pPr algn="l">
              <a:spcAft>
                <a:spcPts val="600"/>
              </a:spcAft>
            </a:pPr>
            <a:r>
              <a:rPr sz="1050" b="0" i="1">
                <a:solidFill>
                  <a:srgbClr val="8A9AA8"/>
                </a:solidFill>
                <a:latin typeface="Calibri"/>
              </a:rPr>
              <a:t>Mejora deseable</a:t>
            </a:r>
          </a:p>
        </p:txBody>
      </p:sp>
      <p:sp>
        <p:nvSpPr>
          <p:cNvPr id="34" name="Rectangle 33"/>
          <p:cNvSpPr/>
          <p:nvPr/>
        </p:nvSpPr>
        <p:spPr>
          <a:xfrm>
            <a:off x="6583680" y="5111496"/>
            <a:ext cx="118872" cy="118872"/>
          </a:xfrm>
          <a:prstGeom prst="rect">
            <a:avLst/>
          </a:prstGeom>
          <a:solidFill>
            <a:srgbClr val="8A9A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85432" y="4992624"/>
            <a:ext cx="4572000" cy="365760"/>
          </a:xfrm>
          <a:prstGeom prst="rect">
            <a:avLst/>
          </a:prstGeom>
          <a:noFill/>
        </p:spPr>
        <p:txBody>
          <a:bodyPr wrap="square" anchor="t">
            <a:spAutoFit/>
          </a:bodyPr>
          <a:lstStyle/>
          <a:p>
            <a:pPr algn="l">
              <a:spcAft>
                <a:spcPts val="600"/>
              </a:spcAft>
            </a:pPr>
            <a:r>
              <a:rPr sz="1350" b="0" i="0">
                <a:solidFill>
                  <a:srgbClr val="22303C"/>
                </a:solidFill>
                <a:latin typeface="Calibri"/>
              </a:rPr>
              <a:t>Módulo de exámenes y laboratorios</a:t>
            </a:r>
          </a:p>
        </p:txBody>
      </p:sp>
      <p:sp>
        <p:nvSpPr>
          <p:cNvPr id="36" name="TextBox 35"/>
          <p:cNvSpPr txBox="1"/>
          <p:nvPr/>
        </p:nvSpPr>
        <p:spPr>
          <a:xfrm>
            <a:off x="6885432" y="5285232"/>
            <a:ext cx="4572000" cy="320040"/>
          </a:xfrm>
          <a:prstGeom prst="rect">
            <a:avLst/>
          </a:prstGeom>
          <a:noFill/>
        </p:spPr>
        <p:txBody>
          <a:bodyPr wrap="square" anchor="t">
            <a:spAutoFit/>
          </a:bodyPr>
          <a:lstStyle/>
          <a:p>
            <a:pPr algn="l">
              <a:spcAft>
                <a:spcPts val="600"/>
              </a:spcAft>
            </a:pPr>
            <a:r>
              <a:rPr sz="1050" b="0" i="1">
                <a:solidFill>
                  <a:srgbClr val="8A9AA8"/>
                </a:solidFill>
                <a:latin typeface="Calibri"/>
              </a:rPr>
              <a:t>Mejora deseable</a:t>
            </a:r>
          </a:p>
        </p:txBody>
      </p:sp>
      <p:sp>
        <p:nvSpPr>
          <p:cNvPr id="37" name="Rectangle 36"/>
          <p:cNvSpPr/>
          <p:nvPr/>
        </p:nvSpPr>
        <p:spPr>
          <a:xfrm>
            <a:off x="548640" y="6035040"/>
            <a:ext cx="11100816" cy="56692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6144768"/>
            <a:ext cx="10424160" cy="384048"/>
          </a:xfrm>
          <a:prstGeom prst="rect">
            <a:avLst/>
          </a:prstGeom>
          <a:noFill/>
        </p:spPr>
        <p:txBody>
          <a:bodyPr wrap="square" anchor="t">
            <a:spAutoFit/>
          </a:bodyPr>
          <a:lstStyle/>
          <a:p>
            <a:pPr algn="l">
              <a:spcAft>
                <a:spcPts val="600"/>
              </a:spcAft>
            </a:pPr>
            <a:r>
              <a:rPr sz="1400" b="1" i="0">
                <a:solidFill>
                  <a:srgbClr val="FFFFFF"/>
                </a:solidFill>
                <a:latin typeface="Calibri"/>
              </a:rPr>
              <a:t>Preferimos comprometer poco y cumplirlo, que prometer mucho y quedar debiendo.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0241280" cy="640080"/>
          </a:xfrm>
          <a:prstGeom prst="rect">
            <a:avLst/>
          </a:prstGeom>
          <a:noFill/>
        </p:spPr>
        <p:txBody>
          <a:bodyPr wrap="square" anchor="t">
            <a:spAutoFit/>
          </a:bodyPr>
          <a:lstStyle/>
          <a:p>
            <a:pPr algn="l">
              <a:spcAft>
                <a:spcPts val="600"/>
              </a:spcAft>
            </a:pPr>
            <a:r>
              <a:rPr sz="2700" b="1" i="0">
                <a:solidFill>
                  <a:srgbClr val="FFFFFF"/>
                </a:solidFill>
                <a:latin typeface="Calibri"/>
              </a:rPr>
              <a:t>Mock-up · Aplicación del tutor</a:t>
            </a:r>
          </a:p>
        </p:txBody>
      </p:sp>
      <p:sp>
        <p:nvSpPr>
          <p:cNvPr id="5" name="TextBox 4"/>
          <p:cNvSpPr txBox="1"/>
          <p:nvPr/>
        </p:nvSpPr>
        <p:spPr>
          <a:xfrm>
            <a:off x="11247120" y="347472"/>
            <a:ext cx="640080" cy="457200"/>
          </a:xfrm>
          <a:prstGeom prst="rect">
            <a:avLst/>
          </a:prstGeom>
          <a:noFill/>
        </p:spPr>
        <p:txBody>
          <a:bodyPr wrap="square" anchor="t">
            <a:spAutoFit/>
          </a:bodyPr>
          <a:lstStyle/>
          <a:p>
            <a:pPr algn="r">
              <a:spcAft>
                <a:spcPts val="600"/>
              </a:spcAft>
            </a:pPr>
            <a:r>
              <a:rPr sz="1400" b="0" i="0">
                <a:solidFill>
                  <a:srgbClr val="8FA8C4"/>
                </a:solidFill>
                <a:latin typeface="Calibri"/>
              </a:rPr>
              <a:t>9</a:t>
            </a:r>
          </a:p>
        </p:txBody>
      </p:sp>
      <p:sp>
        <p:nvSpPr>
          <p:cNvPr id="6" name="TextBox 5"/>
          <p:cNvSpPr txBox="1"/>
          <p:nvPr/>
        </p:nvSpPr>
        <p:spPr>
          <a:xfrm>
            <a:off x="548640" y="1325880"/>
            <a:ext cx="11064240" cy="457200"/>
          </a:xfrm>
          <a:prstGeom prst="rect">
            <a:avLst/>
          </a:prstGeom>
          <a:noFill/>
        </p:spPr>
        <p:txBody>
          <a:bodyPr wrap="square" anchor="t">
            <a:spAutoFit/>
          </a:bodyPr>
          <a:lstStyle/>
          <a:p>
            <a:pPr algn="l">
              <a:spcAft>
                <a:spcPts val="600"/>
              </a:spcAft>
            </a:pPr>
            <a:r>
              <a:rPr sz="1500" b="0" i="1">
                <a:solidFill>
                  <a:srgbClr val="2E5C8A"/>
                </a:solidFill>
                <a:latin typeface="Calibri"/>
              </a:rPr>
              <a:t>Prototipo navegable de la interfaz del cliente</a:t>
            </a:r>
          </a:p>
        </p:txBody>
      </p:sp>
      <p:sp>
        <p:nvSpPr>
          <p:cNvPr id="7" name="Rounded Rectangle 6"/>
          <p:cNvSpPr/>
          <p:nvPr/>
        </p:nvSpPr>
        <p:spPr>
          <a:xfrm>
            <a:off x="1051560" y="1828800"/>
            <a:ext cx="2148840" cy="4069080"/>
          </a:xfrm>
          <a:prstGeom prst="roundRect">
            <a:avLst/>
          </a:prstGeom>
          <a:solidFill>
            <a:srgbClr val="2B2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33856" y="1975104"/>
            <a:ext cx="1984248" cy="3776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33856" y="1975104"/>
            <a:ext cx="1984248" cy="47548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34439" y="2066543"/>
            <a:ext cx="1783080" cy="310896"/>
          </a:xfrm>
          <a:prstGeom prst="rect">
            <a:avLst/>
          </a:prstGeom>
          <a:noFill/>
        </p:spPr>
        <p:txBody>
          <a:bodyPr wrap="square" anchor="t">
            <a:spAutoFit/>
          </a:bodyPr>
          <a:lstStyle/>
          <a:p>
            <a:pPr algn="l">
              <a:spcAft>
                <a:spcPts val="600"/>
              </a:spcAft>
            </a:pPr>
            <a:r>
              <a:rPr sz="1050" b="1" i="0">
                <a:solidFill>
                  <a:srgbClr val="FFFFFF"/>
                </a:solidFill>
                <a:latin typeface="Calibri"/>
              </a:rPr>
              <a:t>Agendar hora</a:t>
            </a:r>
          </a:p>
        </p:txBody>
      </p:sp>
      <p:sp>
        <p:nvSpPr>
          <p:cNvPr id="11" name="Rectangle 10"/>
          <p:cNvSpPr/>
          <p:nvPr/>
        </p:nvSpPr>
        <p:spPr>
          <a:xfrm>
            <a:off x="1234439" y="2578608"/>
            <a:ext cx="1783080" cy="530352"/>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34439" y="2578608"/>
            <a:ext cx="54864" cy="530352"/>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62456" y="2624327"/>
            <a:ext cx="1600200" cy="237744"/>
          </a:xfrm>
          <a:prstGeom prst="rect">
            <a:avLst/>
          </a:prstGeom>
          <a:noFill/>
        </p:spPr>
        <p:txBody>
          <a:bodyPr wrap="square" anchor="t">
            <a:spAutoFit/>
          </a:bodyPr>
          <a:lstStyle/>
          <a:p>
            <a:pPr algn="l">
              <a:spcAft>
                <a:spcPts val="600"/>
              </a:spcAft>
            </a:pPr>
            <a:r>
              <a:rPr sz="900" b="1" i="0">
                <a:solidFill>
                  <a:srgbClr val="1F3A5F"/>
                </a:solidFill>
                <a:latin typeface="Calibri"/>
              </a:rPr>
              <a:t>Clínica Clan</a:t>
            </a:r>
          </a:p>
        </p:txBody>
      </p:sp>
      <p:sp>
        <p:nvSpPr>
          <p:cNvPr id="14" name="TextBox 13"/>
          <p:cNvSpPr txBox="1"/>
          <p:nvPr/>
        </p:nvSpPr>
        <p:spPr>
          <a:xfrm>
            <a:off x="1362456" y="2834639"/>
            <a:ext cx="1600200" cy="237744"/>
          </a:xfrm>
          <a:prstGeom prst="rect">
            <a:avLst/>
          </a:prstGeom>
          <a:noFill/>
        </p:spPr>
        <p:txBody>
          <a:bodyPr wrap="square" anchor="t">
            <a:spAutoFit/>
          </a:bodyPr>
          <a:lstStyle/>
          <a:p>
            <a:pPr algn="l">
              <a:spcAft>
                <a:spcPts val="600"/>
              </a:spcAft>
            </a:pPr>
            <a:r>
              <a:rPr sz="750" b="0" i="0">
                <a:solidFill>
                  <a:srgbClr val="8A9AA8"/>
                </a:solidFill>
                <a:latin typeface="Calibri"/>
              </a:rPr>
              <a:t>Lo Pinto · Abierto hoy</a:t>
            </a:r>
          </a:p>
        </p:txBody>
      </p:sp>
      <p:sp>
        <p:nvSpPr>
          <p:cNvPr id="15" name="Rectangle 14"/>
          <p:cNvSpPr/>
          <p:nvPr/>
        </p:nvSpPr>
        <p:spPr>
          <a:xfrm>
            <a:off x="1234439" y="3200400"/>
            <a:ext cx="1783080" cy="530352"/>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62456" y="3246120"/>
            <a:ext cx="1600200" cy="237744"/>
          </a:xfrm>
          <a:prstGeom prst="rect">
            <a:avLst/>
          </a:prstGeom>
          <a:noFill/>
        </p:spPr>
        <p:txBody>
          <a:bodyPr wrap="square" anchor="t">
            <a:spAutoFit/>
          </a:bodyPr>
          <a:lstStyle/>
          <a:p>
            <a:pPr algn="l">
              <a:spcAft>
                <a:spcPts val="600"/>
              </a:spcAft>
            </a:pPr>
            <a:r>
              <a:rPr sz="900" b="1" i="0">
                <a:solidFill>
                  <a:srgbClr val="1F3A5F"/>
                </a:solidFill>
                <a:latin typeface="Calibri"/>
              </a:rPr>
              <a:t>Tipo de atención</a:t>
            </a:r>
          </a:p>
        </p:txBody>
      </p:sp>
      <p:sp>
        <p:nvSpPr>
          <p:cNvPr id="17" name="TextBox 16"/>
          <p:cNvSpPr txBox="1"/>
          <p:nvPr/>
        </p:nvSpPr>
        <p:spPr>
          <a:xfrm>
            <a:off x="1362456" y="3456432"/>
            <a:ext cx="1600200" cy="237744"/>
          </a:xfrm>
          <a:prstGeom prst="rect">
            <a:avLst/>
          </a:prstGeom>
          <a:noFill/>
        </p:spPr>
        <p:txBody>
          <a:bodyPr wrap="square" anchor="t">
            <a:spAutoFit/>
          </a:bodyPr>
          <a:lstStyle/>
          <a:p>
            <a:pPr algn="l">
              <a:spcAft>
                <a:spcPts val="600"/>
              </a:spcAft>
            </a:pPr>
            <a:r>
              <a:rPr sz="750" b="0" i="0">
                <a:solidFill>
                  <a:srgbClr val="8A9AA8"/>
                </a:solidFill>
                <a:latin typeface="Calibri"/>
              </a:rPr>
              <a:t>Consulta general</a:t>
            </a:r>
          </a:p>
        </p:txBody>
      </p:sp>
      <p:sp>
        <p:nvSpPr>
          <p:cNvPr id="18" name="Rectangle 17"/>
          <p:cNvSpPr/>
          <p:nvPr/>
        </p:nvSpPr>
        <p:spPr>
          <a:xfrm>
            <a:off x="1234439" y="3822191"/>
            <a:ext cx="1783080" cy="530352"/>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62456" y="3867911"/>
            <a:ext cx="1600200" cy="237744"/>
          </a:xfrm>
          <a:prstGeom prst="rect">
            <a:avLst/>
          </a:prstGeom>
          <a:noFill/>
        </p:spPr>
        <p:txBody>
          <a:bodyPr wrap="square" anchor="t">
            <a:spAutoFit/>
          </a:bodyPr>
          <a:lstStyle/>
          <a:p>
            <a:pPr algn="l">
              <a:spcAft>
                <a:spcPts val="600"/>
              </a:spcAft>
            </a:pPr>
            <a:r>
              <a:rPr sz="900" b="1" i="0">
                <a:solidFill>
                  <a:srgbClr val="1F3A5F"/>
                </a:solidFill>
                <a:latin typeface="Calibri"/>
              </a:rPr>
              <a:t>Mascota</a:t>
            </a:r>
          </a:p>
        </p:txBody>
      </p:sp>
      <p:sp>
        <p:nvSpPr>
          <p:cNvPr id="20" name="TextBox 19"/>
          <p:cNvSpPr txBox="1"/>
          <p:nvPr/>
        </p:nvSpPr>
        <p:spPr>
          <a:xfrm>
            <a:off x="1362456" y="4078224"/>
            <a:ext cx="1600200" cy="237744"/>
          </a:xfrm>
          <a:prstGeom prst="rect">
            <a:avLst/>
          </a:prstGeom>
          <a:noFill/>
        </p:spPr>
        <p:txBody>
          <a:bodyPr wrap="square" anchor="t">
            <a:spAutoFit/>
          </a:bodyPr>
          <a:lstStyle/>
          <a:p>
            <a:pPr algn="l">
              <a:spcAft>
                <a:spcPts val="600"/>
              </a:spcAft>
            </a:pPr>
            <a:r>
              <a:rPr sz="750" b="0" i="0">
                <a:solidFill>
                  <a:srgbClr val="8A9AA8"/>
                </a:solidFill>
                <a:latin typeface="Calibri"/>
              </a:rPr>
              <a:t>Michi · Felino, 4 años</a:t>
            </a:r>
          </a:p>
        </p:txBody>
      </p:sp>
      <p:sp>
        <p:nvSpPr>
          <p:cNvPr id="21" name="Rectangle 20"/>
          <p:cNvSpPr/>
          <p:nvPr/>
        </p:nvSpPr>
        <p:spPr>
          <a:xfrm>
            <a:off x="1234439" y="4443983"/>
            <a:ext cx="1783080" cy="530352"/>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62456" y="4489703"/>
            <a:ext cx="1600200" cy="237744"/>
          </a:xfrm>
          <a:prstGeom prst="rect">
            <a:avLst/>
          </a:prstGeom>
          <a:noFill/>
        </p:spPr>
        <p:txBody>
          <a:bodyPr wrap="square" anchor="t">
            <a:spAutoFit/>
          </a:bodyPr>
          <a:lstStyle/>
          <a:p>
            <a:pPr algn="l">
              <a:spcAft>
                <a:spcPts val="600"/>
              </a:spcAft>
            </a:pPr>
            <a:r>
              <a:rPr sz="900" b="1" i="0">
                <a:solidFill>
                  <a:srgbClr val="1F3A5F"/>
                </a:solidFill>
                <a:latin typeface="Calibri"/>
              </a:rPr>
              <a:t>Fecha</a:t>
            </a:r>
          </a:p>
        </p:txBody>
      </p:sp>
      <p:sp>
        <p:nvSpPr>
          <p:cNvPr id="23" name="TextBox 22"/>
          <p:cNvSpPr txBox="1"/>
          <p:nvPr/>
        </p:nvSpPr>
        <p:spPr>
          <a:xfrm>
            <a:off x="1362456" y="4700016"/>
            <a:ext cx="1600200" cy="237744"/>
          </a:xfrm>
          <a:prstGeom prst="rect">
            <a:avLst/>
          </a:prstGeom>
          <a:noFill/>
        </p:spPr>
        <p:txBody>
          <a:bodyPr wrap="square" anchor="t">
            <a:spAutoFit/>
          </a:bodyPr>
          <a:lstStyle/>
          <a:p>
            <a:pPr algn="l">
              <a:spcAft>
                <a:spcPts val="600"/>
              </a:spcAft>
            </a:pPr>
            <a:r>
              <a:rPr sz="750" b="0" i="0">
                <a:solidFill>
                  <a:srgbClr val="8A9AA8"/>
                </a:solidFill>
                <a:latin typeface="Calibri"/>
              </a:rPr>
              <a:t>Lun 25 de agosto</a:t>
            </a:r>
          </a:p>
        </p:txBody>
      </p:sp>
      <p:sp>
        <p:nvSpPr>
          <p:cNvPr id="24" name="Rectangle 23"/>
          <p:cNvSpPr/>
          <p:nvPr/>
        </p:nvSpPr>
        <p:spPr>
          <a:xfrm>
            <a:off x="1234439" y="5065775"/>
            <a:ext cx="1783080" cy="530352"/>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234439" y="5065775"/>
            <a:ext cx="54864" cy="530352"/>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62456" y="5111495"/>
            <a:ext cx="1600200" cy="237744"/>
          </a:xfrm>
          <a:prstGeom prst="rect">
            <a:avLst/>
          </a:prstGeom>
          <a:noFill/>
        </p:spPr>
        <p:txBody>
          <a:bodyPr wrap="square" anchor="t">
            <a:spAutoFit/>
          </a:bodyPr>
          <a:lstStyle/>
          <a:p>
            <a:pPr algn="l">
              <a:spcAft>
                <a:spcPts val="600"/>
              </a:spcAft>
            </a:pPr>
            <a:r>
              <a:rPr sz="900" b="1" i="0">
                <a:solidFill>
                  <a:srgbClr val="1F3A5F"/>
                </a:solidFill>
                <a:latin typeface="Calibri"/>
              </a:rPr>
              <a:t>Continuar  →</a:t>
            </a:r>
          </a:p>
        </p:txBody>
      </p:sp>
      <p:sp>
        <p:nvSpPr>
          <p:cNvPr id="27" name="TextBox 26"/>
          <p:cNvSpPr txBox="1"/>
          <p:nvPr/>
        </p:nvSpPr>
        <p:spPr>
          <a:xfrm>
            <a:off x="1362456" y="5321807"/>
            <a:ext cx="1600200" cy="237744"/>
          </a:xfrm>
          <a:prstGeom prst="rect">
            <a:avLst/>
          </a:prstGeom>
          <a:noFill/>
        </p:spPr>
        <p:txBody>
          <a:bodyPr wrap="square" anchor="t">
            <a:spAutoFit/>
          </a:bodyPr>
          <a:lstStyle/>
          <a:p>
            <a:pPr algn="l">
              <a:spcAft>
                <a:spcPts val="600"/>
              </a:spcAft>
            </a:pPr>
            <a:r>
              <a:rPr sz="750" b="0" i="0">
                <a:solidFill>
                  <a:srgbClr val="8A9AA8"/>
                </a:solidFill>
                <a:latin typeface="Calibri"/>
              </a:rPr>
              <a:t/>
            </a:r>
          </a:p>
        </p:txBody>
      </p:sp>
      <p:sp>
        <p:nvSpPr>
          <p:cNvPr id="28" name="Rounded Rectangle 27"/>
          <p:cNvSpPr/>
          <p:nvPr/>
        </p:nvSpPr>
        <p:spPr>
          <a:xfrm>
            <a:off x="3703320" y="1828800"/>
            <a:ext cx="2148840" cy="4069080"/>
          </a:xfrm>
          <a:prstGeom prst="roundRect">
            <a:avLst/>
          </a:prstGeom>
          <a:solidFill>
            <a:srgbClr val="2B2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785615" y="1975104"/>
            <a:ext cx="1984248" cy="3776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785615" y="1975104"/>
            <a:ext cx="1984248" cy="47548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886200" y="2066543"/>
            <a:ext cx="1783080" cy="310896"/>
          </a:xfrm>
          <a:prstGeom prst="rect">
            <a:avLst/>
          </a:prstGeom>
          <a:noFill/>
        </p:spPr>
        <p:txBody>
          <a:bodyPr wrap="square" anchor="t">
            <a:spAutoFit/>
          </a:bodyPr>
          <a:lstStyle/>
          <a:p>
            <a:pPr algn="l">
              <a:spcAft>
                <a:spcPts val="600"/>
              </a:spcAft>
            </a:pPr>
            <a:r>
              <a:rPr sz="1050" b="1" i="0">
                <a:solidFill>
                  <a:srgbClr val="FFFFFF"/>
                </a:solidFill>
                <a:latin typeface="Calibri"/>
              </a:rPr>
              <a:t>Elegir profesional</a:t>
            </a:r>
          </a:p>
        </p:txBody>
      </p:sp>
      <p:sp>
        <p:nvSpPr>
          <p:cNvPr id="32" name="Rectangle 31"/>
          <p:cNvSpPr/>
          <p:nvPr/>
        </p:nvSpPr>
        <p:spPr>
          <a:xfrm>
            <a:off x="3886200" y="2578608"/>
            <a:ext cx="1783080" cy="530352"/>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886200" y="2578608"/>
            <a:ext cx="54864" cy="530352"/>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014215" y="2624327"/>
            <a:ext cx="1600200" cy="237744"/>
          </a:xfrm>
          <a:prstGeom prst="rect">
            <a:avLst/>
          </a:prstGeom>
          <a:noFill/>
        </p:spPr>
        <p:txBody>
          <a:bodyPr wrap="square" anchor="t">
            <a:spAutoFit/>
          </a:bodyPr>
          <a:lstStyle/>
          <a:p>
            <a:pPr algn="l">
              <a:spcAft>
                <a:spcPts val="600"/>
              </a:spcAft>
            </a:pPr>
            <a:r>
              <a:rPr sz="900" b="1" i="0">
                <a:solidFill>
                  <a:srgbClr val="1F3A5F"/>
                </a:solidFill>
                <a:latin typeface="Calibri"/>
              </a:rPr>
              <a:t>Dra. Paz Herrera</a:t>
            </a:r>
          </a:p>
        </p:txBody>
      </p:sp>
      <p:sp>
        <p:nvSpPr>
          <p:cNvPr id="35" name="TextBox 34"/>
          <p:cNvSpPr txBox="1"/>
          <p:nvPr/>
        </p:nvSpPr>
        <p:spPr>
          <a:xfrm>
            <a:off x="4014215" y="2834639"/>
            <a:ext cx="1600200" cy="237744"/>
          </a:xfrm>
          <a:prstGeom prst="rect">
            <a:avLst/>
          </a:prstGeom>
          <a:noFill/>
        </p:spPr>
        <p:txBody>
          <a:bodyPr wrap="square" anchor="t">
            <a:spAutoFit/>
          </a:bodyPr>
          <a:lstStyle/>
          <a:p>
            <a:pPr algn="l">
              <a:spcAft>
                <a:spcPts val="600"/>
              </a:spcAft>
            </a:pPr>
            <a:r>
              <a:rPr sz="750" b="0" i="0">
                <a:solidFill>
                  <a:srgbClr val="8A9AA8"/>
                </a:solidFill>
                <a:latin typeface="Calibri"/>
              </a:rPr>
              <a:t>Medicina general · 11:30</a:t>
            </a:r>
          </a:p>
        </p:txBody>
      </p:sp>
      <p:sp>
        <p:nvSpPr>
          <p:cNvPr id="36" name="Rectangle 35"/>
          <p:cNvSpPr/>
          <p:nvPr/>
        </p:nvSpPr>
        <p:spPr>
          <a:xfrm>
            <a:off x="3886200" y="3200400"/>
            <a:ext cx="1783080" cy="530352"/>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886200" y="3200400"/>
            <a:ext cx="54864" cy="530352"/>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014215" y="3246120"/>
            <a:ext cx="1600200" cy="237744"/>
          </a:xfrm>
          <a:prstGeom prst="rect">
            <a:avLst/>
          </a:prstGeom>
          <a:noFill/>
        </p:spPr>
        <p:txBody>
          <a:bodyPr wrap="square" anchor="t">
            <a:spAutoFit/>
          </a:bodyPr>
          <a:lstStyle/>
          <a:p>
            <a:pPr algn="l">
              <a:spcAft>
                <a:spcPts val="600"/>
              </a:spcAft>
            </a:pPr>
            <a:r>
              <a:rPr sz="900" b="1" i="0">
                <a:solidFill>
                  <a:srgbClr val="1F3A5F"/>
                </a:solidFill>
                <a:latin typeface="Calibri"/>
              </a:rPr>
              <a:t>Dr. Luis Contreras</a:t>
            </a:r>
          </a:p>
        </p:txBody>
      </p:sp>
      <p:sp>
        <p:nvSpPr>
          <p:cNvPr id="39" name="TextBox 38"/>
          <p:cNvSpPr txBox="1"/>
          <p:nvPr/>
        </p:nvSpPr>
        <p:spPr>
          <a:xfrm>
            <a:off x="4014215" y="3456432"/>
            <a:ext cx="1600200" cy="237744"/>
          </a:xfrm>
          <a:prstGeom prst="rect">
            <a:avLst/>
          </a:prstGeom>
          <a:noFill/>
        </p:spPr>
        <p:txBody>
          <a:bodyPr wrap="square" anchor="t">
            <a:spAutoFit/>
          </a:bodyPr>
          <a:lstStyle/>
          <a:p>
            <a:pPr algn="l">
              <a:spcAft>
                <a:spcPts val="600"/>
              </a:spcAft>
            </a:pPr>
            <a:r>
              <a:rPr sz="750" b="0" i="0">
                <a:solidFill>
                  <a:srgbClr val="8A9AA8"/>
                </a:solidFill>
                <a:latin typeface="Calibri"/>
              </a:rPr>
              <a:t>Cirugía · 12:00</a:t>
            </a:r>
          </a:p>
        </p:txBody>
      </p:sp>
      <p:sp>
        <p:nvSpPr>
          <p:cNvPr id="40" name="Rectangle 39"/>
          <p:cNvSpPr/>
          <p:nvPr/>
        </p:nvSpPr>
        <p:spPr>
          <a:xfrm>
            <a:off x="3886200" y="3822191"/>
            <a:ext cx="1783080" cy="530352"/>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886200" y="3822191"/>
            <a:ext cx="54864" cy="530352"/>
          </a:xfrm>
          <a:prstGeom prst="rect">
            <a:avLst/>
          </a:prstGeom>
          <a:solidFill>
            <a:srgbClr val="8A9A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014215" y="3867911"/>
            <a:ext cx="1600200" cy="237744"/>
          </a:xfrm>
          <a:prstGeom prst="rect">
            <a:avLst/>
          </a:prstGeom>
          <a:noFill/>
        </p:spPr>
        <p:txBody>
          <a:bodyPr wrap="square" anchor="t">
            <a:spAutoFit/>
          </a:bodyPr>
          <a:lstStyle/>
          <a:p>
            <a:pPr algn="l">
              <a:spcAft>
                <a:spcPts val="600"/>
              </a:spcAft>
            </a:pPr>
            <a:r>
              <a:rPr sz="900" b="1" i="0">
                <a:solidFill>
                  <a:srgbClr val="1F3A5F"/>
                </a:solidFill>
                <a:latin typeface="Calibri"/>
              </a:rPr>
              <a:t>Dra. Ana Rojas</a:t>
            </a:r>
          </a:p>
        </p:txBody>
      </p:sp>
      <p:sp>
        <p:nvSpPr>
          <p:cNvPr id="43" name="TextBox 42"/>
          <p:cNvSpPr txBox="1"/>
          <p:nvPr/>
        </p:nvSpPr>
        <p:spPr>
          <a:xfrm>
            <a:off x="4014215" y="4078224"/>
            <a:ext cx="1600200" cy="237744"/>
          </a:xfrm>
          <a:prstGeom prst="rect">
            <a:avLst/>
          </a:prstGeom>
          <a:noFill/>
        </p:spPr>
        <p:txBody>
          <a:bodyPr wrap="square" anchor="t">
            <a:spAutoFit/>
          </a:bodyPr>
          <a:lstStyle/>
          <a:p>
            <a:pPr algn="l">
              <a:spcAft>
                <a:spcPts val="600"/>
              </a:spcAft>
            </a:pPr>
            <a:r>
              <a:rPr sz="750" b="0" i="0">
                <a:solidFill>
                  <a:srgbClr val="8A9AA8"/>
                </a:solidFill>
                <a:latin typeface="Calibri"/>
              </a:rPr>
              <a:t>Sin cupo hoy</a:t>
            </a:r>
          </a:p>
        </p:txBody>
      </p:sp>
      <p:sp>
        <p:nvSpPr>
          <p:cNvPr id="44" name="Rectangle 43"/>
          <p:cNvSpPr/>
          <p:nvPr/>
        </p:nvSpPr>
        <p:spPr>
          <a:xfrm>
            <a:off x="3886200" y="4443983"/>
            <a:ext cx="1783080" cy="530352"/>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014215" y="4489703"/>
            <a:ext cx="1600200" cy="237744"/>
          </a:xfrm>
          <a:prstGeom prst="rect">
            <a:avLst/>
          </a:prstGeom>
          <a:noFill/>
        </p:spPr>
        <p:txBody>
          <a:bodyPr wrap="square" anchor="t">
            <a:spAutoFit/>
          </a:bodyPr>
          <a:lstStyle/>
          <a:p>
            <a:pPr algn="l">
              <a:spcAft>
                <a:spcPts val="600"/>
              </a:spcAft>
            </a:pPr>
            <a:r>
              <a:rPr sz="900" b="1" i="0">
                <a:solidFill>
                  <a:srgbClr val="1F3A5F"/>
                </a:solidFill>
                <a:latin typeface="Calibri"/>
              </a:rPr>
              <a:t>Ver más horarios</a:t>
            </a:r>
          </a:p>
        </p:txBody>
      </p:sp>
      <p:sp>
        <p:nvSpPr>
          <p:cNvPr id="46" name="TextBox 45"/>
          <p:cNvSpPr txBox="1"/>
          <p:nvPr/>
        </p:nvSpPr>
        <p:spPr>
          <a:xfrm>
            <a:off x="4014215" y="4700016"/>
            <a:ext cx="1600200" cy="237744"/>
          </a:xfrm>
          <a:prstGeom prst="rect">
            <a:avLst/>
          </a:prstGeom>
          <a:noFill/>
        </p:spPr>
        <p:txBody>
          <a:bodyPr wrap="square" anchor="t">
            <a:spAutoFit/>
          </a:bodyPr>
          <a:lstStyle/>
          <a:p>
            <a:pPr algn="l">
              <a:spcAft>
                <a:spcPts val="600"/>
              </a:spcAft>
            </a:pPr>
            <a:r>
              <a:rPr sz="750" b="0" i="0">
                <a:solidFill>
                  <a:srgbClr val="8A9AA8"/>
                </a:solidFill>
                <a:latin typeface="Calibri"/>
              </a:rPr>
              <a:t/>
            </a:r>
          </a:p>
        </p:txBody>
      </p:sp>
      <p:sp>
        <p:nvSpPr>
          <p:cNvPr id="47" name="Rectangle 46"/>
          <p:cNvSpPr/>
          <p:nvPr/>
        </p:nvSpPr>
        <p:spPr>
          <a:xfrm>
            <a:off x="3886200" y="5065775"/>
            <a:ext cx="1783080" cy="530352"/>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886200" y="5065775"/>
            <a:ext cx="54864" cy="530352"/>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014215" y="5111495"/>
            <a:ext cx="1600200" cy="237744"/>
          </a:xfrm>
          <a:prstGeom prst="rect">
            <a:avLst/>
          </a:prstGeom>
          <a:noFill/>
        </p:spPr>
        <p:txBody>
          <a:bodyPr wrap="square" anchor="t">
            <a:spAutoFit/>
          </a:bodyPr>
          <a:lstStyle/>
          <a:p>
            <a:pPr algn="l">
              <a:spcAft>
                <a:spcPts val="600"/>
              </a:spcAft>
            </a:pPr>
            <a:r>
              <a:rPr sz="900" b="1" i="0">
                <a:solidFill>
                  <a:srgbClr val="1F3A5F"/>
                </a:solidFill>
                <a:latin typeface="Calibri"/>
              </a:rPr>
              <a:t>Confirmar hora  →</a:t>
            </a:r>
          </a:p>
        </p:txBody>
      </p:sp>
      <p:sp>
        <p:nvSpPr>
          <p:cNvPr id="50" name="TextBox 49"/>
          <p:cNvSpPr txBox="1"/>
          <p:nvPr/>
        </p:nvSpPr>
        <p:spPr>
          <a:xfrm>
            <a:off x="4014215" y="5321807"/>
            <a:ext cx="1600200" cy="237744"/>
          </a:xfrm>
          <a:prstGeom prst="rect">
            <a:avLst/>
          </a:prstGeom>
          <a:noFill/>
        </p:spPr>
        <p:txBody>
          <a:bodyPr wrap="square" anchor="t">
            <a:spAutoFit/>
          </a:bodyPr>
          <a:lstStyle/>
          <a:p>
            <a:pPr algn="l">
              <a:spcAft>
                <a:spcPts val="600"/>
              </a:spcAft>
            </a:pPr>
            <a:r>
              <a:rPr sz="750" b="0" i="0">
                <a:solidFill>
                  <a:srgbClr val="8A9AA8"/>
                </a:solidFill>
                <a:latin typeface="Calibri"/>
              </a:rPr>
              <a:t/>
            </a:r>
          </a:p>
        </p:txBody>
      </p:sp>
      <p:sp>
        <p:nvSpPr>
          <p:cNvPr id="51" name="Rounded Rectangle 50"/>
          <p:cNvSpPr/>
          <p:nvPr/>
        </p:nvSpPr>
        <p:spPr>
          <a:xfrm>
            <a:off x="6355080" y="1828800"/>
            <a:ext cx="2148840" cy="4069080"/>
          </a:xfrm>
          <a:prstGeom prst="roundRect">
            <a:avLst/>
          </a:prstGeom>
          <a:solidFill>
            <a:srgbClr val="2B2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437376" y="1975104"/>
            <a:ext cx="1984248" cy="37764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437376" y="1975104"/>
            <a:ext cx="1984248" cy="47548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537960" y="2066543"/>
            <a:ext cx="1783080" cy="310896"/>
          </a:xfrm>
          <a:prstGeom prst="rect">
            <a:avLst/>
          </a:prstGeom>
          <a:noFill/>
        </p:spPr>
        <p:txBody>
          <a:bodyPr wrap="square" anchor="t">
            <a:spAutoFit/>
          </a:bodyPr>
          <a:lstStyle/>
          <a:p>
            <a:pPr algn="l">
              <a:spcAft>
                <a:spcPts val="600"/>
              </a:spcAft>
            </a:pPr>
            <a:r>
              <a:rPr sz="1050" b="1" i="0">
                <a:solidFill>
                  <a:srgbClr val="FFFFFF"/>
                </a:solidFill>
                <a:latin typeface="Calibri"/>
              </a:rPr>
              <a:t>Mis horas</a:t>
            </a:r>
          </a:p>
        </p:txBody>
      </p:sp>
      <p:sp>
        <p:nvSpPr>
          <p:cNvPr id="55" name="Rectangle 54"/>
          <p:cNvSpPr/>
          <p:nvPr/>
        </p:nvSpPr>
        <p:spPr>
          <a:xfrm>
            <a:off x="6537960" y="2578608"/>
            <a:ext cx="1783080" cy="530352"/>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537960" y="2578608"/>
            <a:ext cx="54864" cy="530352"/>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665976" y="2624327"/>
            <a:ext cx="1600200" cy="237744"/>
          </a:xfrm>
          <a:prstGeom prst="rect">
            <a:avLst/>
          </a:prstGeom>
          <a:noFill/>
        </p:spPr>
        <p:txBody>
          <a:bodyPr wrap="square" anchor="t">
            <a:spAutoFit/>
          </a:bodyPr>
          <a:lstStyle/>
          <a:p>
            <a:pPr algn="l">
              <a:spcAft>
                <a:spcPts val="600"/>
              </a:spcAft>
            </a:pPr>
            <a:r>
              <a:rPr sz="900" b="1" i="0">
                <a:solidFill>
                  <a:srgbClr val="1F3A5F"/>
                </a:solidFill>
                <a:latin typeface="Calibri"/>
              </a:rPr>
              <a:t>Lun 25 · 11:30</a:t>
            </a:r>
          </a:p>
        </p:txBody>
      </p:sp>
      <p:sp>
        <p:nvSpPr>
          <p:cNvPr id="58" name="TextBox 57"/>
          <p:cNvSpPr txBox="1"/>
          <p:nvPr/>
        </p:nvSpPr>
        <p:spPr>
          <a:xfrm>
            <a:off x="6665976" y="2834639"/>
            <a:ext cx="1600200" cy="237744"/>
          </a:xfrm>
          <a:prstGeom prst="rect">
            <a:avLst/>
          </a:prstGeom>
          <a:noFill/>
        </p:spPr>
        <p:txBody>
          <a:bodyPr wrap="square" anchor="t">
            <a:spAutoFit/>
          </a:bodyPr>
          <a:lstStyle/>
          <a:p>
            <a:pPr algn="l">
              <a:spcAft>
                <a:spcPts val="600"/>
              </a:spcAft>
            </a:pPr>
            <a:r>
              <a:rPr sz="750" b="0" i="0">
                <a:solidFill>
                  <a:srgbClr val="8A9AA8"/>
                </a:solidFill>
                <a:latin typeface="Calibri"/>
              </a:rPr>
              <a:t>Consulta · Dra. Herrera</a:t>
            </a:r>
          </a:p>
        </p:txBody>
      </p:sp>
      <p:sp>
        <p:nvSpPr>
          <p:cNvPr id="59" name="Rectangle 58"/>
          <p:cNvSpPr/>
          <p:nvPr/>
        </p:nvSpPr>
        <p:spPr>
          <a:xfrm>
            <a:off x="6537960" y="3200400"/>
            <a:ext cx="1783080" cy="530352"/>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537960" y="3200400"/>
            <a:ext cx="54864" cy="530352"/>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665976" y="3246120"/>
            <a:ext cx="1600200" cy="237744"/>
          </a:xfrm>
          <a:prstGeom prst="rect">
            <a:avLst/>
          </a:prstGeom>
          <a:noFill/>
        </p:spPr>
        <p:txBody>
          <a:bodyPr wrap="square" anchor="t">
            <a:spAutoFit/>
          </a:bodyPr>
          <a:lstStyle/>
          <a:p>
            <a:pPr algn="l">
              <a:spcAft>
                <a:spcPts val="600"/>
              </a:spcAft>
            </a:pPr>
            <a:r>
              <a:rPr sz="900" b="1" i="0">
                <a:solidFill>
                  <a:srgbClr val="1F3A5F"/>
                </a:solidFill>
                <a:latin typeface="Calibri"/>
              </a:rPr>
              <a:t>Confirmar asistencia</a:t>
            </a:r>
          </a:p>
        </p:txBody>
      </p:sp>
      <p:sp>
        <p:nvSpPr>
          <p:cNvPr id="62" name="TextBox 61"/>
          <p:cNvSpPr txBox="1"/>
          <p:nvPr/>
        </p:nvSpPr>
        <p:spPr>
          <a:xfrm>
            <a:off x="6665976" y="3456432"/>
            <a:ext cx="1600200" cy="237744"/>
          </a:xfrm>
          <a:prstGeom prst="rect">
            <a:avLst/>
          </a:prstGeom>
          <a:noFill/>
        </p:spPr>
        <p:txBody>
          <a:bodyPr wrap="square" anchor="t">
            <a:spAutoFit/>
          </a:bodyPr>
          <a:lstStyle/>
          <a:p>
            <a:pPr algn="l">
              <a:spcAft>
                <a:spcPts val="600"/>
              </a:spcAft>
            </a:pPr>
            <a:r>
              <a:rPr sz="750" b="0" i="0">
                <a:solidFill>
                  <a:srgbClr val="8A9AA8"/>
                </a:solidFill>
                <a:latin typeface="Calibri"/>
              </a:rPr>
              <a:t>Toca para confirmar</a:t>
            </a:r>
          </a:p>
        </p:txBody>
      </p:sp>
      <p:sp>
        <p:nvSpPr>
          <p:cNvPr id="63" name="Rectangle 62"/>
          <p:cNvSpPr/>
          <p:nvPr/>
        </p:nvSpPr>
        <p:spPr>
          <a:xfrm>
            <a:off x="6537960" y="3822191"/>
            <a:ext cx="1783080" cy="530352"/>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537960" y="3822191"/>
            <a:ext cx="54864" cy="530352"/>
          </a:xfrm>
          <a:prstGeom prst="rect">
            <a:avLst/>
          </a:prstGeom>
          <a:solidFill>
            <a:srgbClr val="C95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665976" y="3867911"/>
            <a:ext cx="1600200" cy="237744"/>
          </a:xfrm>
          <a:prstGeom prst="rect">
            <a:avLst/>
          </a:prstGeom>
          <a:noFill/>
        </p:spPr>
        <p:txBody>
          <a:bodyPr wrap="square" anchor="t">
            <a:spAutoFit/>
          </a:bodyPr>
          <a:lstStyle/>
          <a:p>
            <a:pPr algn="l">
              <a:spcAft>
                <a:spcPts val="600"/>
              </a:spcAft>
            </a:pPr>
            <a:r>
              <a:rPr sz="900" b="1" i="0">
                <a:solidFill>
                  <a:srgbClr val="1F3A5F"/>
                </a:solidFill>
                <a:latin typeface="Calibri"/>
              </a:rPr>
              <a:t>Cancelar hora</a:t>
            </a:r>
          </a:p>
        </p:txBody>
      </p:sp>
      <p:sp>
        <p:nvSpPr>
          <p:cNvPr id="66" name="TextBox 65"/>
          <p:cNvSpPr txBox="1"/>
          <p:nvPr/>
        </p:nvSpPr>
        <p:spPr>
          <a:xfrm>
            <a:off x="6665976" y="4078224"/>
            <a:ext cx="1600200" cy="237744"/>
          </a:xfrm>
          <a:prstGeom prst="rect">
            <a:avLst/>
          </a:prstGeom>
          <a:noFill/>
        </p:spPr>
        <p:txBody>
          <a:bodyPr wrap="square" anchor="t">
            <a:spAutoFit/>
          </a:bodyPr>
          <a:lstStyle/>
          <a:p>
            <a:pPr algn="l">
              <a:spcAft>
                <a:spcPts val="600"/>
              </a:spcAft>
            </a:pPr>
            <a:r>
              <a:rPr sz="750" b="0" i="0">
                <a:solidFill>
                  <a:srgbClr val="8A9AA8"/>
                </a:solidFill>
                <a:latin typeface="Calibri"/>
              </a:rPr>
              <a:t>Sin costo hasta 24 h antes</a:t>
            </a:r>
          </a:p>
        </p:txBody>
      </p:sp>
      <p:sp>
        <p:nvSpPr>
          <p:cNvPr id="67" name="Rectangle 66"/>
          <p:cNvSpPr/>
          <p:nvPr/>
        </p:nvSpPr>
        <p:spPr>
          <a:xfrm>
            <a:off x="6537960" y="4443983"/>
            <a:ext cx="1783080" cy="530352"/>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6537960" y="4443983"/>
            <a:ext cx="54864" cy="530352"/>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665976" y="4489703"/>
            <a:ext cx="1600200" cy="237744"/>
          </a:xfrm>
          <a:prstGeom prst="rect">
            <a:avLst/>
          </a:prstGeom>
          <a:noFill/>
        </p:spPr>
        <p:txBody>
          <a:bodyPr wrap="square" anchor="t">
            <a:spAutoFit/>
          </a:bodyPr>
          <a:lstStyle/>
          <a:p>
            <a:pPr algn="l">
              <a:spcAft>
                <a:spcPts val="600"/>
              </a:spcAft>
            </a:pPr>
            <a:r>
              <a:rPr sz="900" b="1" i="0">
                <a:solidFill>
                  <a:srgbClr val="1F3A5F"/>
                </a:solidFill>
                <a:latin typeface="Calibri"/>
              </a:rPr>
              <a:t>Jue 04 · 17:00</a:t>
            </a:r>
          </a:p>
        </p:txBody>
      </p:sp>
      <p:sp>
        <p:nvSpPr>
          <p:cNvPr id="70" name="TextBox 69"/>
          <p:cNvSpPr txBox="1"/>
          <p:nvPr/>
        </p:nvSpPr>
        <p:spPr>
          <a:xfrm>
            <a:off x="6665976" y="4700016"/>
            <a:ext cx="1600200" cy="237744"/>
          </a:xfrm>
          <a:prstGeom prst="rect">
            <a:avLst/>
          </a:prstGeom>
          <a:noFill/>
        </p:spPr>
        <p:txBody>
          <a:bodyPr wrap="square" anchor="t">
            <a:spAutoFit/>
          </a:bodyPr>
          <a:lstStyle/>
          <a:p>
            <a:pPr algn="l">
              <a:spcAft>
                <a:spcPts val="600"/>
              </a:spcAft>
            </a:pPr>
            <a:r>
              <a:rPr sz="750" b="0" i="0">
                <a:solidFill>
                  <a:srgbClr val="8A9AA8"/>
                </a:solidFill>
                <a:latin typeface="Calibri"/>
              </a:rPr>
              <a:t>Vacunación · Dr. Contreras</a:t>
            </a:r>
          </a:p>
        </p:txBody>
      </p:sp>
      <p:sp>
        <p:nvSpPr>
          <p:cNvPr id="71" name="Rectangle 70"/>
          <p:cNvSpPr/>
          <p:nvPr/>
        </p:nvSpPr>
        <p:spPr>
          <a:xfrm>
            <a:off x="6537960" y="5065775"/>
            <a:ext cx="1783080" cy="530352"/>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665976" y="5111495"/>
            <a:ext cx="1600200" cy="237744"/>
          </a:xfrm>
          <a:prstGeom prst="rect">
            <a:avLst/>
          </a:prstGeom>
          <a:noFill/>
        </p:spPr>
        <p:txBody>
          <a:bodyPr wrap="square" anchor="t">
            <a:spAutoFit/>
          </a:bodyPr>
          <a:lstStyle/>
          <a:p>
            <a:pPr algn="l">
              <a:spcAft>
                <a:spcPts val="600"/>
              </a:spcAft>
            </a:pPr>
            <a:r>
              <a:rPr sz="900" b="1" i="0">
                <a:solidFill>
                  <a:srgbClr val="1F3A5F"/>
                </a:solidFill>
                <a:latin typeface="Calibri"/>
              </a:rPr>
              <a:t>Historial de Michi</a:t>
            </a:r>
          </a:p>
        </p:txBody>
      </p:sp>
      <p:sp>
        <p:nvSpPr>
          <p:cNvPr id="73" name="TextBox 72"/>
          <p:cNvSpPr txBox="1"/>
          <p:nvPr/>
        </p:nvSpPr>
        <p:spPr>
          <a:xfrm>
            <a:off x="6665976" y="5321807"/>
            <a:ext cx="1600200" cy="237744"/>
          </a:xfrm>
          <a:prstGeom prst="rect">
            <a:avLst/>
          </a:prstGeom>
          <a:noFill/>
        </p:spPr>
        <p:txBody>
          <a:bodyPr wrap="square" anchor="t">
            <a:spAutoFit/>
          </a:bodyPr>
          <a:lstStyle/>
          <a:p>
            <a:pPr algn="l">
              <a:spcAft>
                <a:spcPts val="600"/>
              </a:spcAft>
            </a:pPr>
            <a:r>
              <a:rPr sz="750" b="0" i="0">
                <a:solidFill>
                  <a:srgbClr val="8A9AA8"/>
                </a:solidFill>
                <a:latin typeface="Calibri"/>
              </a:rPr>
              <a:t>3 atenciones previas</a:t>
            </a:r>
          </a:p>
        </p:txBody>
      </p:sp>
      <p:sp>
        <p:nvSpPr>
          <p:cNvPr id="74" name="Rectangle 73"/>
          <p:cNvSpPr/>
          <p:nvPr/>
        </p:nvSpPr>
        <p:spPr>
          <a:xfrm>
            <a:off x="9235440" y="1828800"/>
            <a:ext cx="2423160" cy="406908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9235440" y="1828800"/>
            <a:ext cx="64008" cy="406908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491472" y="1993392"/>
            <a:ext cx="1965960" cy="384048"/>
          </a:xfrm>
          <a:prstGeom prst="rect">
            <a:avLst/>
          </a:prstGeom>
          <a:noFill/>
        </p:spPr>
        <p:txBody>
          <a:bodyPr wrap="square" anchor="t">
            <a:spAutoFit/>
          </a:bodyPr>
          <a:lstStyle/>
          <a:p>
            <a:pPr algn="l">
              <a:spcAft>
                <a:spcPts val="600"/>
              </a:spcAft>
            </a:pPr>
            <a:r>
              <a:rPr sz="1500" b="1" i="0">
                <a:solidFill>
                  <a:srgbClr val="1F3A5F"/>
                </a:solidFill>
                <a:latin typeface="Calibri"/>
              </a:rPr>
              <a:t>Por qué importa</a:t>
            </a:r>
          </a:p>
        </p:txBody>
      </p:sp>
      <p:sp>
        <p:nvSpPr>
          <p:cNvPr id="77" name="TextBox 76"/>
          <p:cNvSpPr txBox="1"/>
          <p:nvPr/>
        </p:nvSpPr>
        <p:spPr>
          <a:xfrm>
            <a:off x="9491472" y="2487168"/>
            <a:ext cx="1965960" cy="3246120"/>
          </a:xfrm>
          <a:prstGeom prst="rect">
            <a:avLst/>
          </a:prstGeom>
          <a:noFill/>
        </p:spPr>
        <p:txBody>
          <a:bodyPr wrap="square" anchor="t">
            <a:spAutoFit/>
          </a:bodyPr>
          <a:lstStyle/>
          <a:p>
            <a:pPr algn="l">
              <a:spcAft>
                <a:spcPts val="300"/>
              </a:spcAft>
            </a:pPr>
            <a:r>
              <a:rPr sz="1200" b="0" i="0">
                <a:solidFill>
                  <a:srgbClr val="22303C"/>
                </a:solidFill>
                <a:latin typeface="Calibri"/>
              </a:rPr>
              <a:t>La app no es solo comodidad para el tutor.
Es el canal que captura los datos que hoy no existen: quién reserva, cuándo, con cuánta anticipación, si confirma y si cancela.
Sin esos datos no hay predicción posible.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0241280" cy="640080"/>
          </a:xfrm>
          <a:prstGeom prst="rect">
            <a:avLst/>
          </a:prstGeom>
          <a:noFill/>
        </p:spPr>
        <p:txBody>
          <a:bodyPr wrap="square" anchor="t">
            <a:spAutoFit/>
          </a:bodyPr>
          <a:lstStyle/>
          <a:p>
            <a:pPr algn="l">
              <a:spcAft>
                <a:spcPts val="600"/>
              </a:spcAft>
            </a:pPr>
            <a:r>
              <a:rPr sz="2700" b="1" i="0">
                <a:solidFill>
                  <a:srgbClr val="FFFFFF"/>
                </a:solidFill>
                <a:latin typeface="Calibri"/>
              </a:rPr>
              <a:t>Mock-up · Tablero de la clínica</a:t>
            </a:r>
          </a:p>
        </p:txBody>
      </p:sp>
      <p:sp>
        <p:nvSpPr>
          <p:cNvPr id="5" name="TextBox 4"/>
          <p:cNvSpPr txBox="1"/>
          <p:nvPr/>
        </p:nvSpPr>
        <p:spPr>
          <a:xfrm>
            <a:off x="11247120" y="347472"/>
            <a:ext cx="640080" cy="457200"/>
          </a:xfrm>
          <a:prstGeom prst="rect">
            <a:avLst/>
          </a:prstGeom>
          <a:noFill/>
        </p:spPr>
        <p:txBody>
          <a:bodyPr wrap="square" anchor="t">
            <a:spAutoFit/>
          </a:bodyPr>
          <a:lstStyle/>
          <a:p>
            <a:pPr algn="r">
              <a:spcAft>
                <a:spcPts val="600"/>
              </a:spcAft>
            </a:pPr>
            <a:r>
              <a:rPr sz="1400" b="0" i="0">
                <a:solidFill>
                  <a:srgbClr val="8FA8C4"/>
                </a:solidFill>
                <a:latin typeface="Calibri"/>
              </a:rPr>
              <a:t>10</a:t>
            </a:r>
          </a:p>
        </p:txBody>
      </p:sp>
      <p:sp>
        <p:nvSpPr>
          <p:cNvPr id="6" name="TextBox 5"/>
          <p:cNvSpPr txBox="1"/>
          <p:nvPr/>
        </p:nvSpPr>
        <p:spPr>
          <a:xfrm>
            <a:off x="548640" y="1325880"/>
            <a:ext cx="11064240" cy="457200"/>
          </a:xfrm>
          <a:prstGeom prst="rect">
            <a:avLst/>
          </a:prstGeom>
          <a:noFill/>
        </p:spPr>
        <p:txBody>
          <a:bodyPr wrap="square" anchor="t">
            <a:spAutoFit/>
          </a:bodyPr>
          <a:lstStyle/>
          <a:p>
            <a:pPr algn="l">
              <a:spcAft>
                <a:spcPts val="600"/>
              </a:spcAft>
            </a:pPr>
            <a:r>
              <a:rPr sz="1500" b="0" i="1">
                <a:solidFill>
                  <a:srgbClr val="2E5C8A"/>
                </a:solidFill>
                <a:latin typeface="Calibri"/>
              </a:rPr>
              <a:t>Lo que ve la administradora cada mañana</a:t>
            </a:r>
          </a:p>
        </p:txBody>
      </p:sp>
      <p:sp>
        <p:nvSpPr>
          <p:cNvPr id="7" name="Rectangle 6"/>
          <p:cNvSpPr/>
          <p:nvPr/>
        </p:nvSpPr>
        <p:spPr>
          <a:xfrm>
            <a:off x="548640" y="1920240"/>
            <a:ext cx="11100816" cy="3977639"/>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194560"/>
            <a:ext cx="251460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2194560"/>
            <a:ext cx="2514600" cy="64008"/>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2331720"/>
            <a:ext cx="2194560" cy="274320"/>
          </a:xfrm>
          <a:prstGeom prst="rect">
            <a:avLst/>
          </a:prstGeom>
          <a:noFill/>
        </p:spPr>
        <p:txBody>
          <a:bodyPr wrap="square" anchor="t">
            <a:spAutoFit/>
          </a:bodyPr>
          <a:lstStyle/>
          <a:p>
            <a:pPr algn="l">
              <a:spcAft>
                <a:spcPts val="600"/>
              </a:spcAft>
            </a:pPr>
            <a:r>
              <a:rPr sz="1000" b="0" i="0">
                <a:solidFill>
                  <a:srgbClr val="8A9AA8"/>
                </a:solidFill>
                <a:latin typeface="Calibri"/>
              </a:rPr>
              <a:t>Horas agendadas</a:t>
            </a:r>
          </a:p>
        </p:txBody>
      </p:sp>
      <p:sp>
        <p:nvSpPr>
          <p:cNvPr id="11" name="TextBox 10"/>
          <p:cNvSpPr txBox="1"/>
          <p:nvPr/>
        </p:nvSpPr>
        <p:spPr>
          <a:xfrm>
            <a:off x="987552" y="2542032"/>
            <a:ext cx="2194560" cy="438912"/>
          </a:xfrm>
          <a:prstGeom prst="rect">
            <a:avLst/>
          </a:prstGeom>
          <a:noFill/>
        </p:spPr>
        <p:txBody>
          <a:bodyPr wrap="square" anchor="t">
            <a:spAutoFit/>
          </a:bodyPr>
          <a:lstStyle/>
          <a:p>
            <a:pPr algn="l">
              <a:spcAft>
                <a:spcPts val="600"/>
              </a:spcAft>
            </a:pPr>
            <a:r>
              <a:rPr sz="2300" b="1" i="0">
                <a:solidFill>
                  <a:srgbClr val="1F3A5F"/>
                </a:solidFill>
                <a:latin typeface="Calibri"/>
              </a:rPr>
              <a:t>142</a:t>
            </a:r>
          </a:p>
        </p:txBody>
      </p:sp>
      <p:sp>
        <p:nvSpPr>
          <p:cNvPr id="12" name="TextBox 11"/>
          <p:cNvSpPr txBox="1"/>
          <p:nvPr/>
        </p:nvSpPr>
        <p:spPr>
          <a:xfrm>
            <a:off x="987552" y="2962656"/>
            <a:ext cx="2194560" cy="256032"/>
          </a:xfrm>
          <a:prstGeom prst="rect">
            <a:avLst/>
          </a:prstGeom>
          <a:noFill/>
        </p:spPr>
        <p:txBody>
          <a:bodyPr wrap="square" anchor="t">
            <a:spAutoFit/>
          </a:bodyPr>
          <a:lstStyle/>
          <a:p>
            <a:pPr algn="l">
              <a:spcAft>
                <a:spcPts val="600"/>
              </a:spcAft>
            </a:pPr>
            <a:r>
              <a:rPr sz="900" b="0" i="0">
                <a:solidFill>
                  <a:srgbClr val="8A9AA8"/>
                </a:solidFill>
                <a:latin typeface="Calibri"/>
              </a:rPr>
              <a:t>esta semana</a:t>
            </a:r>
          </a:p>
        </p:txBody>
      </p:sp>
      <p:sp>
        <p:nvSpPr>
          <p:cNvPr id="13" name="Rectangle 12"/>
          <p:cNvSpPr/>
          <p:nvPr/>
        </p:nvSpPr>
        <p:spPr>
          <a:xfrm>
            <a:off x="3502152" y="2194560"/>
            <a:ext cx="251460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02152" y="2194560"/>
            <a:ext cx="2514600" cy="64008"/>
          </a:xfrm>
          <a:prstGeom prst="rect">
            <a:avLst/>
          </a:prstGeom>
          <a:solidFill>
            <a:srgbClr val="C95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66744" y="2331720"/>
            <a:ext cx="2194560" cy="274320"/>
          </a:xfrm>
          <a:prstGeom prst="rect">
            <a:avLst/>
          </a:prstGeom>
          <a:noFill/>
        </p:spPr>
        <p:txBody>
          <a:bodyPr wrap="square" anchor="t">
            <a:spAutoFit/>
          </a:bodyPr>
          <a:lstStyle/>
          <a:p>
            <a:pPr algn="l">
              <a:spcAft>
                <a:spcPts val="600"/>
              </a:spcAft>
            </a:pPr>
            <a:r>
              <a:rPr sz="1000" b="0" i="0">
                <a:solidFill>
                  <a:srgbClr val="8A9AA8"/>
                </a:solidFill>
                <a:latin typeface="Calibri"/>
              </a:rPr>
              <a:t>Tasa de inasistencia</a:t>
            </a:r>
          </a:p>
        </p:txBody>
      </p:sp>
      <p:sp>
        <p:nvSpPr>
          <p:cNvPr id="16" name="TextBox 15"/>
          <p:cNvSpPr txBox="1"/>
          <p:nvPr/>
        </p:nvSpPr>
        <p:spPr>
          <a:xfrm>
            <a:off x="3666744" y="2542032"/>
            <a:ext cx="2194560" cy="438912"/>
          </a:xfrm>
          <a:prstGeom prst="rect">
            <a:avLst/>
          </a:prstGeom>
          <a:noFill/>
        </p:spPr>
        <p:txBody>
          <a:bodyPr wrap="square" anchor="t">
            <a:spAutoFit/>
          </a:bodyPr>
          <a:lstStyle/>
          <a:p>
            <a:pPr algn="l">
              <a:spcAft>
                <a:spcPts val="600"/>
              </a:spcAft>
            </a:pPr>
            <a:r>
              <a:rPr sz="2300" b="1" i="0">
                <a:solidFill>
                  <a:srgbClr val="1F3A5F"/>
                </a:solidFill>
                <a:latin typeface="Calibri"/>
              </a:rPr>
              <a:t>18,3 %</a:t>
            </a:r>
          </a:p>
        </p:txBody>
      </p:sp>
      <p:sp>
        <p:nvSpPr>
          <p:cNvPr id="17" name="TextBox 16"/>
          <p:cNvSpPr txBox="1"/>
          <p:nvPr/>
        </p:nvSpPr>
        <p:spPr>
          <a:xfrm>
            <a:off x="3666744" y="2962656"/>
            <a:ext cx="2194560" cy="256032"/>
          </a:xfrm>
          <a:prstGeom prst="rect">
            <a:avLst/>
          </a:prstGeom>
          <a:noFill/>
        </p:spPr>
        <p:txBody>
          <a:bodyPr wrap="square" anchor="t">
            <a:spAutoFit/>
          </a:bodyPr>
          <a:lstStyle/>
          <a:p>
            <a:pPr algn="l">
              <a:spcAft>
                <a:spcPts val="600"/>
              </a:spcAft>
            </a:pPr>
            <a:r>
              <a:rPr sz="900" b="0" i="0">
                <a:solidFill>
                  <a:srgbClr val="8A9AA8"/>
                </a:solidFill>
                <a:latin typeface="Calibri"/>
              </a:rPr>
              <a:t>26 horas perdidas</a:t>
            </a:r>
          </a:p>
        </p:txBody>
      </p:sp>
      <p:sp>
        <p:nvSpPr>
          <p:cNvPr id="18" name="Rectangle 17"/>
          <p:cNvSpPr/>
          <p:nvPr/>
        </p:nvSpPr>
        <p:spPr>
          <a:xfrm>
            <a:off x="6181344" y="2194560"/>
            <a:ext cx="251460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81344" y="2194560"/>
            <a:ext cx="2514600" cy="6400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5936" y="2331720"/>
            <a:ext cx="2194560" cy="274320"/>
          </a:xfrm>
          <a:prstGeom prst="rect">
            <a:avLst/>
          </a:prstGeom>
          <a:noFill/>
        </p:spPr>
        <p:txBody>
          <a:bodyPr wrap="square" anchor="t">
            <a:spAutoFit/>
          </a:bodyPr>
          <a:lstStyle/>
          <a:p>
            <a:pPr algn="l">
              <a:spcAft>
                <a:spcPts val="600"/>
              </a:spcAft>
            </a:pPr>
            <a:r>
              <a:rPr sz="1000" b="0" i="0">
                <a:solidFill>
                  <a:srgbClr val="8A9AA8"/>
                </a:solidFill>
                <a:latin typeface="Calibri"/>
              </a:rPr>
              <a:t>Ingreso no percibido</a:t>
            </a:r>
          </a:p>
        </p:txBody>
      </p:sp>
      <p:sp>
        <p:nvSpPr>
          <p:cNvPr id="21" name="TextBox 20"/>
          <p:cNvSpPr txBox="1"/>
          <p:nvPr/>
        </p:nvSpPr>
        <p:spPr>
          <a:xfrm>
            <a:off x="6345936" y="2542032"/>
            <a:ext cx="2194560" cy="438912"/>
          </a:xfrm>
          <a:prstGeom prst="rect">
            <a:avLst/>
          </a:prstGeom>
          <a:noFill/>
        </p:spPr>
        <p:txBody>
          <a:bodyPr wrap="square" anchor="t">
            <a:spAutoFit/>
          </a:bodyPr>
          <a:lstStyle/>
          <a:p>
            <a:pPr algn="l">
              <a:spcAft>
                <a:spcPts val="600"/>
              </a:spcAft>
            </a:pPr>
            <a:r>
              <a:rPr sz="2300" b="1" i="0">
                <a:solidFill>
                  <a:srgbClr val="1F3A5F"/>
                </a:solidFill>
                <a:latin typeface="Calibri"/>
              </a:rPr>
              <a:t>$ 676.000</a:t>
            </a:r>
          </a:p>
        </p:txBody>
      </p:sp>
      <p:sp>
        <p:nvSpPr>
          <p:cNvPr id="22" name="TextBox 21"/>
          <p:cNvSpPr txBox="1"/>
          <p:nvPr/>
        </p:nvSpPr>
        <p:spPr>
          <a:xfrm>
            <a:off x="6345936" y="2962656"/>
            <a:ext cx="2194560" cy="256032"/>
          </a:xfrm>
          <a:prstGeom prst="rect">
            <a:avLst/>
          </a:prstGeom>
          <a:noFill/>
        </p:spPr>
        <p:txBody>
          <a:bodyPr wrap="square" anchor="t">
            <a:spAutoFit/>
          </a:bodyPr>
          <a:lstStyle/>
          <a:p>
            <a:pPr algn="l">
              <a:spcAft>
                <a:spcPts val="600"/>
              </a:spcAft>
            </a:pPr>
            <a:r>
              <a:rPr sz="900" b="0" i="0">
                <a:solidFill>
                  <a:srgbClr val="8A9AA8"/>
                </a:solidFill>
                <a:latin typeface="Calibri"/>
              </a:rPr>
              <a:t>estimado del mes</a:t>
            </a:r>
          </a:p>
        </p:txBody>
      </p:sp>
      <p:sp>
        <p:nvSpPr>
          <p:cNvPr id="23" name="Rectangle 22"/>
          <p:cNvSpPr/>
          <p:nvPr/>
        </p:nvSpPr>
        <p:spPr>
          <a:xfrm>
            <a:off x="8860536" y="2194560"/>
            <a:ext cx="251460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60536" y="2194560"/>
            <a:ext cx="2514600" cy="64008"/>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25128" y="2331720"/>
            <a:ext cx="2194560" cy="274320"/>
          </a:xfrm>
          <a:prstGeom prst="rect">
            <a:avLst/>
          </a:prstGeom>
          <a:noFill/>
        </p:spPr>
        <p:txBody>
          <a:bodyPr wrap="square" anchor="t">
            <a:spAutoFit/>
          </a:bodyPr>
          <a:lstStyle/>
          <a:p>
            <a:pPr algn="l">
              <a:spcAft>
                <a:spcPts val="600"/>
              </a:spcAft>
            </a:pPr>
            <a:r>
              <a:rPr sz="1000" b="0" i="0">
                <a:solidFill>
                  <a:srgbClr val="8A9AA8"/>
                </a:solidFill>
                <a:latin typeface="Calibri"/>
              </a:rPr>
              <a:t>Horas en riesgo alto</a:t>
            </a:r>
          </a:p>
        </p:txBody>
      </p:sp>
      <p:sp>
        <p:nvSpPr>
          <p:cNvPr id="26" name="TextBox 25"/>
          <p:cNvSpPr txBox="1"/>
          <p:nvPr/>
        </p:nvSpPr>
        <p:spPr>
          <a:xfrm>
            <a:off x="9025128" y="2542032"/>
            <a:ext cx="2194560" cy="438912"/>
          </a:xfrm>
          <a:prstGeom prst="rect">
            <a:avLst/>
          </a:prstGeom>
          <a:noFill/>
        </p:spPr>
        <p:txBody>
          <a:bodyPr wrap="square" anchor="t">
            <a:spAutoFit/>
          </a:bodyPr>
          <a:lstStyle/>
          <a:p>
            <a:pPr algn="l">
              <a:spcAft>
                <a:spcPts val="600"/>
              </a:spcAft>
            </a:pPr>
            <a:r>
              <a:rPr sz="2300" b="1" i="0">
                <a:solidFill>
                  <a:srgbClr val="1F3A5F"/>
                </a:solidFill>
                <a:latin typeface="Calibri"/>
              </a:rPr>
              <a:t>9</a:t>
            </a:r>
          </a:p>
        </p:txBody>
      </p:sp>
      <p:sp>
        <p:nvSpPr>
          <p:cNvPr id="27" name="TextBox 26"/>
          <p:cNvSpPr txBox="1"/>
          <p:nvPr/>
        </p:nvSpPr>
        <p:spPr>
          <a:xfrm>
            <a:off x="9025128" y="2962656"/>
            <a:ext cx="2194560" cy="256032"/>
          </a:xfrm>
          <a:prstGeom prst="rect">
            <a:avLst/>
          </a:prstGeom>
          <a:noFill/>
        </p:spPr>
        <p:txBody>
          <a:bodyPr wrap="square" anchor="t">
            <a:spAutoFit/>
          </a:bodyPr>
          <a:lstStyle/>
          <a:p>
            <a:pPr algn="l">
              <a:spcAft>
                <a:spcPts val="600"/>
              </a:spcAft>
            </a:pPr>
            <a:r>
              <a:rPr sz="900" b="0" i="0">
                <a:solidFill>
                  <a:srgbClr val="8A9AA8"/>
                </a:solidFill>
                <a:latin typeface="Calibri"/>
              </a:rPr>
              <a:t>próximos 3 días</a:t>
            </a:r>
          </a:p>
        </p:txBody>
      </p:sp>
      <p:sp>
        <p:nvSpPr>
          <p:cNvPr id="28" name="Rectangle 27"/>
          <p:cNvSpPr/>
          <p:nvPr/>
        </p:nvSpPr>
        <p:spPr>
          <a:xfrm>
            <a:off x="822960" y="3429000"/>
            <a:ext cx="5120640" cy="2194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3547872"/>
            <a:ext cx="4754880" cy="320040"/>
          </a:xfrm>
          <a:prstGeom prst="rect">
            <a:avLst/>
          </a:prstGeom>
          <a:noFill/>
        </p:spPr>
        <p:txBody>
          <a:bodyPr wrap="square" anchor="t">
            <a:spAutoFit/>
          </a:bodyPr>
          <a:lstStyle/>
          <a:p>
            <a:pPr algn="l">
              <a:spcAft>
                <a:spcPts val="600"/>
              </a:spcAft>
            </a:pPr>
            <a:r>
              <a:rPr sz="1200" b="1" i="0">
                <a:solidFill>
                  <a:srgbClr val="1F3A5F"/>
                </a:solidFill>
                <a:latin typeface="Calibri"/>
              </a:rPr>
              <a:t>Inasistencia por día de la semana</a:t>
            </a:r>
          </a:p>
        </p:txBody>
      </p:sp>
      <p:sp>
        <p:nvSpPr>
          <p:cNvPr id="30" name="Rectangle 29"/>
          <p:cNvSpPr/>
          <p:nvPr/>
        </p:nvSpPr>
        <p:spPr>
          <a:xfrm>
            <a:off x="1143000" y="4459986"/>
            <a:ext cx="502920" cy="678942"/>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97280" y="5193792"/>
            <a:ext cx="594360" cy="274320"/>
          </a:xfrm>
          <a:prstGeom prst="rect">
            <a:avLst/>
          </a:prstGeom>
          <a:noFill/>
        </p:spPr>
        <p:txBody>
          <a:bodyPr wrap="square" anchor="t">
            <a:spAutoFit/>
          </a:bodyPr>
          <a:lstStyle/>
          <a:p>
            <a:pPr algn="ctr">
              <a:spcAft>
                <a:spcPts val="600"/>
              </a:spcAft>
            </a:pPr>
            <a:r>
              <a:rPr sz="950" b="0" i="0">
                <a:solidFill>
                  <a:srgbClr val="22303C"/>
                </a:solidFill>
                <a:latin typeface="Calibri"/>
              </a:rPr>
              <a:t>Lun</a:t>
            </a:r>
          </a:p>
        </p:txBody>
      </p:sp>
      <p:sp>
        <p:nvSpPr>
          <p:cNvPr id="32" name="Rectangle 31"/>
          <p:cNvSpPr/>
          <p:nvPr/>
        </p:nvSpPr>
        <p:spPr>
          <a:xfrm>
            <a:off x="1920240" y="4706874"/>
            <a:ext cx="502920" cy="432054"/>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874520" y="5193792"/>
            <a:ext cx="594360" cy="274320"/>
          </a:xfrm>
          <a:prstGeom prst="rect">
            <a:avLst/>
          </a:prstGeom>
          <a:noFill/>
        </p:spPr>
        <p:txBody>
          <a:bodyPr wrap="square" anchor="t">
            <a:spAutoFit/>
          </a:bodyPr>
          <a:lstStyle/>
          <a:p>
            <a:pPr algn="ctr">
              <a:spcAft>
                <a:spcPts val="600"/>
              </a:spcAft>
            </a:pPr>
            <a:r>
              <a:rPr sz="950" b="0" i="0">
                <a:solidFill>
                  <a:srgbClr val="22303C"/>
                </a:solidFill>
                <a:latin typeface="Calibri"/>
              </a:rPr>
              <a:t>Mar</a:t>
            </a:r>
          </a:p>
        </p:txBody>
      </p:sp>
      <p:sp>
        <p:nvSpPr>
          <p:cNvPr id="34" name="Rectangle 33"/>
          <p:cNvSpPr/>
          <p:nvPr/>
        </p:nvSpPr>
        <p:spPr>
          <a:xfrm>
            <a:off x="2697480" y="4620463"/>
            <a:ext cx="502920" cy="518464"/>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651760" y="5193792"/>
            <a:ext cx="594360" cy="274320"/>
          </a:xfrm>
          <a:prstGeom prst="rect">
            <a:avLst/>
          </a:prstGeom>
          <a:noFill/>
        </p:spPr>
        <p:txBody>
          <a:bodyPr wrap="square" anchor="t">
            <a:spAutoFit/>
          </a:bodyPr>
          <a:lstStyle/>
          <a:p>
            <a:pPr algn="ctr">
              <a:spcAft>
                <a:spcPts val="600"/>
              </a:spcAft>
            </a:pPr>
            <a:r>
              <a:rPr sz="950" b="0" i="0">
                <a:solidFill>
                  <a:srgbClr val="22303C"/>
                </a:solidFill>
                <a:latin typeface="Calibri"/>
              </a:rPr>
              <a:t>Mié</a:t>
            </a:r>
          </a:p>
        </p:txBody>
      </p:sp>
      <p:sp>
        <p:nvSpPr>
          <p:cNvPr id="36" name="Rectangle 35"/>
          <p:cNvSpPr/>
          <p:nvPr/>
        </p:nvSpPr>
        <p:spPr>
          <a:xfrm>
            <a:off x="3474720" y="4768596"/>
            <a:ext cx="502920" cy="370332"/>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429000" y="5193792"/>
            <a:ext cx="594360" cy="274320"/>
          </a:xfrm>
          <a:prstGeom prst="rect">
            <a:avLst/>
          </a:prstGeom>
          <a:noFill/>
        </p:spPr>
        <p:txBody>
          <a:bodyPr wrap="square" anchor="t">
            <a:spAutoFit/>
          </a:bodyPr>
          <a:lstStyle/>
          <a:p>
            <a:pPr algn="ctr">
              <a:spcAft>
                <a:spcPts val="600"/>
              </a:spcAft>
            </a:pPr>
            <a:r>
              <a:rPr sz="950" b="0" i="0">
                <a:solidFill>
                  <a:srgbClr val="22303C"/>
                </a:solidFill>
                <a:latin typeface="Calibri"/>
              </a:rPr>
              <a:t>Jue</a:t>
            </a:r>
          </a:p>
        </p:txBody>
      </p:sp>
      <p:sp>
        <p:nvSpPr>
          <p:cNvPr id="38" name="Rectangle 37"/>
          <p:cNvSpPr/>
          <p:nvPr/>
        </p:nvSpPr>
        <p:spPr>
          <a:xfrm>
            <a:off x="4251960" y="4299508"/>
            <a:ext cx="502920" cy="839419"/>
          </a:xfrm>
          <a:prstGeom prst="rect">
            <a:avLst/>
          </a:prstGeom>
          <a:solidFill>
            <a:srgbClr val="C95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06240" y="5193792"/>
            <a:ext cx="594360" cy="274320"/>
          </a:xfrm>
          <a:prstGeom prst="rect">
            <a:avLst/>
          </a:prstGeom>
          <a:noFill/>
        </p:spPr>
        <p:txBody>
          <a:bodyPr wrap="square" anchor="t">
            <a:spAutoFit/>
          </a:bodyPr>
          <a:lstStyle/>
          <a:p>
            <a:pPr algn="ctr">
              <a:spcAft>
                <a:spcPts val="600"/>
              </a:spcAft>
            </a:pPr>
            <a:r>
              <a:rPr sz="950" b="0" i="0">
                <a:solidFill>
                  <a:srgbClr val="22303C"/>
                </a:solidFill>
                <a:latin typeface="Calibri"/>
              </a:rPr>
              <a:t>Vie</a:t>
            </a:r>
          </a:p>
        </p:txBody>
      </p:sp>
      <p:sp>
        <p:nvSpPr>
          <p:cNvPr id="40" name="Rectangle 39"/>
          <p:cNvSpPr/>
          <p:nvPr/>
        </p:nvSpPr>
        <p:spPr>
          <a:xfrm>
            <a:off x="5029200" y="3966210"/>
            <a:ext cx="502920" cy="1172718"/>
          </a:xfrm>
          <a:prstGeom prst="rect">
            <a:avLst/>
          </a:prstGeom>
          <a:solidFill>
            <a:srgbClr val="C95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83480" y="5193792"/>
            <a:ext cx="594360" cy="274320"/>
          </a:xfrm>
          <a:prstGeom prst="rect">
            <a:avLst/>
          </a:prstGeom>
          <a:noFill/>
        </p:spPr>
        <p:txBody>
          <a:bodyPr wrap="square" anchor="t">
            <a:spAutoFit/>
          </a:bodyPr>
          <a:lstStyle/>
          <a:p>
            <a:pPr algn="ctr">
              <a:spcAft>
                <a:spcPts val="600"/>
              </a:spcAft>
            </a:pPr>
            <a:r>
              <a:rPr sz="950" b="0" i="0">
                <a:solidFill>
                  <a:srgbClr val="22303C"/>
                </a:solidFill>
                <a:latin typeface="Calibri"/>
              </a:rPr>
              <a:t>Sáb</a:t>
            </a:r>
          </a:p>
        </p:txBody>
      </p:sp>
      <p:sp>
        <p:nvSpPr>
          <p:cNvPr id="42" name="Rectangle 41"/>
          <p:cNvSpPr/>
          <p:nvPr/>
        </p:nvSpPr>
        <p:spPr>
          <a:xfrm>
            <a:off x="6263640" y="3429000"/>
            <a:ext cx="5394960" cy="2194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46520" y="3547872"/>
            <a:ext cx="5029200" cy="320040"/>
          </a:xfrm>
          <a:prstGeom prst="rect">
            <a:avLst/>
          </a:prstGeom>
          <a:noFill/>
        </p:spPr>
        <p:txBody>
          <a:bodyPr wrap="square" anchor="t">
            <a:spAutoFit/>
          </a:bodyPr>
          <a:lstStyle/>
          <a:p>
            <a:pPr algn="l">
              <a:spcAft>
                <a:spcPts val="600"/>
              </a:spcAft>
            </a:pPr>
            <a:r>
              <a:rPr sz="1200" b="1" i="0">
                <a:solidFill>
                  <a:srgbClr val="1F3A5F"/>
                </a:solidFill>
                <a:latin typeface="Calibri"/>
              </a:rPr>
              <a:t>Horas en riesgo · acción recomendada</a:t>
            </a:r>
          </a:p>
        </p:txBody>
      </p:sp>
      <p:sp>
        <p:nvSpPr>
          <p:cNvPr id="44" name="Rectangle 43"/>
          <p:cNvSpPr/>
          <p:nvPr/>
        </p:nvSpPr>
        <p:spPr>
          <a:xfrm>
            <a:off x="6446520" y="3950208"/>
            <a:ext cx="5029200" cy="38404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446520" y="3950208"/>
            <a:ext cx="54864" cy="384048"/>
          </a:xfrm>
          <a:prstGeom prst="rect">
            <a:avLst/>
          </a:prstGeom>
          <a:solidFill>
            <a:srgbClr val="C95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583680" y="4005072"/>
            <a:ext cx="1965960" cy="274320"/>
          </a:xfrm>
          <a:prstGeom prst="rect">
            <a:avLst/>
          </a:prstGeom>
          <a:noFill/>
        </p:spPr>
        <p:txBody>
          <a:bodyPr wrap="square" anchor="t">
            <a:spAutoFit/>
          </a:bodyPr>
          <a:lstStyle/>
          <a:p>
            <a:pPr algn="l">
              <a:spcAft>
                <a:spcPts val="600"/>
              </a:spcAft>
            </a:pPr>
            <a:r>
              <a:rPr sz="900" b="1" i="0">
                <a:solidFill>
                  <a:srgbClr val="1F3A5F"/>
                </a:solidFill>
                <a:latin typeface="Calibri"/>
              </a:rPr>
              <a:t>Mar 26 · 10:00 · J. Pérez</a:t>
            </a:r>
          </a:p>
        </p:txBody>
      </p:sp>
      <p:sp>
        <p:nvSpPr>
          <p:cNvPr id="47" name="Rectangle 46"/>
          <p:cNvSpPr/>
          <p:nvPr/>
        </p:nvSpPr>
        <p:spPr>
          <a:xfrm>
            <a:off x="8595360" y="4032504"/>
            <a:ext cx="566928" cy="219456"/>
          </a:xfrm>
          <a:prstGeom prst="rect">
            <a:avLst/>
          </a:prstGeom>
          <a:solidFill>
            <a:srgbClr val="C95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595360" y="4050792"/>
            <a:ext cx="566928" cy="201168"/>
          </a:xfrm>
          <a:prstGeom prst="rect">
            <a:avLst/>
          </a:prstGeom>
          <a:noFill/>
        </p:spPr>
        <p:txBody>
          <a:bodyPr wrap="square" anchor="t">
            <a:spAutoFit/>
          </a:bodyPr>
          <a:lstStyle/>
          <a:p>
            <a:pPr algn="ctr">
              <a:spcAft>
                <a:spcPts val="600"/>
              </a:spcAft>
            </a:pPr>
            <a:r>
              <a:rPr sz="750" b="1" i="0">
                <a:solidFill>
                  <a:srgbClr val="FFFFFF"/>
                </a:solidFill>
                <a:latin typeface="Calibri"/>
              </a:rPr>
              <a:t>ALTO</a:t>
            </a:r>
          </a:p>
        </p:txBody>
      </p:sp>
      <p:sp>
        <p:nvSpPr>
          <p:cNvPr id="49" name="TextBox 48"/>
          <p:cNvSpPr txBox="1"/>
          <p:nvPr/>
        </p:nvSpPr>
        <p:spPr>
          <a:xfrm>
            <a:off x="9281160" y="4023360"/>
            <a:ext cx="2103120" cy="274320"/>
          </a:xfrm>
          <a:prstGeom prst="rect">
            <a:avLst/>
          </a:prstGeom>
          <a:noFill/>
        </p:spPr>
        <p:txBody>
          <a:bodyPr wrap="square" anchor="t">
            <a:spAutoFit/>
          </a:bodyPr>
          <a:lstStyle/>
          <a:p>
            <a:pPr algn="l">
              <a:spcAft>
                <a:spcPts val="600"/>
              </a:spcAft>
            </a:pPr>
            <a:r>
              <a:rPr sz="850" b="0" i="0">
                <a:solidFill>
                  <a:srgbClr val="22303C"/>
                </a:solidFill>
                <a:latin typeface="Calibri"/>
              </a:rPr>
              <a:t>Pedir confirmación telefónica</a:t>
            </a:r>
          </a:p>
        </p:txBody>
      </p:sp>
      <p:sp>
        <p:nvSpPr>
          <p:cNvPr id="50" name="Rectangle 49"/>
          <p:cNvSpPr/>
          <p:nvPr/>
        </p:nvSpPr>
        <p:spPr>
          <a:xfrm>
            <a:off x="6446520" y="4379976"/>
            <a:ext cx="5029200" cy="38404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446520" y="4379976"/>
            <a:ext cx="54864" cy="384048"/>
          </a:xfrm>
          <a:prstGeom prst="rect">
            <a:avLst/>
          </a:prstGeom>
          <a:solidFill>
            <a:srgbClr val="C95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583680" y="4434840"/>
            <a:ext cx="1965960" cy="274320"/>
          </a:xfrm>
          <a:prstGeom prst="rect">
            <a:avLst/>
          </a:prstGeom>
          <a:noFill/>
        </p:spPr>
        <p:txBody>
          <a:bodyPr wrap="square" anchor="t">
            <a:spAutoFit/>
          </a:bodyPr>
          <a:lstStyle/>
          <a:p>
            <a:pPr algn="l">
              <a:spcAft>
                <a:spcPts val="600"/>
              </a:spcAft>
            </a:pPr>
            <a:r>
              <a:rPr sz="900" b="1" i="0">
                <a:solidFill>
                  <a:srgbClr val="1F3A5F"/>
                </a:solidFill>
                <a:latin typeface="Calibri"/>
              </a:rPr>
              <a:t>Mar 26 · 16:30 · M. Silva</a:t>
            </a:r>
          </a:p>
        </p:txBody>
      </p:sp>
      <p:sp>
        <p:nvSpPr>
          <p:cNvPr id="53" name="Rectangle 52"/>
          <p:cNvSpPr/>
          <p:nvPr/>
        </p:nvSpPr>
        <p:spPr>
          <a:xfrm>
            <a:off x="8595360" y="4462272"/>
            <a:ext cx="566928" cy="219456"/>
          </a:xfrm>
          <a:prstGeom prst="rect">
            <a:avLst/>
          </a:prstGeom>
          <a:solidFill>
            <a:srgbClr val="C95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595360" y="4480560"/>
            <a:ext cx="566928" cy="201168"/>
          </a:xfrm>
          <a:prstGeom prst="rect">
            <a:avLst/>
          </a:prstGeom>
          <a:noFill/>
        </p:spPr>
        <p:txBody>
          <a:bodyPr wrap="square" anchor="t">
            <a:spAutoFit/>
          </a:bodyPr>
          <a:lstStyle/>
          <a:p>
            <a:pPr algn="ctr">
              <a:spcAft>
                <a:spcPts val="600"/>
              </a:spcAft>
            </a:pPr>
            <a:r>
              <a:rPr sz="750" b="1" i="0">
                <a:solidFill>
                  <a:srgbClr val="FFFFFF"/>
                </a:solidFill>
                <a:latin typeface="Calibri"/>
              </a:rPr>
              <a:t>ALTO</a:t>
            </a:r>
          </a:p>
        </p:txBody>
      </p:sp>
      <p:sp>
        <p:nvSpPr>
          <p:cNvPr id="55" name="TextBox 54"/>
          <p:cNvSpPr txBox="1"/>
          <p:nvPr/>
        </p:nvSpPr>
        <p:spPr>
          <a:xfrm>
            <a:off x="9281160" y="4453128"/>
            <a:ext cx="2103120" cy="274320"/>
          </a:xfrm>
          <a:prstGeom prst="rect">
            <a:avLst/>
          </a:prstGeom>
          <a:noFill/>
        </p:spPr>
        <p:txBody>
          <a:bodyPr wrap="square" anchor="t">
            <a:spAutoFit/>
          </a:bodyPr>
          <a:lstStyle/>
          <a:p>
            <a:pPr algn="l">
              <a:spcAft>
                <a:spcPts val="600"/>
              </a:spcAft>
            </a:pPr>
            <a:r>
              <a:rPr sz="850" b="0" i="0">
                <a:solidFill>
                  <a:srgbClr val="22303C"/>
                </a:solidFill>
                <a:latin typeface="Calibri"/>
              </a:rPr>
              <a:t>Ofrecer en lista de espera</a:t>
            </a:r>
          </a:p>
        </p:txBody>
      </p:sp>
      <p:sp>
        <p:nvSpPr>
          <p:cNvPr id="56" name="Rectangle 55"/>
          <p:cNvSpPr/>
          <p:nvPr/>
        </p:nvSpPr>
        <p:spPr>
          <a:xfrm>
            <a:off x="6446520" y="4809744"/>
            <a:ext cx="5029200" cy="38404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446520" y="4809744"/>
            <a:ext cx="54864" cy="3840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583680" y="4864607"/>
            <a:ext cx="1965960" cy="274320"/>
          </a:xfrm>
          <a:prstGeom prst="rect">
            <a:avLst/>
          </a:prstGeom>
          <a:noFill/>
        </p:spPr>
        <p:txBody>
          <a:bodyPr wrap="square" anchor="t">
            <a:spAutoFit/>
          </a:bodyPr>
          <a:lstStyle/>
          <a:p>
            <a:pPr algn="l">
              <a:spcAft>
                <a:spcPts val="600"/>
              </a:spcAft>
            </a:pPr>
            <a:r>
              <a:rPr sz="900" b="1" i="0">
                <a:solidFill>
                  <a:srgbClr val="1F3A5F"/>
                </a:solidFill>
                <a:latin typeface="Calibri"/>
              </a:rPr>
              <a:t>Mié 27 · 09:00 · C. Rivas</a:t>
            </a:r>
          </a:p>
        </p:txBody>
      </p:sp>
      <p:sp>
        <p:nvSpPr>
          <p:cNvPr id="59" name="Rectangle 58"/>
          <p:cNvSpPr/>
          <p:nvPr/>
        </p:nvSpPr>
        <p:spPr>
          <a:xfrm>
            <a:off x="8595360" y="4892040"/>
            <a:ext cx="566928" cy="219456"/>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595360" y="4910328"/>
            <a:ext cx="566928" cy="201168"/>
          </a:xfrm>
          <a:prstGeom prst="rect">
            <a:avLst/>
          </a:prstGeom>
          <a:noFill/>
        </p:spPr>
        <p:txBody>
          <a:bodyPr wrap="square" anchor="t">
            <a:spAutoFit/>
          </a:bodyPr>
          <a:lstStyle/>
          <a:p>
            <a:pPr algn="ctr">
              <a:spcAft>
                <a:spcPts val="600"/>
              </a:spcAft>
            </a:pPr>
            <a:r>
              <a:rPr sz="750" b="1" i="0">
                <a:solidFill>
                  <a:srgbClr val="FFFFFF"/>
                </a:solidFill>
                <a:latin typeface="Calibri"/>
              </a:rPr>
              <a:t>MEDIO</a:t>
            </a:r>
          </a:p>
        </p:txBody>
      </p:sp>
      <p:sp>
        <p:nvSpPr>
          <p:cNvPr id="61" name="TextBox 60"/>
          <p:cNvSpPr txBox="1"/>
          <p:nvPr/>
        </p:nvSpPr>
        <p:spPr>
          <a:xfrm>
            <a:off x="9281160" y="4882896"/>
            <a:ext cx="2103120" cy="274320"/>
          </a:xfrm>
          <a:prstGeom prst="rect">
            <a:avLst/>
          </a:prstGeom>
          <a:noFill/>
        </p:spPr>
        <p:txBody>
          <a:bodyPr wrap="square" anchor="t">
            <a:spAutoFit/>
          </a:bodyPr>
          <a:lstStyle/>
          <a:p>
            <a:pPr algn="l">
              <a:spcAft>
                <a:spcPts val="600"/>
              </a:spcAft>
            </a:pPr>
            <a:r>
              <a:rPr sz="850" b="0" i="0">
                <a:solidFill>
                  <a:srgbClr val="22303C"/>
                </a:solidFill>
                <a:latin typeface="Calibri"/>
              </a:rPr>
              <a:t>Reforzar recordatorio</a:t>
            </a:r>
          </a:p>
        </p:txBody>
      </p:sp>
      <p:sp>
        <p:nvSpPr>
          <p:cNvPr id="62" name="Rectangle 61"/>
          <p:cNvSpPr/>
          <p:nvPr/>
        </p:nvSpPr>
        <p:spPr>
          <a:xfrm>
            <a:off x="6446520" y="5239512"/>
            <a:ext cx="5029200" cy="384048"/>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446520" y="5239512"/>
            <a:ext cx="54864" cy="384048"/>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583680" y="5294375"/>
            <a:ext cx="1965960" cy="274320"/>
          </a:xfrm>
          <a:prstGeom prst="rect">
            <a:avLst/>
          </a:prstGeom>
          <a:noFill/>
        </p:spPr>
        <p:txBody>
          <a:bodyPr wrap="square" anchor="t">
            <a:spAutoFit/>
          </a:bodyPr>
          <a:lstStyle/>
          <a:p>
            <a:pPr algn="l">
              <a:spcAft>
                <a:spcPts val="600"/>
              </a:spcAft>
            </a:pPr>
            <a:r>
              <a:rPr sz="900" b="1" i="0">
                <a:solidFill>
                  <a:srgbClr val="1F3A5F"/>
                </a:solidFill>
                <a:latin typeface="Calibri"/>
              </a:rPr>
              <a:t>Mié 27 · 12:00 · P. Soto</a:t>
            </a:r>
          </a:p>
        </p:txBody>
      </p:sp>
      <p:sp>
        <p:nvSpPr>
          <p:cNvPr id="65" name="Rectangle 64"/>
          <p:cNvSpPr/>
          <p:nvPr/>
        </p:nvSpPr>
        <p:spPr>
          <a:xfrm>
            <a:off x="8595360" y="5321807"/>
            <a:ext cx="566928" cy="219456"/>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595360" y="5340096"/>
            <a:ext cx="566928" cy="201168"/>
          </a:xfrm>
          <a:prstGeom prst="rect">
            <a:avLst/>
          </a:prstGeom>
          <a:noFill/>
        </p:spPr>
        <p:txBody>
          <a:bodyPr wrap="square" anchor="t">
            <a:spAutoFit/>
          </a:bodyPr>
          <a:lstStyle/>
          <a:p>
            <a:pPr algn="ctr">
              <a:spcAft>
                <a:spcPts val="600"/>
              </a:spcAft>
            </a:pPr>
            <a:r>
              <a:rPr sz="750" b="1" i="0">
                <a:solidFill>
                  <a:srgbClr val="FFFFFF"/>
                </a:solidFill>
                <a:latin typeface="Calibri"/>
              </a:rPr>
              <a:t>BAJO</a:t>
            </a:r>
          </a:p>
        </p:txBody>
      </p:sp>
      <p:sp>
        <p:nvSpPr>
          <p:cNvPr id="67" name="TextBox 66"/>
          <p:cNvSpPr txBox="1"/>
          <p:nvPr/>
        </p:nvSpPr>
        <p:spPr>
          <a:xfrm>
            <a:off x="9281160" y="5312664"/>
            <a:ext cx="2103120" cy="274320"/>
          </a:xfrm>
          <a:prstGeom prst="rect">
            <a:avLst/>
          </a:prstGeom>
          <a:noFill/>
        </p:spPr>
        <p:txBody>
          <a:bodyPr wrap="square" anchor="t">
            <a:spAutoFit/>
          </a:bodyPr>
          <a:lstStyle/>
          <a:p>
            <a:pPr algn="l">
              <a:spcAft>
                <a:spcPts val="600"/>
              </a:spcAft>
            </a:pPr>
            <a:r>
              <a:rPr sz="850" b="0" i="0">
                <a:solidFill>
                  <a:srgbClr val="22303C"/>
                </a:solidFill>
                <a:latin typeface="Calibri"/>
              </a:rPr>
              <a:t>Sin acción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0241280" cy="640080"/>
          </a:xfrm>
          <a:prstGeom prst="rect">
            <a:avLst/>
          </a:prstGeom>
          <a:noFill/>
        </p:spPr>
        <p:txBody>
          <a:bodyPr wrap="square" anchor="t">
            <a:spAutoFit/>
          </a:bodyPr>
          <a:lstStyle/>
          <a:p>
            <a:pPr algn="l">
              <a:spcAft>
                <a:spcPts val="600"/>
              </a:spcAft>
            </a:pPr>
            <a:r>
              <a:rPr sz="2700" b="1" i="0">
                <a:solidFill>
                  <a:srgbClr val="FFFFFF"/>
                </a:solidFill>
                <a:latin typeface="Calibri"/>
              </a:rPr>
              <a:t>Arquitectura y tecnologías</a:t>
            </a:r>
          </a:p>
        </p:txBody>
      </p:sp>
      <p:sp>
        <p:nvSpPr>
          <p:cNvPr id="5" name="TextBox 4"/>
          <p:cNvSpPr txBox="1"/>
          <p:nvPr/>
        </p:nvSpPr>
        <p:spPr>
          <a:xfrm>
            <a:off x="11247120" y="347472"/>
            <a:ext cx="640080" cy="457200"/>
          </a:xfrm>
          <a:prstGeom prst="rect">
            <a:avLst/>
          </a:prstGeom>
          <a:noFill/>
        </p:spPr>
        <p:txBody>
          <a:bodyPr wrap="square" anchor="t">
            <a:spAutoFit/>
          </a:bodyPr>
          <a:lstStyle/>
          <a:p>
            <a:pPr algn="r">
              <a:spcAft>
                <a:spcPts val="600"/>
              </a:spcAft>
            </a:pPr>
            <a:r>
              <a:rPr sz="1400" b="0" i="0">
                <a:solidFill>
                  <a:srgbClr val="8FA8C4"/>
                </a:solidFill>
                <a:latin typeface="Calibri"/>
              </a:rPr>
              <a:t>11</a:t>
            </a:r>
          </a:p>
        </p:txBody>
      </p:sp>
      <p:sp>
        <p:nvSpPr>
          <p:cNvPr id="6" name="TextBox 5"/>
          <p:cNvSpPr txBox="1"/>
          <p:nvPr/>
        </p:nvSpPr>
        <p:spPr>
          <a:xfrm>
            <a:off x="548640" y="1325880"/>
            <a:ext cx="11064240" cy="457200"/>
          </a:xfrm>
          <a:prstGeom prst="rect">
            <a:avLst/>
          </a:prstGeom>
          <a:noFill/>
        </p:spPr>
        <p:txBody>
          <a:bodyPr wrap="square" anchor="t">
            <a:spAutoFit/>
          </a:bodyPr>
          <a:lstStyle/>
          <a:p>
            <a:pPr algn="l">
              <a:spcAft>
                <a:spcPts val="600"/>
              </a:spcAft>
            </a:pPr>
            <a:r>
              <a:rPr sz="1500" b="0" i="1">
                <a:solidFill>
                  <a:srgbClr val="2E5C8A"/>
                </a:solidFill>
                <a:latin typeface="Calibri"/>
              </a:rPr>
              <a:t>Qué construimos y con qué</a:t>
            </a:r>
          </a:p>
        </p:txBody>
      </p:sp>
      <p:graphicFrame>
        <p:nvGraphicFramePr>
          <p:cNvPr id="7" name="Table 6"/>
          <p:cNvGraphicFramePr>
            <a:graphicFrameLocks noGrp="1"/>
          </p:cNvGraphicFramePr>
          <p:nvPr/>
        </p:nvGraphicFramePr>
        <p:xfrm>
          <a:off x="548640" y="1920240"/>
          <a:ext cx="11100815" cy="3749039"/>
        </p:xfrm>
        <a:graphic>
          <a:graphicData uri="http://schemas.openxmlformats.org/drawingml/2006/table">
            <a:tbl>
              <a:tblPr firstRow="1" bandRow="1">
                <a:tableStyleId>{5C22544A-7EE6-4342-B048-85BDC9FD1C3A}</a:tableStyleId>
              </a:tblPr>
              <a:tblGrid>
                <a:gridCol w="2385299"/>
                <a:gridCol w="3394464"/>
                <a:gridCol w="5321052"/>
              </a:tblGrid>
              <a:tr h="374903">
                <a:tc>
                  <a:txBody>
                    <a:bodyPr wrap="square"/>
                    <a:lstStyle/>
                    <a:p>
                      <a:r>
                        <a:rPr sz="1150" b="1">
                          <a:solidFill>
                            <a:srgbClr val="FFFFFF"/>
                          </a:solidFill>
                          <a:latin typeface="Calibri"/>
                        </a:rPr>
                        <a:t>Componente</a:t>
                      </a:r>
                    </a:p>
                  </a:txBody>
                  <a:tcPr marL="82296" marR="82296" marT="45720" marB="45720">
                    <a:solidFill>
                      <a:srgbClr val="1F3A5F"/>
                    </a:solidFill>
                  </a:tcPr>
                </a:tc>
                <a:tc>
                  <a:txBody>
                    <a:bodyPr wrap="square"/>
                    <a:lstStyle/>
                    <a:p>
                      <a:r>
                        <a:rPr sz="1150" b="1">
                          <a:solidFill>
                            <a:srgbClr val="FFFFFF"/>
                          </a:solidFill>
                          <a:latin typeface="Calibri"/>
                        </a:rPr>
                        <a:t>Tecnología</a:t>
                      </a:r>
                    </a:p>
                  </a:txBody>
                  <a:tcPr marL="82296" marR="82296" marT="45720" marB="45720">
                    <a:solidFill>
                      <a:srgbClr val="1F3A5F"/>
                    </a:solidFill>
                  </a:tcPr>
                </a:tc>
                <a:tc>
                  <a:txBody>
                    <a:bodyPr wrap="square"/>
                    <a:lstStyle/>
                    <a:p>
                      <a:r>
                        <a:rPr sz="1150" b="1">
                          <a:solidFill>
                            <a:srgbClr val="FFFFFF"/>
                          </a:solidFill>
                          <a:latin typeface="Calibri"/>
                        </a:rPr>
                        <a:t>Función</a:t>
                      </a:r>
                    </a:p>
                  </a:txBody>
                  <a:tcPr marL="82296" marR="82296" marT="45720" marB="45720">
                    <a:solidFill>
                      <a:srgbClr val="1F3A5F"/>
                    </a:solidFill>
                  </a:tcPr>
                </a:tc>
              </a:tr>
              <a:tr h="374903">
                <a:tc>
                  <a:txBody>
                    <a:bodyPr wrap="square"/>
                    <a:lstStyle/>
                    <a:p>
                      <a:r>
                        <a:rPr sz="1150" b="0">
                          <a:solidFill>
                            <a:srgbClr val="22303C"/>
                          </a:solidFill>
                          <a:latin typeface="Calibri"/>
                        </a:rPr>
                        <a:t>Sistema base Huellitas</a:t>
                      </a:r>
                    </a:p>
                  </a:txBody>
                  <a:tcPr marL="82296" marR="82296" marT="45720" marB="45720">
                    <a:solidFill>
                      <a:srgbClr val="FFFFFF"/>
                    </a:solidFill>
                  </a:tcPr>
                </a:tc>
                <a:tc>
                  <a:txBody>
                    <a:bodyPr wrap="square"/>
                    <a:lstStyle/>
                    <a:p>
                      <a:r>
                        <a:rPr sz="1150" b="0">
                          <a:solidFill>
                            <a:srgbClr val="22303C"/>
                          </a:solidFill>
                          <a:latin typeface="Calibri"/>
                        </a:rPr>
                        <a:t>Django 4.2 · SQLite</a:t>
                      </a:r>
                    </a:p>
                  </a:txBody>
                  <a:tcPr marL="82296" marR="82296" marT="45720" marB="45720">
                    <a:solidFill>
                      <a:srgbClr val="FFFFFF"/>
                    </a:solidFill>
                  </a:tcPr>
                </a:tc>
                <a:tc>
                  <a:txBody>
                    <a:bodyPr wrap="square"/>
                    <a:lstStyle/>
                    <a:p>
                      <a:r>
                        <a:rPr sz="1150" b="0">
                          <a:solidFill>
                            <a:srgbClr val="22303C"/>
                          </a:solidFill>
                          <a:latin typeface="Calibri"/>
                        </a:rPr>
                        <a:t>Pacientes, profesionales, agenda, roles — preexistente</a:t>
                      </a:r>
                    </a:p>
                  </a:txBody>
                  <a:tcPr marL="82296" marR="82296" marT="45720" marB="45720">
                    <a:solidFill>
                      <a:srgbClr val="FFFFFF"/>
                    </a:solidFill>
                  </a:tcPr>
                </a:tc>
              </a:tr>
              <a:tr h="374903">
                <a:tc>
                  <a:txBody>
                    <a:bodyPr wrap="square"/>
                    <a:lstStyle/>
                    <a:p>
                      <a:r>
                        <a:rPr sz="1150" b="0">
                          <a:solidFill>
                            <a:srgbClr val="22303C"/>
                          </a:solidFill>
                          <a:latin typeface="Calibri"/>
                        </a:rPr>
                        <a:t>Extensión del modelo</a:t>
                      </a:r>
                    </a:p>
                  </a:txBody>
                  <a:tcPr marL="82296" marR="82296" marT="45720" marB="45720">
                    <a:solidFill>
                      <a:srgbClr val="F4F7FA"/>
                    </a:solidFill>
                  </a:tcPr>
                </a:tc>
                <a:tc>
                  <a:txBody>
                    <a:bodyPr wrap="square"/>
                    <a:lstStyle/>
                    <a:p>
                      <a:r>
                        <a:rPr sz="1150" b="0">
                          <a:solidFill>
                            <a:srgbClr val="22303C"/>
                          </a:solidFill>
                          <a:latin typeface="Calibri"/>
                        </a:rPr>
                        <a:t>Django ORM · migraciones</a:t>
                      </a:r>
                    </a:p>
                  </a:txBody>
                  <a:tcPr marL="82296" marR="82296" marT="45720" marB="45720">
                    <a:solidFill>
                      <a:srgbClr val="F4F7FA"/>
                    </a:solidFill>
                  </a:tcPr>
                </a:tc>
                <a:tc>
                  <a:txBody>
                    <a:bodyPr wrap="square"/>
                    <a:lstStyle/>
                    <a:p>
                      <a:r>
                        <a:rPr sz="1150" b="0">
                          <a:solidFill>
                            <a:srgbClr val="22303C"/>
                          </a:solidFill>
                          <a:latin typeface="Calibri"/>
                        </a:rPr>
                        <a:t>Registro de inasistencia y variables predictoras — aporte del equipo</a:t>
                      </a:r>
                    </a:p>
                  </a:txBody>
                  <a:tcPr marL="82296" marR="82296" marT="45720" marB="45720">
                    <a:solidFill>
                      <a:srgbClr val="F4F7FA"/>
                    </a:solidFill>
                  </a:tcPr>
                </a:tc>
              </a:tr>
              <a:tr h="374903">
                <a:tc>
                  <a:txBody>
                    <a:bodyPr wrap="square"/>
                    <a:lstStyle/>
                    <a:p>
                      <a:r>
                        <a:rPr sz="1150" b="0">
                          <a:solidFill>
                            <a:srgbClr val="22303C"/>
                          </a:solidFill>
                          <a:latin typeface="Calibri"/>
                        </a:rPr>
                        <a:t>Modelamiento del proceso</a:t>
                      </a:r>
                    </a:p>
                  </a:txBody>
                  <a:tcPr marL="82296" marR="82296" marT="45720" marB="45720">
                    <a:solidFill>
                      <a:srgbClr val="FFFFFF"/>
                    </a:solidFill>
                  </a:tcPr>
                </a:tc>
                <a:tc>
                  <a:txBody>
                    <a:bodyPr wrap="square"/>
                    <a:lstStyle/>
                    <a:p>
                      <a:r>
                        <a:rPr sz="1150" b="0">
                          <a:solidFill>
                            <a:srgbClr val="22303C"/>
                          </a:solidFill>
                          <a:latin typeface="Calibri"/>
                        </a:rPr>
                        <a:t>BPMN — Bizagi Modeler</a:t>
                      </a:r>
                    </a:p>
                  </a:txBody>
                  <a:tcPr marL="82296" marR="82296" marT="45720" marB="45720">
                    <a:solidFill>
                      <a:srgbClr val="FFFFFF"/>
                    </a:solidFill>
                  </a:tcPr>
                </a:tc>
                <a:tc>
                  <a:txBody>
                    <a:bodyPr wrap="square"/>
                    <a:lstStyle/>
                    <a:p>
                      <a:r>
                        <a:rPr sz="1150" b="0">
                          <a:solidFill>
                            <a:srgbClr val="22303C"/>
                          </a:solidFill>
                          <a:latin typeface="Calibri"/>
                        </a:rPr>
                        <a:t>Representación formal del proceso y sus puntos críticos</a:t>
                      </a:r>
                    </a:p>
                  </a:txBody>
                  <a:tcPr marL="82296" marR="82296" marT="45720" marB="45720">
                    <a:solidFill>
                      <a:srgbClr val="FFFFFF"/>
                    </a:solidFill>
                  </a:tcPr>
                </a:tc>
              </a:tr>
              <a:tr h="374903">
                <a:tc>
                  <a:txBody>
                    <a:bodyPr wrap="square"/>
                    <a:lstStyle/>
                    <a:p>
                      <a:r>
                        <a:rPr sz="1150" b="0">
                          <a:solidFill>
                            <a:srgbClr val="22303C"/>
                          </a:solidFill>
                          <a:latin typeface="Calibri"/>
                        </a:rPr>
                        <a:t>Indicadores de gestión</a:t>
                      </a:r>
                    </a:p>
                  </a:txBody>
                  <a:tcPr marL="82296" marR="82296" marT="45720" marB="45720">
                    <a:solidFill>
                      <a:srgbClr val="F4F7FA"/>
                    </a:solidFill>
                  </a:tcPr>
                </a:tc>
                <a:tc>
                  <a:txBody>
                    <a:bodyPr wrap="square"/>
                    <a:lstStyle/>
                    <a:p>
                      <a:r>
                        <a:rPr sz="1150" b="0">
                          <a:solidFill>
                            <a:srgbClr val="22303C"/>
                          </a:solidFill>
                          <a:latin typeface="Calibri"/>
                        </a:rPr>
                        <a:t>Consultas SQL</a:t>
                      </a:r>
                    </a:p>
                  </a:txBody>
                  <a:tcPr marL="82296" marR="82296" marT="45720" marB="45720">
                    <a:solidFill>
                      <a:srgbClr val="F4F7FA"/>
                    </a:solidFill>
                  </a:tcPr>
                </a:tc>
                <a:tc>
                  <a:txBody>
                    <a:bodyPr wrap="square"/>
                    <a:lstStyle/>
                    <a:p>
                      <a:r>
                        <a:rPr sz="1150" b="0">
                          <a:solidFill>
                            <a:srgbClr val="22303C"/>
                          </a:solidFill>
                          <a:latin typeface="Calibri"/>
                        </a:rPr>
                        <a:t>Tasa de inasistencia, distribución e impacto económico</a:t>
                      </a:r>
                    </a:p>
                  </a:txBody>
                  <a:tcPr marL="82296" marR="82296" marT="45720" marB="45720">
                    <a:solidFill>
                      <a:srgbClr val="F4F7FA"/>
                    </a:solidFill>
                  </a:tcPr>
                </a:tc>
              </a:tr>
              <a:tr h="374903">
                <a:tc>
                  <a:txBody>
                    <a:bodyPr wrap="square"/>
                    <a:lstStyle/>
                    <a:p>
                      <a:r>
                        <a:rPr sz="1150" b="0">
                          <a:solidFill>
                            <a:srgbClr val="22303C"/>
                          </a:solidFill>
                          <a:latin typeface="Calibri"/>
                        </a:rPr>
                        <a:t>Modelo predictivo</a:t>
                      </a:r>
                    </a:p>
                  </a:txBody>
                  <a:tcPr marL="82296" marR="82296" marT="45720" marB="45720">
                    <a:solidFill>
                      <a:srgbClr val="FFFFFF"/>
                    </a:solidFill>
                  </a:tcPr>
                </a:tc>
                <a:tc>
                  <a:txBody>
                    <a:bodyPr wrap="square"/>
                    <a:lstStyle/>
                    <a:p>
                      <a:r>
                        <a:rPr sz="1150" b="0">
                          <a:solidFill>
                            <a:srgbClr val="22303C"/>
                          </a:solidFill>
                          <a:latin typeface="Calibri"/>
                        </a:rPr>
                        <a:t>Puntuación por reglas en SQL
(opcional: Python + scikit-learn)</a:t>
                      </a:r>
                    </a:p>
                  </a:txBody>
                  <a:tcPr marL="82296" marR="82296" marT="45720" marB="45720">
                    <a:solidFill>
                      <a:srgbClr val="FFFFFF"/>
                    </a:solidFill>
                  </a:tcPr>
                </a:tc>
                <a:tc>
                  <a:txBody>
                    <a:bodyPr wrap="square"/>
                    <a:lstStyle/>
                    <a:p>
                      <a:r>
                        <a:rPr sz="1150" b="0">
                          <a:solidFill>
                            <a:srgbClr val="22303C"/>
                          </a:solidFill>
                          <a:latin typeface="Calibri"/>
                        </a:rPr>
                        <a:t>Probabilidad de inasistencia y clasificación por nivel de riesgo</a:t>
                      </a:r>
                    </a:p>
                  </a:txBody>
                  <a:tcPr marL="82296" marR="82296" marT="45720" marB="45720">
                    <a:solidFill>
                      <a:srgbClr val="FFFFFF"/>
                    </a:solidFill>
                  </a:tcPr>
                </a:tc>
              </a:tr>
              <a:tr h="374903">
                <a:tc>
                  <a:txBody>
                    <a:bodyPr wrap="square"/>
                    <a:lstStyle/>
                    <a:p>
                      <a:r>
                        <a:rPr sz="1150" b="0">
                          <a:solidFill>
                            <a:srgbClr val="22303C"/>
                          </a:solidFill>
                          <a:latin typeface="Calibri"/>
                        </a:rPr>
                        <a:t>Tablero</a:t>
                      </a:r>
                    </a:p>
                  </a:txBody>
                  <a:tcPr marL="82296" marR="82296" marT="45720" marB="45720">
                    <a:solidFill>
                      <a:srgbClr val="F4F7FA"/>
                    </a:solidFill>
                  </a:tcPr>
                </a:tc>
                <a:tc>
                  <a:txBody>
                    <a:bodyPr wrap="square"/>
                    <a:lstStyle/>
                    <a:p>
                      <a:r>
                        <a:rPr sz="1150" b="0">
                          <a:solidFill>
                            <a:srgbClr val="22303C"/>
                          </a:solidFill>
                          <a:latin typeface="Calibri"/>
                        </a:rPr>
                        <a:t>Power BI Desktop</a:t>
                      </a:r>
                    </a:p>
                  </a:txBody>
                  <a:tcPr marL="82296" marR="82296" marT="45720" marB="45720">
                    <a:solidFill>
                      <a:srgbClr val="F4F7FA"/>
                    </a:solidFill>
                  </a:tcPr>
                </a:tc>
                <a:tc>
                  <a:txBody>
                    <a:bodyPr wrap="square"/>
                    <a:lstStyle/>
                    <a:p>
                      <a:r>
                        <a:rPr sz="1150" b="0">
                          <a:solidFill>
                            <a:srgbClr val="22303C"/>
                          </a:solidFill>
                          <a:latin typeface="Calibri"/>
                        </a:rPr>
                        <a:t>Indicadores, horas en riesgo y acción recomendada</a:t>
                      </a:r>
                    </a:p>
                  </a:txBody>
                  <a:tcPr marL="82296" marR="82296" marT="45720" marB="45720">
                    <a:solidFill>
                      <a:srgbClr val="F4F7FA"/>
                    </a:solidFill>
                  </a:tcPr>
                </a:tc>
              </a:tr>
              <a:tr h="374903">
                <a:tc>
                  <a:txBody>
                    <a:bodyPr wrap="square"/>
                    <a:lstStyle/>
                    <a:p>
                      <a:r>
                        <a:rPr sz="1150" b="0">
                          <a:solidFill>
                            <a:srgbClr val="22303C"/>
                          </a:solidFill>
                          <a:latin typeface="Calibri"/>
                        </a:rPr>
                        <a:t>Prototipo de interfaz</a:t>
                      </a:r>
                    </a:p>
                  </a:txBody>
                  <a:tcPr marL="82296" marR="82296" marT="45720" marB="45720">
                    <a:solidFill>
                      <a:srgbClr val="FFFFFF"/>
                    </a:solidFill>
                  </a:tcPr>
                </a:tc>
                <a:tc>
                  <a:txBody>
                    <a:bodyPr wrap="square"/>
                    <a:lstStyle/>
                    <a:p>
                      <a:r>
                        <a:rPr sz="1150" b="0">
                          <a:solidFill>
                            <a:srgbClr val="22303C"/>
                          </a:solidFill>
                          <a:latin typeface="Calibri"/>
                        </a:rPr>
                        <a:t>Figma</a:t>
                      </a:r>
                    </a:p>
                  </a:txBody>
                  <a:tcPr marL="82296" marR="82296" marT="45720" marB="45720">
                    <a:solidFill>
                      <a:srgbClr val="FFFFFF"/>
                    </a:solidFill>
                  </a:tcPr>
                </a:tc>
                <a:tc>
                  <a:txBody>
                    <a:bodyPr wrap="square"/>
                    <a:lstStyle/>
                    <a:p>
                      <a:r>
                        <a:rPr sz="1150" b="0">
                          <a:solidFill>
                            <a:srgbClr val="22303C"/>
                          </a:solidFill>
                          <a:latin typeface="Calibri"/>
                        </a:rPr>
                        <a:t>Especificación navegable de la app del tutor</a:t>
                      </a:r>
                    </a:p>
                  </a:txBody>
                  <a:tcPr marL="82296" marR="82296" marT="45720" marB="45720">
                    <a:solidFill>
                      <a:srgbClr val="FFFFFF"/>
                    </a:solidFill>
                  </a:tcPr>
                </a:tc>
              </a:tr>
              <a:tr h="374903">
                <a:tc>
                  <a:txBody>
                    <a:bodyPr wrap="square"/>
                    <a:lstStyle/>
                    <a:p>
                      <a:r>
                        <a:rPr sz="1150" b="0">
                          <a:solidFill>
                            <a:srgbClr val="22303C"/>
                          </a:solidFill>
                          <a:latin typeface="Calibri"/>
                        </a:rPr>
                        <a:t>Pruebas</a:t>
                      </a:r>
                    </a:p>
                  </a:txBody>
                  <a:tcPr marL="82296" marR="82296" marT="45720" marB="45720">
                    <a:solidFill>
                      <a:srgbClr val="F4F7FA"/>
                    </a:solidFill>
                  </a:tcPr>
                </a:tc>
                <a:tc>
                  <a:txBody>
                    <a:bodyPr wrap="square"/>
                    <a:lstStyle/>
                    <a:p>
                      <a:r>
                        <a:rPr sz="1150" b="0">
                          <a:solidFill>
                            <a:srgbClr val="22303C"/>
                          </a:solidFill>
                          <a:latin typeface="Calibri"/>
                        </a:rPr>
                        <a:t>Katalon Studio · Postman</a:t>
                      </a:r>
                    </a:p>
                  </a:txBody>
                  <a:tcPr marL="82296" marR="82296" marT="45720" marB="45720">
                    <a:solidFill>
                      <a:srgbClr val="F4F7FA"/>
                    </a:solidFill>
                  </a:tcPr>
                </a:tc>
                <a:tc>
                  <a:txBody>
                    <a:bodyPr wrap="square"/>
                    <a:lstStyle/>
                    <a:p>
                      <a:r>
                        <a:rPr sz="1150" b="0">
                          <a:solidFill>
                            <a:srgbClr val="22303C"/>
                          </a:solidFill>
                          <a:latin typeface="Calibri"/>
                        </a:rPr>
                        <a:t>Integridad del modelo, exactitud de indicadores y del modelo predictivo</a:t>
                      </a:r>
                    </a:p>
                  </a:txBody>
                  <a:tcPr marL="82296" marR="82296" marT="45720" marB="45720">
                    <a:solidFill>
                      <a:srgbClr val="F4F7FA"/>
                    </a:solidFill>
                  </a:tcPr>
                </a:tc>
              </a:tr>
              <a:tr h="374912">
                <a:tc>
                  <a:txBody>
                    <a:bodyPr wrap="square"/>
                    <a:lstStyle/>
                    <a:p>
                      <a:r>
                        <a:rPr sz="1150" b="0">
                          <a:solidFill>
                            <a:srgbClr val="22303C"/>
                          </a:solidFill>
                          <a:latin typeface="Calibri"/>
                        </a:rPr>
                        <a:t>Control de versiones</a:t>
                      </a:r>
                    </a:p>
                  </a:txBody>
                  <a:tcPr marL="82296" marR="82296" marT="45720" marB="45720">
                    <a:solidFill>
                      <a:srgbClr val="FFFFFF"/>
                    </a:solidFill>
                  </a:tcPr>
                </a:tc>
                <a:tc>
                  <a:txBody>
                    <a:bodyPr wrap="square"/>
                    <a:lstStyle/>
                    <a:p>
                      <a:r>
                        <a:rPr sz="1150" b="0">
                          <a:solidFill>
                            <a:srgbClr val="22303C"/>
                          </a:solidFill>
                          <a:latin typeface="Calibri"/>
                        </a:rPr>
                        <a:t>Git · GitHub</a:t>
                      </a:r>
                    </a:p>
                  </a:txBody>
                  <a:tcPr marL="82296" marR="82296" marT="45720" marB="45720">
                    <a:solidFill>
                      <a:srgbClr val="FFFFFF"/>
                    </a:solidFill>
                  </a:tcPr>
                </a:tc>
                <a:tc>
                  <a:txBody>
                    <a:bodyPr wrap="square"/>
                    <a:lstStyle/>
                    <a:p>
                      <a:r>
                        <a:rPr sz="1150" b="0">
                          <a:solidFill>
                            <a:srgbClr val="22303C"/>
                          </a:solidFill>
                          <a:latin typeface="Calibri"/>
                        </a:rPr>
                        <a:t>Trazabilidad del desarrollo y de los aportes individuales</a:t>
                      </a:r>
                    </a:p>
                  </a:txBody>
                  <a:tcPr marL="82296" marR="82296" marT="45720" marB="45720">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0241280" cy="640080"/>
          </a:xfrm>
          <a:prstGeom prst="rect">
            <a:avLst/>
          </a:prstGeom>
          <a:noFill/>
        </p:spPr>
        <p:txBody>
          <a:bodyPr wrap="square" anchor="t">
            <a:spAutoFit/>
          </a:bodyPr>
          <a:lstStyle/>
          <a:p>
            <a:pPr algn="l">
              <a:spcAft>
                <a:spcPts val="600"/>
              </a:spcAft>
            </a:pPr>
            <a:r>
              <a:rPr sz="2700" b="1" i="0">
                <a:solidFill>
                  <a:srgbClr val="FFFFFF"/>
                </a:solidFill>
                <a:latin typeface="Calibri"/>
              </a:rPr>
              <a:t>Metodología</a:t>
            </a:r>
          </a:p>
        </p:txBody>
      </p:sp>
      <p:sp>
        <p:nvSpPr>
          <p:cNvPr id="5" name="TextBox 4"/>
          <p:cNvSpPr txBox="1"/>
          <p:nvPr/>
        </p:nvSpPr>
        <p:spPr>
          <a:xfrm>
            <a:off x="11247120" y="347472"/>
            <a:ext cx="640080" cy="457200"/>
          </a:xfrm>
          <a:prstGeom prst="rect">
            <a:avLst/>
          </a:prstGeom>
          <a:noFill/>
        </p:spPr>
        <p:txBody>
          <a:bodyPr wrap="square" anchor="t">
            <a:spAutoFit/>
          </a:bodyPr>
          <a:lstStyle/>
          <a:p>
            <a:pPr algn="r">
              <a:spcAft>
                <a:spcPts val="600"/>
              </a:spcAft>
            </a:pPr>
            <a:r>
              <a:rPr sz="1400" b="0" i="0">
                <a:solidFill>
                  <a:srgbClr val="8FA8C4"/>
                </a:solidFill>
                <a:latin typeface="Calibri"/>
              </a:rPr>
              <a:t>12</a:t>
            </a:r>
          </a:p>
        </p:txBody>
      </p:sp>
      <p:sp>
        <p:nvSpPr>
          <p:cNvPr id="6" name="TextBox 5"/>
          <p:cNvSpPr txBox="1"/>
          <p:nvPr/>
        </p:nvSpPr>
        <p:spPr>
          <a:xfrm>
            <a:off x="548640" y="1325880"/>
            <a:ext cx="11064240" cy="457200"/>
          </a:xfrm>
          <a:prstGeom prst="rect">
            <a:avLst/>
          </a:prstGeom>
          <a:noFill/>
        </p:spPr>
        <p:txBody>
          <a:bodyPr wrap="square" anchor="t">
            <a:spAutoFit/>
          </a:bodyPr>
          <a:lstStyle/>
          <a:p>
            <a:pPr algn="l">
              <a:spcAft>
                <a:spcPts val="600"/>
              </a:spcAft>
            </a:pPr>
            <a:r>
              <a:rPr sz="1500" b="0" i="1">
                <a:solidFill>
                  <a:srgbClr val="2E5C8A"/>
                </a:solidFill>
                <a:latin typeface="Calibri"/>
              </a:rPr>
              <a:t>CRISP-DM para el análisis, marco ágil para la gestión</a:t>
            </a:r>
          </a:p>
        </p:txBody>
      </p:sp>
      <p:sp>
        <p:nvSpPr>
          <p:cNvPr id="7" name="Rectangle 6"/>
          <p:cNvSpPr/>
          <p:nvPr/>
        </p:nvSpPr>
        <p:spPr>
          <a:xfrm>
            <a:off x="548640" y="2103120"/>
            <a:ext cx="1664208" cy="12344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331720"/>
            <a:ext cx="1481328" cy="822960"/>
          </a:xfrm>
          <a:prstGeom prst="rect">
            <a:avLst/>
          </a:prstGeom>
          <a:noFill/>
        </p:spPr>
        <p:txBody>
          <a:bodyPr wrap="square" anchor="t">
            <a:spAutoFit/>
          </a:bodyPr>
          <a:lstStyle/>
          <a:p>
            <a:pPr algn="ctr">
              <a:spcAft>
                <a:spcPts val="600"/>
              </a:spcAft>
            </a:pPr>
            <a:r>
              <a:rPr sz="1200" b="1" i="0">
                <a:solidFill>
                  <a:srgbClr val="FFFFFF"/>
                </a:solidFill>
                <a:latin typeface="Calibri"/>
              </a:rPr>
              <a:t>Comprensión del negocio</a:t>
            </a:r>
          </a:p>
        </p:txBody>
      </p:sp>
      <p:sp>
        <p:nvSpPr>
          <p:cNvPr id="9" name="Right Arrow 8"/>
          <p:cNvSpPr/>
          <p:nvPr/>
        </p:nvSpPr>
        <p:spPr>
          <a:xfrm>
            <a:off x="2249424" y="2606040"/>
            <a:ext cx="182880" cy="228600"/>
          </a:xfrm>
          <a:prstGeom prst="rightArrow">
            <a:avLst/>
          </a:prstGeom>
          <a:solidFill>
            <a:srgbClr val="8A9A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432304" y="2103120"/>
            <a:ext cx="1664208" cy="12344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23744" y="2331720"/>
            <a:ext cx="1481328" cy="822960"/>
          </a:xfrm>
          <a:prstGeom prst="rect">
            <a:avLst/>
          </a:prstGeom>
          <a:noFill/>
        </p:spPr>
        <p:txBody>
          <a:bodyPr wrap="square" anchor="t">
            <a:spAutoFit/>
          </a:bodyPr>
          <a:lstStyle/>
          <a:p>
            <a:pPr algn="ctr">
              <a:spcAft>
                <a:spcPts val="600"/>
              </a:spcAft>
            </a:pPr>
            <a:r>
              <a:rPr sz="1200" b="1" i="0">
                <a:solidFill>
                  <a:srgbClr val="FFFFFF"/>
                </a:solidFill>
                <a:latin typeface="Calibri"/>
              </a:rPr>
              <a:t>Comprensión de los datos</a:t>
            </a:r>
          </a:p>
        </p:txBody>
      </p:sp>
      <p:sp>
        <p:nvSpPr>
          <p:cNvPr id="12" name="Right Arrow 11"/>
          <p:cNvSpPr/>
          <p:nvPr/>
        </p:nvSpPr>
        <p:spPr>
          <a:xfrm>
            <a:off x="4133088" y="2606040"/>
            <a:ext cx="182880" cy="228600"/>
          </a:xfrm>
          <a:prstGeom prst="rightArrow">
            <a:avLst/>
          </a:prstGeom>
          <a:solidFill>
            <a:srgbClr val="8A9A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2103120"/>
            <a:ext cx="1664208" cy="12344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07408" y="2331720"/>
            <a:ext cx="1481328" cy="822960"/>
          </a:xfrm>
          <a:prstGeom prst="rect">
            <a:avLst/>
          </a:prstGeom>
          <a:noFill/>
        </p:spPr>
        <p:txBody>
          <a:bodyPr wrap="square" anchor="t">
            <a:spAutoFit/>
          </a:bodyPr>
          <a:lstStyle/>
          <a:p>
            <a:pPr algn="ctr">
              <a:spcAft>
                <a:spcPts val="600"/>
              </a:spcAft>
            </a:pPr>
            <a:r>
              <a:rPr sz="1200" b="1" i="0">
                <a:solidFill>
                  <a:srgbClr val="FFFFFF"/>
                </a:solidFill>
                <a:latin typeface="Calibri"/>
              </a:rPr>
              <a:t>Preparación de los datos</a:t>
            </a:r>
          </a:p>
        </p:txBody>
      </p:sp>
      <p:sp>
        <p:nvSpPr>
          <p:cNvPr id="15" name="Right Arrow 14"/>
          <p:cNvSpPr/>
          <p:nvPr/>
        </p:nvSpPr>
        <p:spPr>
          <a:xfrm>
            <a:off x="6016752" y="2606040"/>
            <a:ext cx="182880" cy="228600"/>
          </a:xfrm>
          <a:prstGeom prst="rightArrow">
            <a:avLst/>
          </a:prstGeom>
          <a:solidFill>
            <a:srgbClr val="8A9A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9632" y="2103120"/>
            <a:ext cx="1664208" cy="1234440"/>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91072" y="2331720"/>
            <a:ext cx="1481328" cy="822960"/>
          </a:xfrm>
          <a:prstGeom prst="rect">
            <a:avLst/>
          </a:prstGeom>
          <a:noFill/>
        </p:spPr>
        <p:txBody>
          <a:bodyPr wrap="square" anchor="t">
            <a:spAutoFit/>
          </a:bodyPr>
          <a:lstStyle/>
          <a:p>
            <a:pPr algn="ctr">
              <a:spcAft>
                <a:spcPts val="600"/>
              </a:spcAft>
            </a:pPr>
            <a:r>
              <a:rPr sz="1200" b="1" i="0">
                <a:solidFill>
                  <a:srgbClr val="FFFFFF"/>
                </a:solidFill>
                <a:latin typeface="Calibri"/>
              </a:rPr>
              <a:t>Modelado</a:t>
            </a:r>
          </a:p>
        </p:txBody>
      </p:sp>
      <p:sp>
        <p:nvSpPr>
          <p:cNvPr id="18" name="Right Arrow 17"/>
          <p:cNvSpPr/>
          <p:nvPr/>
        </p:nvSpPr>
        <p:spPr>
          <a:xfrm>
            <a:off x="7900416" y="2606040"/>
            <a:ext cx="182880" cy="228600"/>
          </a:xfrm>
          <a:prstGeom prst="rightArrow">
            <a:avLst/>
          </a:prstGeom>
          <a:solidFill>
            <a:srgbClr val="8A9A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83296" y="2103120"/>
            <a:ext cx="1664208" cy="1234440"/>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74736" y="2331720"/>
            <a:ext cx="1481328" cy="822960"/>
          </a:xfrm>
          <a:prstGeom prst="rect">
            <a:avLst/>
          </a:prstGeom>
          <a:noFill/>
        </p:spPr>
        <p:txBody>
          <a:bodyPr wrap="square" anchor="t">
            <a:spAutoFit/>
          </a:bodyPr>
          <a:lstStyle/>
          <a:p>
            <a:pPr algn="ctr">
              <a:spcAft>
                <a:spcPts val="600"/>
              </a:spcAft>
            </a:pPr>
            <a:r>
              <a:rPr sz="1200" b="1" i="0">
                <a:solidFill>
                  <a:srgbClr val="FFFFFF"/>
                </a:solidFill>
                <a:latin typeface="Calibri"/>
              </a:rPr>
              <a:t>Evaluación</a:t>
            </a:r>
          </a:p>
        </p:txBody>
      </p:sp>
      <p:sp>
        <p:nvSpPr>
          <p:cNvPr id="21" name="Right Arrow 20"/>
          <p:cNvSpPr/>
          <p:nvPr/>
        </p:nvSpPr>
        <p:spPr>
          <a:xfrm>
            <a:off x="9784080" y="2606040"/>
            <a:ext cx="182880" cy="228600"/>
          </a:xfrm>
          <a:prstGeom prst="rightArrow">
            <a:avLst/>
          </a:prstGeom>
          <a:solidFill>
            <a:srgbClr val="8A9A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966960" y="2103120"/>
            <a:ext cx="1664208" cy="1234440"/>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0" y="2331720"/>
            <a:ext cx="1481328" cy="822960"/>
          </a:xfrm>
          <a:prstGeom prst="rect">
            <a:avLst/>
          </a:prstGeom>
          <a:noFill/>
        </p:spPr>
        <p:txBody>
          <a:bodyPr wrap="square" anchor="t">
            <a:spAutoFit/>
          </a:bodyPr>
          <a:lstStyle/>
          <a:p>
            <a:pPr algn="ctr">
              <a:spcAft>
                <a:spcPts val="600"/>
              </a:spcAft>
            </a:pPr>
            <a:r>
              <a:rPr sz="1200" b="1" i="0">
                <a:solidFill>
                  <a:srgbClr val="FFFFFF"/>
                </a:solidFill>
                <a:latin typeface="Calibri"/>
              </a:rPr>
              <a:t>Despliegue</a:t>
            </a:r>
          </a:p>
        </p:txBody>
      </p:sp>
      <p:sp>
        <p:nvSpPr>
          <p:cNvPr id="24" name="Rectangle 23"/>
          <p:cNvSpPr/>
          <p:nvPr/>
        </p:nvSpPr>
        <p:spPr>
          <a:xfrm>
            <a:off x="548640" y="3657600"/>
            <a:ext cx="3566160" cy="210312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657600"/>
            <a:ext cx="64008" cy="2103120"/>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 y="3822191"/>
            <a:ext cx="3108960" cy="384048"/>
          </a:xfrm>
          <a:prstGeom prst="rect">
            <a:avLst/>
          </a:prstGeom>
          <a:noFill/>
        </p:spPr>
        <p:txBody>
          <a:bodyPr wrap="square" anchor="t">
            <a:spAutoFit/>
          </a:bodyPr>
          <a:lstStyle/>
          <a:p>
            <a:pPr algn="l">
              <a:spcAft>
                <a:spcPts val="600"/>
              </a:spcAft>
            </a:pPr>
            <a:r>
              <a:rPr sz="1500" b="1" i="0">
                <a:solidFill>
                  <a:srgbClr val="1F3A5F"/>
                </a:solidFill>
                <a:latin typeface="Calibri"/>
              </a:rPr>
              <a:t>Gestión ágil</a:t>
            </a:r>
          </a:p>
        </p:txBody>
      </p:sp>
      <p:sp>
        <p:nvSpPr>
          <p:cNvPr id="27" name="TextBox 26"/>
          <p:cNvSpPr txBox="1"/>
          <p:nvPr/>
        </p:nvSpPr>
        <p:spPr>
          <a:xfrm>
            <a:off x="804672" y="4315968"/>
            <a:ext cx="3108960" cy="1280160"/>
          </a:xfrm>
          <a:prstGeom prst="rect">
            <a:avLst/>
          </a:prstGeom>
          <a:noFill/>
        </p:spPr>
        <p:txBody>
          <a:bodyPr wrap="square" anchor="t">
            <a:spAutoFit/>
          </a:bodyPr>
          <a:lstStyle/>
          <a:p>
            <a:pPr algn="l">
              <a:spcAft>
                <a:spcPts val="300"/>
              </a:spcAft>
            </a:pPr>
            <a:r>
              <a:rPr sz="1300" b="0" i="0">
                <a:solidFill>
                  <a:srgbClr val="22303C"/>
                </a:solidFill>
                <a:latin typeface="Calibri"/>
              </a:rPr>
              <a:t>Incrementos de 2 semanas, cada uno con un entregable verificable. Revisión de avance al cierre de cada incremento contra la carta Gantt.</a:t>
            </a:r>
          </a:p>
        </p:txBody>
      </p:sp>
      <p:sp>
        <p:nvSpPr>
          <p:cNvPr id="28" name="Rectangle 27"/>
          <p:cNvSpPr/>
          <p:nvPr/>
        </p:nvSpPr>
        <p:spPr>
          <a:xfrm>
            <a:off x="4315968" y="3657600"/>
            <a:ext cx="3566160" cy="210312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15968" y="3657600"/>
            <a:ext cx="64008" cy="21031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0" y="3822191"/>
            <a:ext cx="3108960" cy="384048"/>
          </a:xfrm>
          <a:prstGeom prst="rect">
            <a:avLst/>
          </a:prstGeom>
          <a:noFill/>
        </p:spPr>
        <p:txBody>
          <a:bodyPr wrap="square" anchor="t">
            <a:spAutoFit/>
          </a:bodyPr>
          <a:lstStyle/>
          <a:p>
            <a:pPr algn="l">
              <a:spcAft>
                <a:spcPts val="600"/>
              </a:spcAft>
            </a:pPr>
            <a:r>
              <a:rPr sz="1500" b="1" i="0">
                <a:solidFill>
                  <a:srgbClr val="1F3A5F"/>
                </a:solidFill>
                <a:latin typeface="Calibri"/>
              </a:rPr>
              <a:t>Gestión de riesgos</a:t>
            </a:r>
          </a:p>
        </p:txBody>
      </p:sp>
      <p:sp>
        <p:nvSpPr>
          <p:cNvPr id="31" name="TextBox 30"/>
          <p:cNvSpPr txBox="1"/>
          <p:nvPr/>
        </p:nvSpPr>
        <p:spPr>
          <a:xfrm>
            <a:off x="4572000" y="4315968"/>
            <a:ext cx="3108960" cy="1280160"/>
          </a:xfrm>
          <a:prstGeom prst="rect">
            <a:avLst/>
          </a:prstGeom>
          <a:noFill/>
        </p:spPr>
        <p:txBody>
          <a:bodyPr wrap="square" anchor="t">
            <a:spAutoFit/>
          </a:bodyPr>
          <a:lstStyle/>
          <a:p>
            <a:pPr algn="l">
              <a:spcAft>
                <a:spcPts val="300"/>
              </a:spcAft>
            </a:pPr>
            <a:r>
              <a:rPr sz="1300" b="0" i="0">
                <a:solidFill>
                  <a:srgbClr val="22303C"/>
                </a:solidFill>
                <a:latin typeface="Calibri"/>
              </a:rPr>
              <a:t>Matriz de probabilidad e impacto revisada en cada incremento, con plan de mitigación y contingencia. Es método y a la vez objeto del proyecto.</a:t>
            </a:r>
          </a:p>
        </p:txBody>
      </p:sp>
      <p:sp>
        <p:nvSpPr>
          <p:cNvPr id="32" name="Rectangle 31"/>
          <p:cNvSpPr/>
          <p:nvPr/>
        </p:nvSpPr>
        <p:spPr>
          <a:xfrm>
            <a:off x="8083296" y="3657600"/>
            <a:ext cx="3566160" cy="210312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83296" y="3657600"/>
            <a:ext cx="64008" cy="2103120"/>
          </a:xfrm>
          <a:prstGeom prst="rect">
            <a:avLst/>
          </a:prstGeom>
          <a:solidFill>
            <a:srgbClr val="C95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39327" y="3822191"/>
            <a:ext cx="3108960" cy="384048"/>
          </a:xfrm>
          <a:prstGeom prst="rect">
            <a:avLst/>
          </a:prstGeom>
          <a:noFill/>
        </p:spPr>
        <p:txBody>
          <a:bodyPr wrap="square" anchor="t">
            <a:spAutoFit/>
          </a:bodyPr>
          <a:lstStyle/>
          <a:p>
            <a:pPr algn="l">
              <a:spcAft>
                <a:spcPts val="600"/>
              </a:spcAft>
            </a:pPr>
            <a:r>
              <a:rPr sz="1500" b="1" i="0">
                <a:solidFill>
                  <a:srgbClr val="1F3A5F"/>
                </a:solidFill>
                <a:latin typeface="Calibri"/>
              </a:rPr>
              <a:t>Calidad y resguardo</a:t>
            </a:r>
          </a:p>
        </p:txBody>
      </p:sp>
      <p:sp>
        <p:nvSpPr>
          <p:cNvPr id="35" name="TextBox 34"/>
          <p:cNvSpPr txBox="1"/>
          <p:nvPr/>
        </p:nvSpPr>
        <p:spPr>
          <a:xfrm>
            <a:off x="8339327" y="4315968"/>
            <a:ext cx="3108960" cy="1280160"/>
          </a:xfrm>
          <a:prstGeom prst="rect">
            <a:avLst/>
          </a:prstGeom>
          <a:noFill/>
        </p:spPr>
        <p:txBody>
          <a:bodyPr wrap="square" anchor="t">
            <a:spAutoFit/>
          </a:bodyPr>
          <a:lstStyle/>
          <a:p>
            <a:pPr algn="l">
              <a:spcAft>
                <a:spcPts val="300"/>
              </a:spcAft>
            </a:pPr>
            <a:r>
              <a:rPr sz="1300" b="0" i="0">
                <a:solidFill>
                  <a:srgbClr val="22303C"/>
                </a:solidFill>
                <a:latin typeface="Calibri"/>
              </a:rPr>
              <a:t>Plan de pruebas con casos documentados. Todo dato de la clínica se anonimiza y se trabaja con consentimiento informado.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0241280" cy="640080"/>
          </a:xfrm>
          <a:prstGeom prst="rect">
            <a:avLst/>
          </a:prstGeom>
          <a:noFill/>
        </p:spPr>
        <p:txBody>
          <a:bodyPr wrap="square" anchor="t">
            <a:spAutoFit/>
          </a:bodyPr>
          <a:lstStyle/>
          <a:p>
            <a:pPr algn="l">
              <a:spcAft>
                <a:spcPts val="600"/>
              </a:spcAft>
            </a:pPr>
            <a:r>
              <a:rPr sz="2700" b="1" i="0">
                <a:solidFill>
                  <a:srgbClr val="FFFFFF"/>
                </a:solidFill>
                <a:latin typeface="Calibri"/>
              </a:rPr>
              <a:t>Competencias del perfil de egreso</a:t>
            </a:r>
          </a:p>
        </p:txBody>
      </p:sp>
      <p:sp>
        <p:nvSpPr>
          <p:cNvPr id="5" name="TextBox 4"/>
          <p:cNvSpPr txBox="1"/>
          <p:nvPr/>
        </p:nvSpPr>
        <p:spPr>
          <a:xfrm>
            <a:off x="11247120" y="347472"/>
            <a:ext cx="640080" cy="457200"/>
          </a:xfrm>
          <a:prstGeom prst="rect">
            <a:avLst/>
          </a:prstGeom>
          <a:noFill/>
        </p:spPr>
        <p:txBody>
          <a:bodyPr wrap="square" anchor="t">
            <a:spAutoFit/>
          </a:bodyPr>
          <a:lstStyle/>
          <a:p>
            <a:pPr algn="r">
              <a:spcAft>
                <a:spcPts val="600"/>
              </a:spcAft>
            </a:pPr>
            <a:r>
              <a:rPr sz="1400" b="0" i="0">
                <a:solidFill>
                  <a:srgbClr val="8FA8C4"/>
                </a:solidFill>
                <a:latin typeface="Calibri"/>
              </a:rPr>
              <a:t>13</a:t>
            </a:r>
          </a:p>
        </p:txBody>
      </p:sp>
      <p:sp>
        <p:nvSpPr>
          <p:cNvPr id="6" name="TextBox 5"/>
          <p:cNvSpPr txBox="1"/>
          <p:nvPr/>
        </p:nvSpPr>
        <p:spPr>
          <a:xfrm>
            <a:off x="548640" y="1325880"/>
            <a:ext cx="11064240" cy="457200"/>
          </a:xfrm>
          <a:prstGeom prst="rect">
            <a:avLst/>
          </a:prstGeom>
          <a:noFill/>
        </p:spPr>
        <p:txBody>
          <a:bodyPr wrap="square" anchor="t">
            <a:spAutoFit/>
          </a:bodyPr>
          <a:lstStyle/>
          <a:p>
            <a:pPr algn="l">
              <a:spcAft>
                <a:spcPts val="600"/>
              </a:spcAft>
            </a:pPr>
            <a:r>
              <a:rPr sz="1500" b="0" i="1">
                <a:solidFill>
                  <a:srgbClr val="2E5C8A"/>
                </a:solidFill>
                <a:latin typeface="Calibri"/>
              </a:rPr>
              <a:t>Qué pone en práctica el proyecto</a:t>
            </a:r>
          </a:p>
        </p:txBody>
      </p:sp>
      <p:graphicFrame>
        <p:nvGraphicFramePr>
          <p:cNvPr id="7" name="Table 6"/>
          <p:cNvGraphicFramePr>
            <a:graphicFrameLocks noGrp="1"/>
          </p:cNvGraphicFramePr>
          <p:nvPr/>
        </p:nvGraphicFramePr>
        <p:xfrm>
          <a:off x="548640" y="1920240"/>
          <a:ext cx="11100814" cy="3017520"/>
        </p:xfrm>
        <a:graphic>
          <a:graphicData uri="http://schemas.openxmlformats.org/drawingml/2006/table">
            <a:tbl>
              <a:tblPr firstRow="1" bandRow="1">
                <a:tableStyleId>{5C22544A-7EE6-4342-B048-85BDC9FD1C3A}</a:tableStyleId>
              </a:tblPr>
              <a:tblGrid>
                <a:gridCol w="3210979"/>
                <a:gridCol w="6330217"/>
                <a:gridCol w="1559618"/>
              </a:tblGrid>
              <a:tr h="754380">
                <a:tc>
                  <a:txBody>
                    <a:bodyPr wrap="square"/>
                    <a:lstStyle/>
                    <a:p>
                      <a:r>
                        <a:rPr sz="1150" b="1">
                          <a:solidFill>
                            <a:srgbClr val="FFFFFF"/>
                          </a:solidFill>
                          <a:latin typeface="Calibri"/>
                        </a:rPr>
                        <a:t>Competencia</a:t>
                      </a:r>
                    </a:p>
                  </a:txBody>
                  <a:tcPr marL="82296" marR="82296" marT="45720" marB="45720">
                    <a:solidFill>
                      <a:srgbClr val="1F3A5F"/>
                    </a:solidFill>
                  </a:tcPr>
                </a:tc>
                <a:tc>
                  <a:txBody>
                    <a:bodyPr wrap="square"/>
                    <a:lstStyle/>
                    <a:p>
                      <a:r>
                        <a:rPr sz="1150" b="1">
                          <a:solidFill>
                            <a:srgbClr val="FFFFFF"/>
                          </a:solidFill>
                          <a:latin typeface="Calibri"/>
                        </a:rPr>
                        <a:t>Cómo la aplica el proyecto</a:t>
                      </a:r>
                    </a:p>
                  </a:txBody>
                  <a:tcPr marL="82296" marR="82296" marT="45720" marB="45720">
                    <a:solidFill>
                      <a:srgbClr val="1F3A5F"/>
                    </a:solidFill>
                  </a:tcPr>
                </a:tc>
                <a:tc>
                  <a:txBody>
                    <a:bodyPr wrap="square"/>
                    <a:lstStyle/>
                    <a:p>
                      <a:r>
                        <a:rPr sz="1150" b="1">
                          <a:solidFill>
                            <a:srgbClr val="FFFFFF"/>
                          </a:solidFill>
                          <a:latin typeface="Calibri"/>
                        </a:rPr>
                        <a:t>Indicadores</a:t>
                      </a:r>
                    </a:p>
                  </a:txBody>
                  <a:tcPr marL="82296" marR="82296" marT="45720" marB="45720">
                    <a:solidFill>
                      <a:srgbClr val="1F3A5F"/>
                    </a:solidFill>
                  </a:tcPr>
                </a:tc>
              </a:tr>
              <a:tr h="754380">
                <a:tc>
                  <a:txBody>
                    <a:bodyPr wrap="square"/>
                    <a:lstStyle/>
                    <a:p>
                      <a:r>
                        <a:rPr sz="1150" b="0">
                          <a:solidFill>
                            <a:srgbClr val="22303C"/>
                          </a:solidFill>
                          <a:latin typeface="Calibri"/>
                        </a:rPr>
                        <a:t>Gestionar proyectos informáticos, ofreciendo alternativas para la toma de decisiones</a:t>
                      </a:r>
                    </a:p>
                  </a:txBody>
                  <a:tcPr marL="82296" marR="82296" marT="45720" marB="45720">
                    <a:solidFill>
                      <a:srgbClr val="FFFFFF"/>
                    </a:solidFill>
                  </a:tcPr>
                </a:tc>
                <a:tc>
                  <a:txBody>
                    <a:bodyPr wrap="square"/>
                    <a:lstStyle/>
                    <a:p>
                      <a:r>
                        <a:rPr sz="1150" b="0">
                          <a:solidFill>
                            <a:srgbClr val="22303C"/>
                          </a:solidFill>
                          <a:latin typeface="Calibri"/>
                        </a:rPr>
                        <a:t>Planificación, alcance, carta Gantt y gestión de riesgos. El producto final es, además, una herramienta de gestión de riesgos.</a:t>
                      </a:r>
                    </a:p>
                  </a:txBody>
                  <a:tcPr marL="82296" marR="82296" marT="45720" marB="45720">
                    <a:solidFill>
                      <a:srgbClr val="FFFFFF"/>
                    </a:solidFill>
                  </a:tcPr>
                </a:tc>
                <a:tc>
                  <a:txBody>
                    <a:bodyPr wrap="square"/>
                    <a:lstStyle/>
                    <a:p>
                      <a:r>
                        <a:rPr sz="1150" b="0">
                          <a:solidFill>
                            <a:srgbClr val="22303C"/>
                          </a:solidFill>
                          <a:latin typeface="Calibri"/>
                        </a:rPr>
                        <a:t>2.1 · 2.2</a:t>
                      </a:r>
                    </a:p>
                  </a:txBody>
                  <a:tcPr marL="82296" marR="82296" marT="45720" marB="45720">
                    <a:solidFill>
                      <a:srgbClr val="FFFFFF"/>
                    </a:solidFill>
                  </a:tcPr>
                </a:tc>
              </a:tr>
              <a:tr h="754380">
                <a:tc>
                  <a:txBody>
                    <a:bodyPr wrap="square"/>
                    <a:lstStyle/>
                    <a:p>
                      <a:r>
                        <a:rPr sz="1150" b="0">
                          <a:solidFill>
                            <a:srgbClr val="22303C"/>
                          </a:solidFill>
                          <a:latin typeface="Calibri"/>
                        </a:rPr>
                        <a:t>Construir modelos de datos escalables</a:t>
                      </a:r>
                    </a:p>
                  </a:txBody>
                  <a:tcPr marL="82296" marR="82296" marT="45720" marB="45720">
                    <a:solidFill>
                      <a:srgbClr val="F4F7FA"/>
                    </a:solidFill>
                  </a:tcPr>
                </a:tc>
                <a:tc>
                  <a:txBody>
                    <a:bodyPr wrap="square"/>
                    <a:lstStyle/>
                    <a:p>
                      <a:r>
                        <a:rPr sz="1150" b="0">
                          <a:solidFill>
                            <a:srgbClr val="22303C"/>
                          </a:solidFill>
                          <a:latin typeface="Calibri"/>
                        </a:rPr>
                        <a:t>La clínica no tiene información estructurada: se diseña, normaliza e implementa el modelo, pensado para replicarse en otras clínicas.</a:t>
                      </a:r>
                    </a:p>
                  </a:txBody>
                  <a:tcPr marL="82296" marR="82296" marT="45720" marB="45720">
                    <a:solidFill>
                      <a:srgbClr val="F4F7FA"/>
                    </a:solidFill>
                  </a:tcPr>
                </a:tc>
                <a:tc>
                  <a:txBody>
                    <a:bodyPr wrap="square"/>
                    <a:lstStyle/>
                    <a:p>
                      <a:r>
                        <a:rPr sz="1150" b="0">
                          <a:solidFill>
                            <a:srgbClr val="22303C"/>
                          </a:solidFill>
                          <a:latin typeface="Calibri"/>
                        </a:rPr>
                        <a:t>3.1 · 3.2</a:t>
                      </a:r>
                    </a:p>
                  </a:txBody>
                  <a:tcPr marL="82296" marR="82296" marT="45720" marB="45720">
                    <a:solidFill>
                      <a:srgbClr val="F4F7FA"/>
                    </a:solidFill>
                  </a:tcPr>
                </a:tc>
              </a:tr>
              <a:tr h="754380">
                <a:tc>
                  <a:txBody>
                    <a:bodyPr wrap="square"/>
                    <a:lstStyle/>
                    <a:p>
                      <a:r>
                        <a:rPr sz="1150" b="0">
                          <a:solidFill>
                            <a:srgbClr val="22303C"/>
                          </a:solidFill>
                          <a:latin typeface="Calibri"/>
                        </a:rPr>
                        <a:t>Realizar pruebas de certificación de productos y procesos</a:t>
                      </a:r>
                    </a:p>
                  </a:txBody>
                  <a:tcPr marL="82296" marR="82296" marT="45720" marB="45720">
                    <a:solidFill>
                      <a:srgbClr val="FFFFFF"/>
                    </a:solidFill>
                  </a:tcPr>
                </a:tc>
                <a:tc>
                  <a:txBody>
                    <a:bodyPr wrap="square"/>
                    <a:lstStyle/>
                    <a:p>
                      <a:r>
                        <a:rPr sz="1150" b="0">
                          <a:solidFill>
                            <a:srgbClr val="22303C"/>
                          </a:solidFill>
                          <a:latin typeface="Calibri"/>
                        </a:rPr>
                        <a:t>La clínica decidirá con la información que entrega el sistema, por lo que su validez se verifica con un plan de pruebas formal.</a:t>
                      </a:r>
                    </a:p>
                  </a:txBody>
                  <a:tcPr marL="82296" marR="82296" marT="45720" marB="45720">
                    <a:solidFill>
                      <a:srgbClr val="FFFFFF"/>
                    </a:solidFill>
                  </a:tcPr>
                </a:tc>
                <a:tc>
                  <a:txBody>
                    <a:bodyPr wrap="square"/>
                    <a:lstStyle/>
                    <a:p>
                      <a:r>
                        <a:rPr sz="1150" b="0">
                          <a:solidFill>
                            <a:srgbClr val="22303C"/>
                          </a:solidFill>
                          <a:latin typeface="Calibri"/>
                        </a:rPr>
                        <a:t>1.1 · 1.2 · 1.3</a:t>
                      </a:r>
                    </a:p>
                  </a:txBody>
                  <a:tcPr marL="82296" marR="82296" marT="45720" marB="45720">
                    <a:solidFill>
                      <a:srgbClr val="FFFFFF"/>
                    </a:solidFill>
                  </a:tcPr>
                </a:tc>
              </a:tr>
            </a:tbl>
          </a:graphicData>
        </a:graphic>
      </p:graphicFrame>
      <p:sp>
        <p:nvSpPr>
          <p:cNvPr id="8" name="Rectangle 7"/>
          <p:cNvSpPr/>
          <p:nvPr/>
        </p:nvSpPr>
        <p:spPr>
          <a:xfrm>
            <a:off x="548640" y="5166360"/>
            <a:ext cx="11100816" cy="91440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5303520"/>
            <a:ext cx="10607040" cy="685800"/>
          </a:xfrm>
          <a:prstGeom prst="rect">
            <a:avLst/>
          </a:prstGeom>
          <a:noFill/>
        </p:spPr>
        <p:txBody>
          <a:bodyPr wrap="square" anchor="t">
            <a:spAutoFit/>
          </a:bodyPr>
          <a:lstStyle/>
          <a:p>
            <a:pPr algn="l">
              <a:spcAft>
                <a:spcPts val="600"/>
              </a:spcAft>
            </a:pPr>
            <a:r>
              <a:rPr sz="1300" b="0" i="0">
                <a:solidFill>
                  <a:srgbClr val="1F3A5F"/>
                </a:solidFill>
                <a:latin typeface="Calibri"/>
              </a:rPr>
              <a:t>Respaldadas por 6 Certificaciones de Módulo Duoc UC: Modelos de Datos · Requerimientos · Arquitectura · Calidad de Software · Gestión de Proyectos · Inteligencia de Negocios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0241280" cy="640080"/>
          </a:xfrm>
          <a:prstGeom prst="rect">
            <a:avLst/>
          </a:prstGeom>
          <a:noFill/>
        </p:spPr>
        <p:txBody>
          <a:bodyPr wrap="square" anchor="t">
            <a:spAutoFit/>
          </a:bodyPr>
          <a:lstStyle/>
          <a:p>
            <a:pPr algn="l">
              <a:spcAft>
                <a:spcPts val="600"/>
              </a:spcAft>
            </a:pPr>
            <a:r>
              <a:rPr sz="2700" b="1" i="0">
                <a:solidFill>
                  <a:srgbClr val="FFFFFF"/>
                </a:solidFill>
                <a:latin typeface="Calibri"/>
              </a:rPr>
              <a:t>El equipo</a:t>
            </a:r>
          </a:p>
        </p:txBody>
      </p:sp>
      <p:sp>
        <p:nvSpPr>
          <p:cNvPr id="5" name="TextBox 4"/>
          <p:cNvSpPr txBox="1"/>
          <p:nvPr/>
        </p:nvSpPr>
        <p:spPr>
          <a:xfrm>
            <a:off x="11247120" y="347472"/>
            <a:ext cx="640080" cy="457200"/>
          </a:xfrm>
          <a:prstGeom prst="rect">
            <a:avLst/>
          </a:prstGeom>
          <a:noFill/>
        </p:spPr>
        <p:txBody>
          <a:bodyPr wrap="square" anchor="t">
            <a:spAutoFit/>
          </a:bodyPr>
          <a:lstStyle/>
          <a:p>
            <a:pPr algn="r">
              <a:spcAft>
                <a:spcPts val="600"/>
              </a:spcAft>
            </a:pPr>
            <a:r>
              <a:rPr sz="1400" b="0" i="0">
                <a:solidFill>
                  <a:srgbClr val="8FA8C4"/>
                </a:solidFill>
                <a:latin typeface="Calibri"/>
              </a:rPr>
              <a:t>14</a:t>
            </a:r>
          </a:p>
        </p:txBody>
      </p:sp>
      <p:sp>
        <p:nvSpPr>
          <p:cNvPr id="6" name="TextBox 5"/>
          <p:cNvSpPr txBox="1"/>
          <p:nvPr/>
        </p:nvSpPr>
        <p:spPr>
          <a:xfrm>
            <a:off x="548640" y="1325880"/>
            <a:ext cx="11064240" cy="457200"/>
          </a:xfrm>
          <a:prstGeom prst="rect">
            <a:avLst/>
          </a:prstGeom>
          <a:noFill/>
        </p:spPr>
        <p:txBody>
          <a:bodyPr wrap="square" anchor="t">
            <a:spAutoFit/>
          </a:bodyPr>
          <a:lstStyle/>
          <a:p>
            <a:pPr algn="l">
              <a:spcAft>
                <a:spcPts val="600"/>
              </a:spcAft>
            </a:pPr>
            <a:r>
              <a:rPr sz="1500" b="0" i="1">
                <a:solidFill>
                  <a:srgbClr val="2E5C8A"/>
                </a:solidFill>
                <a:latin typeface="Calibri"/>
              </a:rPr>
              <a:t>Distribución de responsabilidades</a:t>
            </a:r>
          </a:p>
        </p:txBody>
      </p:sp>
      <p:sp>
        <p:nvSpPr>
          <p:cNvPr id="7" name="Rectangle 6"/>
          <p:cNvSpPr/>
          <p:nvPr/>
        </p:nvSpPr>
        <p:spPr>
          <a:xfrm>
            <a:off x="548640" y="2011680"/>
            <a:ext cx="5394960" cy="292608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011680"/>
            <a:ext cx="64008" cy="2926080"/>
          </a:xfrm>
          <a:prstGeom prst="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176272"/>
            <a:ext cx="4937760" cy="384048"/>
          </a:xfrm>
          <a:prstGeom prst="rect">
            <a:avLst/>
          </a:prstGeom>
          <a:noFill/>
        </p:spPr>
        <p:txBody>
          <a:bodyPr wrap="square" anchor="t">
            <a:spAutoFit/>
          </a:bodyPr>
          <a:lstStyle/>
          <a:p>
            <a:pPr algn="l">
              <a:spcAft>
                <a:spcPts val="600"/>
              </a:spcAft>
            </a:pPr>
            <a:r>
              <a:rPr sz="1500" b="1" i="0">
                <a:solidFill>
                  <a:srgbClr val="1F3A5F"/>
                </a:solidFill>
                <a:latin typeface="Calibri"/>
              </a:rPr>
              <a:t>Katalina Mora Quiñones</a:t>
            </a:r>
          </a:p>
        </p:txBody>
      </p:sp>
      <p:sp>
        <p:nvSpPr>
          <p:cNvPr id="10" name="TextBox 9"/>
          <p:cNvSpPr txBox="1"/>
          <p:nvPr/>
        </p:nvSpPr>
        <p:spPr>
          <a:xfrm>
            <a:off x="804672" y="2670048"/>
            <a:ext cx="4937760" cy="2103120"/>
          </a:xfrm>
          <a:prstGeom prst="rect">
            <a:avLst/>
          </a:prstGeom>
          <a:noFill/>
        </p:spPr>
        <p:txBody>
          <a:bodyPr wrap="square" anchor="t">
            <a:spAutoFit/>
          </a:bodyPr>
          <a:lstStyle/>
          <a:p>
            <a:pPr algn="l">
              <a:spcAft>
                <a:spcPts val="300"/>
              </a:spcAft>
            </a:pPr>
            <a:r>
              <a:rPr sz="1300" b="0" i="0">
                <a:solidFill>
                  <a:srgbClr val="22303C"/>
                </a:solidFill>
                <a:latin typeface="Calibri"/>
              </a:rPr>
              <a:t>Analista de datos y gestora del proyecto
· Conducción de entrevistas
· Modelamiento BPMN del proceso
· Diseño e implementación del modelo de datos
· Indicadores de gestión
· Modelo de puntuación de riesgo
· Tablero de visualización
· Planificación y gestión de riesgos</a:t>
            </a:r>
          </a:p>
        </p:txBody>
      </p:sp>
      <p:sp>
        <p:nvSpPr>
          <p:cNvPr id="11" name="Rectangle 10"/>
          <p:cNvSpPr/>
          <p:nvPr/>
        </p:nvSpPr>
        <p:spPr>
          <a:xfrm>
            <a:off x="6263640" y="2011680"/>
            <a:ext cx="5394960" cy="292608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2011680"/>
            <a:ext cx="64008" cy="2926080"/>
          </a:xfrm>
          <a:prstGeom prst="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9672" y="2176272"/>
            <a:ext cx="4937760" cy="384048"/>
          </a:xfrm>
          <a:prstGeom prst="rect">
            <a:avLst/>
          </a:prstGeom>
          <a:noFill/>
        </p:spPr>
        <p:txBody>
          <a:bodyPr wrap="square" anchor="t">
            <a:spAutoFit/>
          </a:bodyPr>
          <a:lstStyle/>
          <a:p>
            <a:pPr algn="l">
              <a:spcAft>
                <a:spcPts val="600"/>
              </a:spcAft>
            </a:pPr>
            <a:r>
              <a:rPr sz="1500" b="1" i="0">
                <a:solidFill>
                  <a:srgbClr val="1F3A5F"/>
                </a:solidFill>
                <a:latin typeface="Calibri"/>
              </a:rPr>
              <a:t>Uciell Madrid</a:t>
            </a:r>
          </a:p>
        </p:txBody>
      </p:sp>
      <p:sp>
        <p:nvSpPr>
          <p:cNvPr id="14" name="TextBox 13"/>
          <p:cNvSpPr txBox="1"/>
          <p:nvPr/>
        </p:nvSpPr>
        <p:spPr>
          <a:xfrm>
            <a:off x="6519672" y="2670048"/>
            <a:ext cx="4937760" cy="2103120"/>
          </a:xfrm>
          <a:prstGeom prst="rect">
            <a:avLst/>
          </a:prstGeom>
          <a:noFill/>
        </p:spPr>
        <p:txBody>
          <a:bodyPr wrap="square" anchor="t">
            <a:spAutoFit/>
          </a:bodyPr>
          <a:lstStyle/>
          <a:p>
            <a:pPr algn="l">
              <a:spcAft>
                <a:spcPts val="300"/>
              </a:spcAft>
            </a:pPr>
            <a:r>
              <a:rPr sz="1300" b="0" i="0">
                <a:solidFill>
                  <a:srgbClr val="22303C"/>
                </a:solidFill>
                <a:latin typeface="Calibri"/>
              </a:rPr>
              <a:t>Analista funcional y encargada de calidad
· Registro y sistematización de entrevistas
· Preparación y anonimización de los datos
· Diseño del prototipo de interfaz
· Diseño y ejecución del plan de pruebas
· Consolidación de la documentación técnica</a:t>
            </a:r>
          </a:p>
        </p:txBody>
      </p:sp>
      <p:sp>
        <p:nvSpPr>
          <p:cNvPr id="15" name="Rectangle 14"/>
          <p:cNvSpPr/>
          <p:nvPr/>
        </p:nvSpPr>
        <p:spPr>
          <a:xfrm>
            <a:off x="548640" y="5074920"/>
            <a:ext cx="11100816" cy="5486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175504"/>
            <a:ext cx="10424160" cy="384048"/>
          </a:xfrm>
          <a:prstGeom prst="rect">
            <a:avLst/>
          </a:prstGeom>
          <a:noFill/>
        </p:spPr>
        <p:txBody>
          <a:bodyPr wrap="square" anchor="t">
            <a:spAutoFit/>
          </a:bodyPr>
          <a:lstStyle/>
          <a:p>
            <a:pPr algn="l">
              <a:spcAft>
                <a:spcPts val="600"/>
              </a:spcAft>
            </a:pPr>
            <a:r>
              <a:rPr sz="1300" b="0" i="0">
                <a:solidFill>
                  <a:srgbClr val="FFFFFF"/>
                </a:solidFill>
                <a:latin typeface="Calibri"/>
              </a:rPr>
              <a:t>Conjuntas: definición del proyecto · validación con la clínica · informe final · presentación</a:t>
            </a:r>
          </a:p>
        </p:txBody>
      </p:sp>
      <p:sp>
        <p:nvSpPr>
          <p:cNvPr id="17" name="TextBox 16"/>
          <p:cNvSpPr txBox="1"/>
          <p:nvPr/>
        </p:nvSpPr>
        <p:spPr>
          <a:xfrm>
            <a:off x="548640" y="5715000"/>
            <a:ext cx="11100816" cy="640080"/>
          </a:xfrm>
          <a:prstGeom prst="rect">
            <a:avLst/>
          </a:prstGeom>
          <a:noFill/>
        </p:spPr>
        <p:txBody>
          <a:bodyPr wrap="square" anchor="t">
            <a:spAutoFit/>
          </a:bodyPr>
          <a:lstStyle/>
          <a:p>
            <a:pPr algn="l">
              <a:spcAft>
                <a:spcPts val="600"/>
              </a:spcAft>
            </a:pPr>
            <a:r>
              <a:rPr sz="1100" b="0" i="1">
                <a:solidFill>
                  <a:srgbClr val="8A9AA8"/>
                </a:solidFill>
                <a:latin typeface="Calibri"/>
              </a:rPr>
              <a:t>El sistema base Huellitas fue desarrollado antes de esta asignatura por Katalina Mora junto a una colaboradora externa. El módulo de riesgo de inasistencia es aporte íntegro del equipo.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0241280" cy="640080"/>
          </a:xfrm>
          <a:prstGeom prst="rect">
            <a:avLst/>
          </a:prstGeom>
          <a:noFill/>
        </p:spPr>
        <p:txBody>
          <a:bodyPr wrap="square" anchor="t">
            <a:spAutoFit/>
          </a:bodyPr>
          <a:lstStyle/>
          <a:p>
            <a:pPr algn="l">
              <a:spcAft>
                <a:spcPts val="600"/>
              </a:spcAft>
            </a:pPr>
            <a:r>
              <a:rPr sz="2700" b="1" i="0">
                <a:solidFill>
                  <a:srgbClr val="FFFFFF"/>
                </a:solidFill>
                <a:latin typeface="Calibri"/>
              </a:rPr>
              <a:t>Plan de trabajo</a:t>
            </a:r>
          </a:p>
        </p:txBody>
      </p:sp>
      <p:sp>
        <p:nvSpPr>
          <p:cNvPr id="5" name="TextBox 4"/>
          <p:cNvSpPr txBox="1"/>
          <p:nvPr/>
        </p:nvSpPr>
        <p:spPr>
          <a:xfrm>
            <a:off x="11247120" y="347472"/>
            <a:ext cx="640080" cy="457200"/>
          </a:xfrm>
          <a:prstGeom prst="rect">
            <a:avLst/>
          </a:prstGeom>
          <a:noFill/>
        </p:spPr>
        <p:txBody>
          <a:bodyPr wrap="square" anchor="t">
            <a:spAutoFit/>
          </a:bodyPr>
          <a:lstStyle/>
          <a:p>
            <a:pPr algn="r">
              <a:spcAft>
                <a:spcPts val="600"/>
              </a:spcAft>
            </a:pPr>
            <a:r>
              <a:rPr sz="1400" b="0" i="0">
                <a:solidFill>
                  <a:srgbClr val="8FA8C4"/>
                </a:solidFill>
                <a:latin typeface="Calibri"/>
              </a:rPr>
              <a:t>15</a:t>
            </a:r>
          </a:p>
        </p:txBody>
      </p:sp>
      <p:sp>
        <p:nvSpPr>
          <p:cNvPr id="6" name="TextBox 5"/>
          <p:cNvSpPr txBox="1"/>
          <p:nvPr/>
        </p:nvSpPr>
        <p:spPr>
          <a:xfrm>
            <a:off x="548640" y="1325880"/>
            <a:ext cx="11064240" cy="457200"/>
          </a:xfrm>
          <a:prstGeom prst="rect">
            <a:avLst/>
          </a:prstGeom>
          <a:noFill/>
        </p:spPr>
        <p:txBody>
          <a:bodyPr wrap="square" anchor="t">
            <a:spAutoFit/>
          </a:bodyPr>
          <a:lstStyle/>
          <a:p>
            <a:pPr algn="l">
              <a:spcAft>
                <a:spcPts val="600"/>
              </a:spcAft>
            </a:pPr>
            <a:r>
              <a:rPr sz="1500" b="0" i="1">
                <a:solidFill>
                  <a:srgbClr val="2E5C8A"/>
                </a:solidFill>
                <a:latin typeface="Calibri"/>
              </a:rPr>
              <a:t>12 actividades distribuidas en 18 semanas</a:t>
            </a:r>
          </a:p>
        </p:txBody>
      </p:sp>
      <p:sp>
        <p:nvSpPr>
          <p:cNvPr id="7" name="TextBox 6"/>
          <p:cNvSpPr txBox="1"/>
          <p:nvPr/>
        </p:nvSpPr>
        <p:spPr>
          <a:xfrm>
            <a:off x="4553712" y="1938528"/>
            <a:ext cx="548640" cy="228600"/>
          </a:xfrm>
          <a:prstGeom prst="rect">
            <a:avLst/>
          </a:prstGeom>
          <a:noFill/>
        </p:spPr>
        <p:txBody>
          <a:bodyPr wrap="square" anchor="t">
            <a:spAutoFit/>
          </a:bodyPr>
          <a:lstStyle/>
          <a:p>
            <a:pPr algn="l">
              <a:spcAft>
                <a:spcPts val="600"/>
              </a:spcAft>
            </a:pPr>
            <a:r>
              <a:rPr sz="800" b="0" i="0">
                <a:solidFill>
                  <a:srgbClr val="8A9AA8"/>
                </a:solidFill>
                <a:latin typeface="Calibri"/>
              </a:rPr>
              <a:t>S1</a:t>
            </a:r>
          </a:p>
        </p:txBody>
      </p:sp>
      <p:sp>
        <p:nvSpPr>
          <p:cNvPr id="8" name="TextBox 7"/>
          <p:cNvSpPr txBox="1"/>
          <p:nvPr/>
        </p:nvSpPr>
        <p:spPr>
          <a:xfrm>
            <a:off x="5636554" y="1938528"/>
            <a:ext cx="548640" cy="228600"/>
          </a:xfrm>
          <a:prstGeom prst="rect">
            <a:avLst/>
          </a:prstGeom>
          <a:noFill/>
        </p:spPr>
        <p:txBody>
          <a:bodyPr wrap="square" anchor="t">
            <a:spAutoFit/>
          </a:bodyPr>
          <a:lstStyle/>
          <a:p>
            <a:pPr algn="l">
              <a:spcAft>
                <a:spcPts val="600"/>
              </a:spcAft>
            </a:pPr>
            <a:r>
              <a:rPr sz="800" b="0" i="0">
                <a:solidFill>
                  <a:srgbClr val="8A9AA8"/>
                </a:solidFill>
                <a:latin typeface="Calibri"/>
              </a:rPr>
              <a:t>S4</a:t>
            </a:r>
          </a:p>
        </p:txBody>
      </p:sp>
      <p:sp>
        <p:nvSpPr>
          <p:cNvPr id="9" name="TextBox 8"/>
          <p:cNvSpPr txBox="1"/>
          <p:nvPr/>
        </p:nvSpPr>
        <p:spPr>
          <a:xfrm>
            <a:off x="6719396" y="1938528"/>
            <a:ext cx="548640" cy="228600"/>
          </a:xfrm>
          <a:prstGeom prst="rect">
            <a:avLst/>
          </a:prstGeom>
          <a:noFill/>
        </p:spPr>
        <p:txBody>
          <a:bodyPr wrap="square" anchor="t">
            <a:spAutoFit/>
          </a:bodyPr>
          <a:lstStyle/>
          <a:p>
            <a:pPr algn="l">
              <a:spcAft>
                <a:spcPts val="600"/>
              </a:spcAft>
            </a:pPr>
            <a:r>
              <a:rPr sz="800" b="0" i="0">
                <a:solidFill>
                  <a:srgbClr val="8A9AA8"/>
                </a:solidFill>
                <a:latin typeface="Calibri"/>
              </a:rPr>
              <a:t>S7</a:t>
            </a:r>
          </a:p>
        </p:txBody>
      </p:sp>
      <p:sp>
        <p:nvSpPr>
          <p:cNvPr id="10" name="TextBox 9"/>
          <p:cNvSpPr txBox="1"/>
          <p:nvPr/>
        </p:nvSpPr>
        <p:spPr>
          <a:xfrm>
            <a:off x="7802238" y="1938528"/>
            <a:ext cx="548640" cy="228600"/>
          </a:xfrm>
          <a:prstGeom prst="rect">
            <a:avLst/>
          </a:prstGeom>
          <a:noFill/>
        </p:spPr>
        <p:txBody>
          <a:bodyPr wrap="square" anchor="t">
            <a:spAutoFit/>
          </a:bodyPr>
          <a:lstStyle/>
          <a:p>
            <a:pPr algn="l">
              <a:spcAft>
                <a:spcPts val="600"/>
              </a:spcAft>
            </a:pPr>
            <a:r>
              <a:rPr sz="800" b="0" i="0">
                <a:solidFill>
                  <a:srgbClr val="8A9AA8"/>
                </a:solidFill>
                <a:latin typeface="Calibri"/>
              </a:rPr>
              <a:t>S10</a:t>
            </a:r>
          </a:p>
        </p:txBody>
      </p:sp>
      <p:sp>
        <p:nvSpPr>
          <p:cNvPr id="11" name="TextBox 10"/>
          <p:cNvSpPr txBox="1"/>
          <p:nvPr/>
        </p:nvSpPr>
        <p:spPr>
          <a:xfrm>
            <a:off x="8885080" y="1938528"/>
            <a:ext cx="548640" cy="228600"/>
          </a:xfrm>
          <a:prstGeom prst="rect">
            <a:avLst/>
          </a:prstGeom>
          <a:noFill/>
        </p:spPr>
        <p:txBody>
          <a:bodyPr wrap="square" anchor="t">
            <a:spAutoFit/>
          </a:bodyPr>
          <a:lstStyle/>
          <a:p>
            <a:pPr algn="l">
              <a:spcAft>
                <a:spcPts val="600"/>
              </a:spcAft>
            </a:pPr>
            <a:r>
              <a:rPr sz="800" b="0" i="0">
                <a:solidFill>
                  <a:srgbClr val="8A9AA8"/>
                </a:solidFill>
                <a:latin typeface="Calibri"/>
              </a:rPr>
              <a:t>S13</a:t>
            </a:r>
          </a:p>
        </p:txBody>
      </p:sp>
      <p:sp>
        <p:nvSpPr>
          <p:cNvPr id="12" name="TextBox 11"/>
          <p:cNvSpPr txBox="1"/>
          <p:nvPr/>
        </p:nvSpPr>
        <p:spPr>
          <a:xfrm>
            <a:off x="9967922" y="1938528"/>
            <a:ext cx="548640" cy="228600"/>
          </a:xfrm>
          <a:prstGeom prst="rect">
            <a:avLst/>
          </a:prstGeom>
          <a:noFill/>
        </p:spPr>
        <p:txBody>
          <a:bodyPr wrap="square" anchor="t">
            <a:spAutoFit/>
          </a:bodyPr>
          <a:lstStyle/>
          <a:p>
            <a:pPr algn="l">
              <a:spcAft>
                <a:spcPts val="600"/>
              </a:spcAft>
            </a:pPr>
            <a:r>
              <a:rPr sz="800" b="0" i="0">
                <a:solidFill>
                  <a:srgbClr val="8A9AA8"/>
                </a:solidFill>
                <a:latin typeface="Calibri"/>
              </a:rPr>
              <a:t>S16</a:t>
            </a:r>
          </a:p>
        </p:txBody>
      </p:sp>
      <p:sp>
        <p:nvSpPr>
          <p:cNvPr id="13" name="TextBox 12"/>
          <p:cNvSpPr txBox="1"/>
          <p:nvPr/>
        </p:nvSpPr>
        <p:spPr>
          <a:xfrm>
            <a:off x="11050764" y="1938528"/>
            <a:ext cx="548640" cy="228600"/>
          </a:xfrm>
          <a:prstGeom prst="rect">
            <a:avLst/>
          </a:prstGeom>
          <a:noFill/>
        </p:spPr>
        <p:txBody>
          <a:bodyPr wrap="square" anchor="t">
            <a:spAutoFit/>
          </a:bodyPr>
          <a:lstStyle/>
          <a:p>
            <a:pPr algn="l">
              <a:spcAft>
                <a:spcPts val="600"/>
              </a:spcAft>
            </a:pPr>
            <a:r>
              <a:rPr sz="800" b="0" i="0">
                <a:solidFill>
                  <a:srgbClr val="8A9AA8"/>
                </a:solidFill>
                <a:latin typeface="Calibri"/>
              </a:rPr>
              <a:t>S19</a:t>
            </a:r>
          </a:p>
        </p:txBody>
      </p:sp>
      <p:sp>
        <p:nvSpPr>
          <p:cNvPr id="14" name="TextBox 13"/>
          <p:cNvSpPr txBox="1"/>
          <p:nvPr/>
        </p:nvSpPr>
        <p:spPr>
          <a:xfrm>
            <a:off x="548640" y="2212848"/>
            <a:ext cx="4023360" cy="274320"/>
          </a:xfrm>
          <a:prstGeom prst="rect">
            <a:avLst/>
          </a:prstGeom>
          <a:noFill/>
        </p:spPr>
        <p:txBody>
          <a:bodyPr wrap="square" anchor="t">
            <a:spAutoFit/>
          </a:bodyPr>
          <a:lstStyle/>
          <a:p>
            <a:pPr algn="l">
              <a:spcAft>
                <a:spcPts val="600"/>
              </a:spcAft>
            </a:pPr>
            <a:r>
              <a:rPr sz="1050" b="0" i="0">
                <a:solidFill>
                  <a:srgbClr val="22303C"/>
                </a:solidFill>
                <a:latin typeface="Calibri"/>
              </a:rPr>
              <a:t>Definición del Proyecto APT</a:t>
            </a:r>
          </a:p>
        </p:txBody>
      </p:sp>
      <p:sp>
        <p:nvSpPr>
          <p:cNvPr id="15" name="Rounded Rectangle 14"/>
          <p:cNvSpPr/>
          <p:nvPr/>
        </p:nvSpPr>
        <p:spPr>
          <a:xfrm>
            <a:off x="4663440" y="2267712"/>
            <a:ext cx="1407213" cy="182880"/>
          </a:xfrm>
          <a:prstGeom prst="round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514600"/>
            <a:ext cx="4023360" cy="274320"/>
          </a:xfrm>
          <a:prstGeom prst="rect">
            <a:avLst/>
          </a:prstGeom>
          <a:noFill/>
        </p:spPr>
        <p:txBody>
          <a:bodyPr wrap="square" anchor="t">
            <a:spAutoFit/>
          </a:bodyPr>
          <a:lstStyle/>
          <a:p>
            <a:pPr algn="l">
              <a:spcAft>
                <a:spcPts val="600"/>
              </a:spcAft>
            </a:pPr>
            <a:r>
              <a:rPr sz="1050" b="0" i="0">
                <a:solidFill>
                  <a:srgbClr val="22303C"/>
                </a:solidFill>
                <a:latin typeface="Calibri"/>
              </a:rPr>
              <a:t>Levantamiento de requerimientos</a:t>
            </a:r>
          </a:p>
        </p:txBody>
      </p:sp>
      <p:sp>
        <p:nvSpPr>
          <p:cNvPr id="17" name="Rounded Rectangle 16"/>
          <p:cNvSpPr/>
          <p:nvPr/>
        </p:nvSpPr>
        <p:spPr>
          <a:xfrm>
            <a:off x="5385334" y="2569464"/>
            <a:ext cx="1407213" cy="182880"/>
          </a:xfrm>
          <a:prstGeom prst="round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2816352"/>
            <a:ext cx="4023360" cy="274320"/>
          </a:xfrm>
          <a:prstGeom prst="rect">
            <a:avLst/>
          </a:prstGeom>
          <a:noFill/>
        </p:spPr>
        <p:txBody>
          <a:bodyPr wrap="square" anchor="t">
            <a:spAutoFit/>
          </a:bodyPr>
          <a:lstStyle/>
          <a:p>
            <a:pPr algn="l">
              <a:spcAft>
                <a:spcPts val="600"/>
              </a:spcAft>
            </a:pPr>
            <a:r>
              <a:rPr sz="1050" b="0" i="0">
                <a:solidFill>
                  <a:srgbClr val="22303C"/>
                </a:solidFill>
                <a:latin typeface="Calibri"/>
              </a:rPr>
              <a:t>Modelamiento del proceso (BPMN)</a:t>
            </a:r>
          </a:p>
        </p:txBody>
      </p:sp>
      <p:sp>
        <p:nvSpPr>
          <p:cNvPr id="19" name="Rounded Rectangle 18"/>
          <p:cNvSpPr/>
          <p:nvPr/>
        </p:nvSpPr>
        <p:spPr>
          <a:xfrm>
            <a:off x="6468176" y="2871216"/>
            <a:ext cx="1046266" cy="182880"/>
          </a:xfrm>
          <a:prstGeom prst="roundRect">
            <a:avLst/>
          </a:prstGeom>
          <a:solidFill>
            <a:srgbClr val="2E5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118104"/>
            <a:ext cx="4023360" cy="274320"/>
          </a:xfrm>
          <a:prstGeom prst="rect">
            <a:avLst/>
          </a:prstGeom>
          <a:noFill/>
        </p:spPr>
        <p:txBody>
          <a:bodyPr wrap="square" anchor="t">
            <a:spAutoFit/>
          </a:bodyPr>
          <a:lstStyle/>
          <a:p>
            <a:pPr algn="l">
              <a:spcAft>
                <a:spcPts val="600"/>
              </a:spcAft>
            </a:pPr>
            <a:r>
              <a:rPr sz="1050" b="0" i="0">
                <a:solidFill>
                  <a:srgbClr val="22303C"/>
                </a:solidFill>
                <a:latin typeface="Calibri"/>
              </a:rPr>
              <a:t>Modelo de datos</a:t>
            </a:r>
          </a:p>
        </p:txBody>
      </p:sp>
      <p:sp>
        <p:nvSpPr>
          <p:cNvPr id="21" name="Rounded Rectangle 20"/>
          <p:cNvSpPr/>
          <p:nvPr/>
        </p:nvSpPr>
        <p:spPr>
          <a:xfrm>
            <a:off x="6829124" y="3172968"/>
            <a:ext cx="1407213" cy="18288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419856"/>
            <a:ext cx="4023360" cy="274320"/>
          </a:xfrm>
          <a:prstGeom prst="rect">
            <a:avLst/>
          </a:prstGeom>
          <a:noFill/>
        </p:spPr>
        <p:txBody>
          <a:bodyPr wrap="square" anchor="t">
            <a:spAutoFit/>
          </a:bodyPr>
          <a:lstStyle/>
          <a:p>
            <a:pPr algn="l">
              <a:spcAft>
                <a:spcPts val="600"/>
              </a:spcAft>
            </a:pPr>
            <a:r>
              <a:rPr sz="1050" b="0" i="0">
                <a:solidFill>
                  <a:srgbClr val="22303C"/>
                </a:solidFill>
                <a:latin typeface="Calibri"/>
              </a:rPr>
              <a:t>Preparación y carga de datos</a:t>
            </a:r>
          </a:p>
        </p:txBody>
      </p:sp>
      <p:sp>
        <p:nvSpPr>
          <p:cNvPr id="23" name="Rounded Rectangle 22"/>
          <p:cNvSpPr/>
          <p:nvPr/>
        </p:nvSpPr>
        <p:spPr>
          <a:xfrm>
            <a:off x="7551018" y="3474720"/>
            <a:ext cx="1046266" cy="18288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721608"/>
            <a:ext cx="4023360" cy="274320"/>
          </a:xfrm>
          <a:prstGeom prst="rect">
            <a:avLst/>
          </a:prstGeom>
          <a:noFill/>
        </p:spPr>
        <p:txBody>
          <a:bodyPr wrap="square" anchor="t">
            <a:spAutoFit/>
          </a:bodyPr>
          <a:lstStyle/>
          <a:p>
            <a:pPr algn="l">
              <a:spcAft>
                <a:spcPts val="600"/>
              </a:spcAft>
            </a:pPr>
            <a:r>
              <a:rPr sz="1050" b="0" i="0">
                <a:solidFill>
                  <a:srgbClr val="22303C"/>
                </a:solidFill>
                <a:latin typeface="Calibri"/>
              </a:rPr>
              <a:t>Indicadores de gestión</a:t>
            </a:r>
          </a:p>
        </p:txBody>
      </p:sp>
      <p:sp>
        <p:nvSpPr>
          <p:cNvPr id="25" name="Rounded Rectangle 24"/>
          <p:cNvSpPr/>
          <p:nvPr/>
        </p:nvSpPr>
        <p:spPr>
          <a:xfrm>
            <a:off x="8272913" y="3776472"/>
            <a:ext cx="1046266" cy="182880"/>
          </a:xfrm>
          <a:prstGeom prst="round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023360"/>
            <a:ext cx="4023360" cy="274320"/>
          </a:xfrm>
          <a:prstGeom prst="rect">
            <a:avLst/>
          </a:prstGeom>
          <a:noFill/>
        </p:spPr>
        <p:txBody>
          <a:bodyPr wrap="square" anchor="t">
            <a:spAutoFit/>
          </a:bodyPr>
          <a:lstStyle/>
          <a:p>
            <a:pPr algn="l">
              <a:spcAft>
                <a:spcPts val="600"/>
              </a:spcAft>
            </a:pPr>
            <a:r>
              <a:rPr sz="1050" b="0" i="0">
                <a:solidFill>
                  <a:srgbClr val="22303C"/>
                </a:solidFill>
                <a:latin typeface="Calibri"/>
              </a:rPr>
              <a:t>Modelo de puntuación de riesgo</a:t>
            </a:r>
          </a:p>
        </p:txBody>
      </p:sp>
      <p:sp>
        <p:nvSpPr>
          <p:cNvPr id="27" name="Rounded Rectangle 26"/>
          <p:cNvSpPr/>
          <p:nvPr/>
        </p:nvSpPr>
        <p:spPr>
          <a:xfrm>
            <a:off x="8633861" y="4078224"/>
            <a:ext cx="1407213" cy="182880"/>
          </a:xfrm>
          <a:prstGeom prst="round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4325112"/>
            <a:ext cx="4023360" cy="274320"/>
          </a:xfrm>
          <a:prstGeom prst="rect">
            <a:avLst/>
          </a:prstGeom>
          <a:noFill/>
        </p:spPr>
        <p:txBody>
          <a:bodyPr wrap="square" anchor="t">
            <a:spAutoFit/>
          </a:bodyPr>
          <a:lstStyle/>
          <a:p>
            <a:pPr algn="l">
              <a:spcAft>
                <a:spcPts val="600"/>
              </a:spcAft>
            </a:pPr>
            <a:r>
              <a:rPr sz="1050" b="0" i="0">
                <a:solidFill>
                  <a:srgbClr val="22303C"/>
                </a:solidFill>
                <a:latin typeface="Calibri"/>
              </a:rPr>
              <a:t>Prototipo de interfaz móvil</a:t>
            </a:r>
          </a:p>
        </p:txBody>
      </p:sp>
      <p:sp>
        <p:nvSpPr>
          <p:cNvPr id="29" name="Rounded Rectangle 28"/>
          <p:cNvSpPr/>
          <p:nvPr/>
        </p:nvSpPr>
        <p:spPr>
          <a:xfrm>
            <a:off x="8994808" y="4379976"/>
            <a:ext cx="1046266" cy="182880"/>
          </a:xfrm>
          <a:prstGeom prst="round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4626864"/>
            <a:ext cx="4023360" cy="274320"/>
          </a:xfrm>
          <a:prstGeom prst="rect">
            <a:avLst/>
          </a:prstGeom>
          <a:noFill/>
        </p:spPr>
        <p:txBody>
          <a:bodyPr wrap="square" anchor="t">
            <a:spAutoFit/>
          </a:bodyPr>
          <a:lstStyle/>
          <a:p>
            <a:pPr algn="l">
              <a:spcAft>
                <a:spcPts val="600"/>
              </a:spcAft>
            </a:pPr>
            <a:r>
              <a:rPr sz="1050" b="0" i="0">
                <a:solidFill>
                  <a:srgbClr val="22303C"/>
                </a:solidFill>
                <a:latin typeface="Calibri"/>
              </a:rPr>
              <a:t>Tablero de visualización</a:t>
            </a:r>
          </a:p>
        </p:txBody>
      </p:sp>
      <p:sp>
        <p:nvSpPr>
          <p:cNvPr id="31" name="Rounded Rectangle 30"/>
          <p:cNvSpPr/>
          <p:nvPr/>
        </p:nvSpPr>
        <p:spPr>
          <a:xfrm>
            <a:off x="9355755" y="4681728"/>
            <a:ext cx="1046266" cy="182880"/>
          </a:xfrm>
          <a:prstGeom prst="roundRect">
            <a:avLst/>
          </a:prstGeom>
          <a:solidFill>
            <a:srgbClr val="4F8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4928616"/>
            <a:ext cx="4023360" cy="274320"/>
          </a:xfrm>
          <a:prstGeom prst="rect">
            <a:avLst/>
          </a:prstGeom>
          <a:noFill/>
        </p:spPr>
        <p:txBody>
          <a:bodyPr wrap="square" anchor="t">
            <a:spAutoFit/>
          </a:bodyPr>
          <a:lstStyle/>
          <a:p>
            <a:pPr algn="l">
              <a:spcAft>
                <a:spcPts val="600"/>
              </a:spcAft>
            </a:pPr>
            <a:r>
              <a:rPr sz="1050" b="0" i="0">
                <a:solidFill>
                  <a:srgbClr val="22303C"/>
                </a:solidFill>
                <a:latin typeface="Calibri"/>
              </a:rPr>
              <a:t>Plan de pruebas</a:t>
            </a:r>
          </a:p>
        </p:txBody>
      </p:sp>
      <p:sp>
        <p:nvSpPr>
          <p:cNvPr id="33" name="Rounded Rectangle 32"/>
          <p:cNvSpPr/>
          <p:nvPr/>
        </p:nvSpPr>
        <p:spPr>
          <a:xfrm>
            <a:off x="9716703" y="4983480"/>
            <a:ext cx="1046266" cy="182880"/>
          </a:xfrm>
          <a:prstGeom prst="roundRect">
            <a:avLst/>
          </a:prstGeom>
          <a:solidFill>
            <a:srgbClr val="C95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5230368"/>
            <a:ext cx="4023360" cy="274320"/>
          </a:xfrm>
          <a:prstGeom prst="rect">
            <a:avLst/>
          </a:prstGeom>
          <a:noFill/>
        </p:spPr>
        <p:txBody>
          <a:bodyPr wrap="square" anchor="t">
            <a:spAutoFit/>
          </a:bodyPr>
          <a:lstStyle/>
          <a:p>
            <a:pPr algn="l">
              <a:spcAft>
                <a:spcPts val="600"/>
              </a:spcAft>
            </a:pPr>
            <a:r>
              <a:rPr sz="1050" b="0" i="0">
                <a:solidFill>
                  <a:srgbClr val="22303C"/>
                </a:solidFill>
                <a:latin typeface="Calibri"/>
              </a:rPr>
              <a:t>Validación con la clínica</a:t>
            </a:r>
          </a:p>
        </p:txBody>
      </p:sp>
      <p:sp>
        <p:nvSpPr>
          <p:cNvPr id="35" name="Rounded Rectangle 34"/>
          <p:cNvSpPr/>
          <p:nvPr/>
        </p:nvSpPr>
        <p:spPr>
          <a:xfrm>
            <a:off x="10077650" y="5285232"/>
            <a:ext cx="1046266" cy="182880"/>
          </a:xfrm>
          <a:prstGeom prst="roundRect">
            <a:avLst/>
          </a:prstGeom>
          <a:solidFill>
            <a:srgbClr val="C95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5532120"/>
            <a:ext cx="4023360" cy="274320"/>
          </a:xfrm>
          <a:prstGeom prst="rect">
            <a:avLst/>
          </a:prstGeom>
          <a:noFill/>
        </p:spPr>
        <p:txBody>
          <a:bodyPr wrap="square" anchor="t">
            <a:spAutoFit/>
          </a:bodyPr>
          <a:lstStyle/>
          <a:p>
            <a:pPr algn="l">
              <a:spcAft>
                <a:spcPts val="600"/>
              </a:spcAft>
            </a:pPr>
            <a:r>
              <a:rPr sz="1050" b="0" i="0">
                <a:solidFill>
                  <a:srgbClr val="22303C"/>
                </a:solidFill>
                <a:latin typeface="Calibri"/>
              </a:rPr>
              <a:t>Informe final y presentación</a:t>
            </a:r>
          </a:p>
        </p:txBody>
      </p:sp>
      <p:sp>
        <p:nvSpPr>
          <p:cNvPr id="37" name="Rounded Rectangle 36"/>
          <p:cNvSpPr/>
          <p:nvPr/>
        </p:nvSpPr>
        <p:spPr>
          <a:xfrm>
            <a:off x="10438597" y="5586984"/>
            <a:ext cx="1046266" cy="182880"/>
          </a:xfrm>
          <a:prstGeom prst="roundRect">
            <a:avLst/>
          </a:prstGeom>
          <a:solidFill>
            <a:srgbClr val="C95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8640" y="5989320"/>
            <a:ext cx="11100816" cy="320040"/>
          </a:xfrm>
          <a:prstGeom prst="rect">
            <a:avLst/>
          </a:prstGeom>
          <a:noFill/>
        </p:spPr>
        <p:txBody>
          <a:bodyPr wrap="square" anchor="t">
            <a:spAutoFit/>
          </a:bodyPr>
          <a:lstStyle/>
          <a:p>
            <a:pPr algn="l">
              <a:spcAft>
                <a:spcPts val="600"/>
              </a:spcAft>
            </a:pPr>
            <a:r>
              <a:rPr sz="1100" b="0" i="1">
                <a:solidFill>
                  <a:srgbClr val="8A9AA8"/>
                </a:solidFill>
                <a:latin typeface="Calibri"/>
              </a:rPr>
              <a:t>Fase 1: semanas 1-4  ·  Fase 2: semanas 5-16  ·  Fase 3: semanas 16-18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56032"/>
            <a:ext cx="10241280" cy="640080"/>
          </a:xfrm>
          <a:prstGeom prst="rect">
            <a:avLst/>
          </a:prstGeom>
          <a:noFill/>
        </p:spPr>
        <p:txBody>
          <a:bodyPr wrap="square" anchor="t">
            <a:spAutoFit/>
          </a:bodyPr>
          <a:lstStyle/>
          <a:p>
            <a:pPr algn="l">
              <a:spcAft>
                <a:spcPts val="600"/>
              </a:spcAft>
            </a:pPr>
            <a:r>
              <a:rPr sz="2700" b="1" i="0">
                <a:solidFill>
                  <a:srgbClr val="FFFFFF"/>
                </a:solidFill>
                <a:latin typeface="Calibri"/>
              </a:rPr>
              <a:t>Riesgos identificados</a:t>
            </a:r>
          </a:p>
        </p:txBody>
      </p:sp>
      <p:sp>
        <p:nvSpPr>
          <p:cNvPr id="5" name="TextBox 4"/>
          <p:cNvSpPr txBox="1"/>
          <p:nvPr/>
        </p:nvSpPr>
        <p:spPr>
          <a:xfrm>
            <a:off x="11247120" y="347472"/>
            <a:ext cx="640080" cy="457200"/>
          </a:xfrm>
          <a:prstGeom prst="rect">
            <a:avLst/>
          </a:prstGeom>
          <a:noFill/>
        </p:spPr>
        <p:txBody>
          <a:bodyPr wrap="square" anchor="t">
            <a:spAutoFit/>
          </a:bodyPr>
          <a:lstStyle/>
          <a:p>
            <a:pPr algn="r">
              <a:spcAft>
                <a:spcPts val="600"/>
              </a:spcAft>
            </a:pPr>
            <a:r>
              <a:rPr sz="1400" b="0" i="0">
                <a:solidFill>
                  <a:srgbClr val="8FA8C4"/>
                </a:solidFill>
                <a:latin typeface="Calibri"/>
              </a:rPr>
              <a:t>16</a:t>
            </a:r>
          </a:p>
        </p:txBody>
      </p:sp>
      <p:sp>
        <p:nvSpPr>
          <p:cNvPr id="6" name="TextBox 5"/>
          <p:cNvSpPr txBox="1"/>
          <p:nvPr/>
        </p:nvSpPr>
        <p:spPr>
          <a:xfrm>
            <a:off x="548640" y="1325880"/>
            <a:ext cx="11064240" cy="457200"/>
          </a:xfrm>
          <a:prstGeom prst="rect">
            <a:avLst/>
          </a:prstGeom>
          <a:noFill/>
        </p:spPr>
        <p:txBody>
          <a:bodyPr wrap="square" anchor="t">
            <a:spAutoFit/>
          </a:bodyPr>
          <a:lstStyle/>
          <a:p>
            <a:pPr algn="l">
              <a:spcAft>
                <a:spcPts val="600"/>
              </a:spcAft>
            </a:pPr>
            <a:r>
              <a:rPr sz="1500" b="0" i="1">
                <a:solidFill>
                  <a:srgbClr val="2E5C8A"/>
                </a:solidFill>
                <a:latin typeface="Calibri"/>
              </a:rPr>
              <a:t>Y cómo los abordamos</a:t>
            </a:r>
          </a:p>
        </p:txBody>
      </p:sp>
      <p:graphicFrame>
        <p:nvGraphicFramePr>
          <p:cNvPr id="7" name="Table 6"/>
          <p:cNvGraphicFramePr>
            <a:graphicFrameLocks noGrp="1"/>
          </p:cNvGraphicFramePr>
          <p:nvPr/>
        </p:nvGraphicFramePr>
        <p:xfrm>
          <a:off x="548640" y="1920240"/>
          <a:ext cx="11100814" cy="3291840"/>
        </p:xfrm>
        <a:graphic>
          <a:graphicData uri="http://schemas.openxmlformats.org/drawingml/2006/table">
            <a:tbl>
              <a:tblPr firstRow="1" bandRow="1">
                <a:tableStyleId>{5C22544A-7EE6-4342-B048-85BDC9FD1C3A}</a:tableStyleId>
              </a:tblPr>
              <a:tblGrid>
                <a:gridCol w="3210979"/>
                <a:gridCol w="917422"/>
                <a:gridCol w="1009165"/>
                <a:gridCol w="5963248"/>
              </a:tblGrid>
              <a:tr h="658368">
                <a:tc>
                  <a:txBody>
                    <a:bodyPr wrap="square"/>
                    <a:lstStyle/>
                    <a:p>
                      <a:r>
                        <a:rPr sz="1150" b="1">
                          <a:solidFill>
                            <a:srgbClr val="FFFFFF"/>
                          </a:solidFill>
                          <a:latin typeface="Calibri"/>
                        </a:rPr>
                        <a:t>Riesgo</a:t>
                      </a:r>
                    </a:p>
                  </a:txBody>
                  <a:tcPr marL="82296" marR="82296" marT="45720" marB="45720">
                    <a:solidFill>
                      <a:srgbClr val="1F3A5F"/>
                    </a:solidFill>
                  </a:tcPr>
                </a:tc>
                <a:tc>
                  <a:txBody>
                    <a:bodyPr wrap="square"/>
                    <a:lstStyle/>
                    <a:p>
                      <a:r>
                        <a:rPr sz="1150" b="1">
                          <a:solidFill>
                            <a:srgbClr val="FFFFFF"/>
                          </a:solidFill>
                          <a:latin typeface="Calibri"/>
                        </a:rPr>
                        <a:t>Prob.</a:t>
                      </a:r>
                    </a:p>
                  </a:txBody>
                  <a:tcPr marL="82296" marR="82296" marT="45720" marB="45720">
                    <a:solidFill>
                      <a:srgbClr val="1F3A5F"/>
                    </a:solidFill>
                  </a:tcPr>
                </a:tc>
                <a:tc>
                  <a:txBody>
                    <a:bodyPr wrap="square"/>
                    <a:lstStyle/>
                    <a:p>
                      <a:r>
                        <a:rPr sz="1150" b="1">
                          <a:solidFill>
                            <a:srgbClr val="FFFFFF"/>
                          </a:solidFill>
                          <a:latin typeface="Calibri"/>
                        </a:rPr>
                        <a:t>Impacto</a:t>
                      </a:r>
                    </a:p>
                  </a:txBody>
                  <a:tcPr marL="82296" marR="82296" marT="45720" marB="45720">
                    <a:solidFill>
                      <a:srgbClr val="1F3A5F"/>
                    </a:solidFill>
                  </a:tcPr>
                </a:tc>
                <a:tc>
                  <a:txBody>
                    <a:bodyPr wrap="square"/>
                    <a:lstStyle/>
                    <a:p>
                      <a:r>
                        <a:rPr sz="1150" b="1">
                          <a:solidFill>
                            <a:srgbClr val="FFFFFF"/>
                          </a:solidFill>
                          <a:latin typeface="Calibri"/>
                        </a:rPr>
                        <a:t>Mitigación</a:t>
                      </a:r>
                    </a:p>
                  </a:txBody>
                  <a:tcPr marL="82296" marR="82296" marT="45720" marB="45720">
                    <a:solidFill>
                      <a:srgbClr val="1F3A5F"/>
                    </a:solidFill>
                  </a:tcPr>
                </a:tc>
              </a:tr>
              <a:tr h="658368">
                <a:tc>
                  <a:txBody>
                    <a:bodyPr wrap="square"/>
                    <a:lstStyle/>
                    <a:p>
                      <a:r>
                        <a:rPr sz="1150" b="0">
                          <a:solidFill>
                            <a:srgbClr val="22303C"/>
                          </a:solidFill>
                          <a:latin typeface="Calibri"/>
                        </a:rPr>
                        <a:t>La clínica no conserva datos históricos digitales</a:t>
                      </a:r>
                    </a:p>
                  </a:txBody>
                  <a:tcPr marL="82296" marR="82296" marT="45720" marB="45720">
                    <a:solidFill>
                      <a:srgbClr val="FFFFFF"/>
                    </a:solidFill>
                  </a:tcPr>
                </a:tc>
                <a:tc>
                  <a:txBody>
                    <a:bodyPr wrap="square"/>
                    <a:lstStyle/>
                    <a:p>
                      <a:r>
                        <a:rPr sz="1150" b="0">
                          <a:solidFill>
                            <a:srgbClr val="22303C"/>
                          </a:solidFill>
                          <a:latin typeface="Calibri"/>
                        </a:rPr>
                        <a:t>Alta</a:t>
                      </a:r>
                    </a:p>
                  </a:txBody>
                  <a:tcPr marL="82296" marR="82296" marT="45720" marB="45720">
                    <a:solidFill>
                      <a:srgbClr val="FFFFFF"/>
                    </a:solidFill>
                  </a:tcPr>
                </a:tc>
                <a:tc>
                  <a:txBody>
                    <a:bodyPr wrap="square"/>
                    <a:lstStyle/>
                    <a:p>
                      <a:r>
                        <a:rPr sz="1150" b="0">
                          <a:solidFill>
                            <a:srgbClr val="22303C"/>
                          </a:solidFill>
                          <a:latin typeface="Calibri"/>
                        </a:rPr>
                        <a:t>Medio</a:t>
                      </a:r>
                    </a:p>
                  </a:txBody>
                  <a:tcPr marL="82296" marR="82296" marT="45720" marB="45720">
                    <a:solidFill>
                      <a:srgbClr val="FFFFFF"/>
                    </a:solidFill>
                  </a:tcPr>
                </a:tc>
                <a:tc>
                  <a:txBody>
                    <a:bodyPr wrap="square"/>
                    <a:lstStyle/>
                    <a:p>
                      <a:r>
                        <a:rPr sz="1150" b="0">
                          <a:solidFill>
                            <a:srgbClr val="22303C"/>
                          </a:solidFill>
                          <a:latin typeface="Calibri"/>
                        </a:rPr>
                        <a:t>El sistema base ya genera datos de demostración: se extiende para producir historial de inasistencias con las tasas que reporte la clínica</a:t>
                      </a:r>
                    </a:p>
                  </a:txBody>
                  <a:tcPr marL="82296" marR="82296" marT="45720" marB="45720">
                    <a:solidFill>
                      <a:srgbClr val="FFFFFF"/>
                    </a:solidFill>
                  </a:tcPr>
                </a:tc>
              </a:tr>
              <a:tr h="658368">
                <a:tc>
                  <a:txBody>
                    <a:bodyPr wrap="square"/>
                    <a:lstStyle/>
                    <a:p>
                      <a:r>
                        <a:rPr sz="1150" b="0">
                          <a:solidFill>
                            <a:srgbClr val="22303C"/>
                          </a:solidFill>
                          <a:latin typeface="Calibri"/>
                        </a:rPr>
                        <a:t>Baja disponibilidad de la clínica para entrevistas</a:t>
                      </a:r>
                    </a:p>
                  </a:txBody>
                  <a:tcPr marL="82296" marR="82296" marT="45720" marB="45720">
                    <a:solidFill>
                      <a:srgbClr val="F4F7FA"/>
                    </a:solidFill>
                  </a:tcPr>
                </a:tc>
                <a:tc>
                  <a:txBody>
                    <a:bodyPr wrap="square"/>
                    <a:lstStyle/>
                    <a:p>
                      <a:r>
                        <a:rPr sz="1150" b="0">
                          <a:solidFill>
                            <a:srgbClr val="22303C"/>
                          </a:solidFill>
                          <a:latin typeface="Calibri"/>
                        </a:rPr>
                        <a:t>Media</a:t>
                      </a:r>
                    </a:p>
                  </a:txBody>
                  <a:tcPr marL="82296" marR="82296" marT="45720" marB="45720">
                    <a:solidFill>
                      <a:srgbClr val="F4F7FA"/>
                    </a:solidFill>
                  </a:tcPr>
                </a:tc>
                <a:tc>
                  <a:txBody>
                    <a:bodyPr wrap="square"/>
                    <a:lstStyle/>
                    <a:p>
                      <a:r>
                        <a:rPr sz="1150" b="0">
                          <a:solidFill>
                            <a:srgbClr val="22303C"/>
                          </a:solidFill>
                          <a:latin typeface="Calibri"/>
                        </a:rPr>
                        <a:t>Medio</a:t>
                      </a:r>
                    </a:p>
                  </a:txBody>
                  <a:tcPr marL="82296" marR="82296" marT="45720" marB="45720">
                    <a:solidFill>
                      <a:srgbClr val="F4F7FA"/>
                    </a:solidFill>
                  </a:tcPr>
                </a:tc>
                <a:tc>
                  <a:txBody>
                    <a:bodyPr wrap="square"/>
                    <a:lstStyle/>
                    <a:p>
                      <a:r>
                        <a:rPr sz="1150" b="0">
                          <a:solidFill>
                            <a:srgbClr val="22303C"/>
                          </a:solidFill>
                          <a:latin typeface="Calibri"/>
                        </a:rPr>
                        <a:t>Instrumento acotado a 40 minutos y contacto con más de un establecimiento</a:t>
                      </a:r>
                    </a:p>
                  </a:txBody>
                  <a:tcPr marL="82296" marR="82296" marT="45720" marB="45720">
                    <a:solidFill>
                      <a:srgbClr val="F4F7FA"/>
                    </a:solidFill>
                  </a:tcPr>
                </a:tc>
              </a:tr>
              <a:tr h="658368">
                <a:tc>
                  <a:txBody>
                    <a:bodyPr wrap="square"/>
                    <a:lstStyle/>
                    <a:p>
                      <a:r>
                        <a:rPr sz="1150" b="0">
                          <a:solidFill>
                            <a:srgbClr val="22303C"/>
                          </a:solidFill>
                          <a:latin typeface="Calibri"/>
                        </a:rPr>
                        <a:t>Dependencias entre las actividades del equipo</a:t>
                      </a:r>
                    </a:p>
                  </a:txBody>
                  <a:tcPr marL="82296" marR="82296" marT="45720" marB="45720">
                    <a:solidFill>
                      <a:srgbClr val="FFFFFF"/>
                    </a:solidFill>
                  </a:tcPr>
                </a:tc>
                <a:tc>
                  <a:txBody>
                    <a:bodyPr wrap="square"/>
                    <a:lstStyle/>
                    <a:p>
                      <a:r>
                        <a:rPr sz="1150" b="0">
                          <a:solidFill>
                            <a:srgbClr val="22303C"/>
                          </a:solidFill>
                          <a:latin typeface="Calibri"/>
                        </a:rPr>
                        <a:t>Media</a:t>
                      </a:r>
                    </a:p>
                  </a:txBody>
                  <a:tcPr marL="82296" marR="82296" marT="45720" marB="45720">
                    <a:solidFill>
                      <a:srgbClr val="FFFFFF"/>
                    </a:solidFill>
                  </a:tcPr>
                </a:tc>
                <a:tc>
                  <a:txBody>
                    <a:bodyPr wrap="square"/>
                    <a:lstStyle/>
                    <a:p>
                      <a:r>
                        <a:rPr sz="1150" b="0">
                          <a:solidFill>
                            <a:srgbClr val="22303C"/>
                          </a:solidFill>
                          <a:latin typeface="Calibri"/>
                        </a:rPr>
                        <a:t>Medio</a:t>
                      </a:r>
                    </a:p>
                  </a:txBody>
                  <a:tcPr marL="82296" marR="82296" marT="45720" marB="45720">
                    <a:solidFill>
                      <a:srgbClr val="FFFFFF"/>
                    </a:solidFill>
                  </a:tcPr>
                </a:tc>
                <a:tc>
                  <a:txBody>
                    <a:bodyPr wrap="square"/>
                    <a:lstStyle/>
                    <a:p>
                      <a:r>
                        <a:rPr sz="1150" b="0">
                          <a:solidFill>
                            <a:srgbClr val="22303C"/>
                          </a:solidFill>
                          <a:latin typeface="Calibri"/>
                        </a:rPr>
                        <a:t>Incrementos de 2 semanas y actividades superpuestas en la Gantt</a:t>
                      </a:r>
                    </a:p>
                  </a:txBody>
                  <a:tcPr marL="82296" marR="82296" marT="45720" marB="45720">
                    <a:solidFill>
                      <a:srgbClr val="FFFFFF"/>
                    </a:solidFill>
                  </a:tcPr>
                </a:tc>
              </a:tr>
              <a:tr h="658368">
                <a:tc>
                  <a:txBody>
                    <a:bodyPr wrap="square"/>
                    <a:lstStyle/>
                    <a:p>
                      <a:r>
                        <a:rPr sz="1150" b="0">
                          <a:solidFill>
                            <a:srgbClr val="22303C"/>
                          </a:solidFill>
                          <a:latin typeface="Calibri"/>
                        </a:rPr>
                        <a:t>Brecha técnica del equipo en modelado predictivo</a:t>
                      </a:r>
                    </a:p>
                  </a:txBody>
                  <a:tcPr marL="82296" marR="82296" marT="45720" marB="45720">
                    <a:solidFill>
                      <a:srgbClr val="F4F7FA"/>
                    </a:solidFill>
                  </a:tcPr>
                </a:tc>
                <a:tc>
                  <a:txBody>
                    <a:bodyPr wrap="square"/>
                    <a:lstStyle/>
                    <a:p>
                      <a:r>
                        <a:rPr sz="1150" b="0">
                          <a:solidFill>
                            <a:srgbClr val="22303C"/>
                          </a:solidFill>
                          <a:latin typeface="Calibri"/>
                        </a:rPr>
                        <a:t>Media</a:t>
                      </a:r>
                    </a:p>
                  </a:txBody>
                  <a:tcPr marL="82296" marR="82296" marT="45720" marB="45720">
                    <a:solidFill>
                      <a:srgbClr val="F4F7FA"/>
                    </a:solidFill>
                  </a:tcPr>
                </a:tc>
                <a:tc>
                  <a:txBody>
                    <a:bodyPr wrap="square"/>
                    <a:lstStyle/>
                    <a:p>
                      <a:r>
                        <a:rPr sz="1150" b="0">
                          <a:solidFill>
                            <a:srgbClr val="22303C"/>
                          </a:solidFill>
                          <a:latin typeface="Calibri"/>
                        </a:rPr>
                        <a:t>Alto</a:t>
                      </a:r>
                    </a:p>
                  </a:txBody>
                  <a:tcPr marL="82296" marR="82296" marT="45720" marB="45720">
                    <a:solidFill>
                      <a:srgbClr val="F4F7FA"/>
                    </a:solidFill>
                  </a:tcPr>
                </a:tc>
                <a:tc>
                  <a:txBody>
                    <a:bodyPr wrap="square"/>
                    <a:lstStyle/>
                    <a:p>
                      <a:r>
                        <a:rPr sz="1150" b="0">
                          <a:solidFill>
                            <a:srgbClr val="22303C"/>
                          </a:solidFill>
                          <a:latin typeface="Calibri"/>
                        </a:rPr>
                        <a:t>Modelo por reglas en SQL como línea base; machine learning como mejora opcional</a:t>
                      </a:r>
                    </a:p>
                  </a:txBody>
                  <a:tcPr marL="82296" marR="82296" marT="45720" marB="45720">
                    <a:solidFill>
                      <a:srgbClr val="F4F7FA"/>
                    </a:solidFill>
                  </a:tcPr>
                </a:tc>
              </a:tr>
            </a:tbl>
          </a:graphicData>
        </a:graphic>
      </p:graphicFrame>
      <p:sp>
        <p:nvSpPr>
          <p:cNvPr id="8" name="Rectangle 7"/>
          <p:cNvSpPr/>
          <p:nvPr/>
        </p:nvSpPr>
        <p:spPr>
          <a:xfrm>
            <a:off x="548640" y="5440680"/>
            <a:ext cx="11100816" cy="777240"/>
          </a:xfrm>
          <a:prstGeom prst="rect">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5577840"/>
            <a:ext cx="10607040" cy="548640"/>
          </a:xfrm>
          <a:prstGeom prst="rect">
            <a:avLst/>
          </a:prstGeom>
          <a:noFill/>
        </p:spPr>
        <p:txBody>
          <a:bodyPr wrap="square" anchor="t">
            <a:spAutoFit/>
          </a:bodyPr>
          <a:lstStyle/>
          <a:p>
            <a:pPr algn="l">
              <a:spcAft>
                <a:spcPts val="600"/>
              </a:spcAft>
            </a:pPr>
            <a:r>
              <a:rPr sz="1500" b="1" i="0">
                <a:solidFill>
                  <a:srgbClr val="1F3A5F"/>
                </a:solidFill>
                <a:latin typeface="Calibri"/>
              </a:rPr>
              <a:t>El proyecto se completa aunque la etapa de machine learning no alcance a desarrollarse.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417320"/>
            <a:ext cx="10058400" cy="822960"/>
          </a:xfrm>
          <a:prstGeom prst="rect">
            <a:avLst/>
          </a:prstGeom>
          <a:noFill/>
        </p:spPr>
        <p:txBody>
          <a:bodyPr wrap="square" anchor="t">
            <a:spAutoFit/>
          </a:bodyPr>
          <a:lstStyle/>
          <a:p>
            <a:pPr algn="l">
              <a:spcAft>
                <a:spcPts val="600"/>
              </a:spcAft>
            </a:pPr>
            <a:r>
              <a:rPr sz="2000" b="0" i="0">
                <a:solidFill>
                  <a:srgbClr val="8FA8C4"/>
                </a:solidFill>
                <a:latin typeface="Calibri"/>
              </a:rPr>
              <a:t>En una frase</a:t>
            </a:r>
          </a:p>
        </p:txBody>
      </p:sp>
      <p:sp>
        <p:nvSpPr>
          <p:cNvPr id="5" name="TextBox 4"/>
          <p:cNvSpPr txBox="1"/>
          <p:nvPr/>
        </p:nvSpPr>
        <p:spPr>
          <a:xfrm>
            <a:off x="1188720" y="2148840"/>
            <a:ext cx="9875520" cy="2377440"/>
          </a:xfrm>
          <a:prstGeom prst="rect">
            <a:avLst/>
          </a:prstGeom>
          <a:noFill/>
        </p:spPr>
        <p:txBody>
          <a:bodyPr wrap="square" anchor="t">
            <a:spAutoFit/>
          </a:bodyPr>
          <a:lstStyle/>
          <a:p>
            <a:pPr algn="l">
              <a:spcAft>
                <a:spcPts val="800"/>
              </a:spcAft>
            </a:pPr>
            <a:r>
              <a:rPr sz="2700" b="1" i="0">
                <a:solidFill>
                  <a:srgbClr val="FFFFFF"/>
                </a:solidFill>
                <a:latin typeface="Calibri"/>
              </a:rPr>
              <a:t>Las clínicas veterinarias pequeñas pierden horas</a:t>
            </a:r>
          </a:p>
          <a:p>
            <a:pPr algn="l">
              <a:spcAft>
                <a:spcPts val="800"/>
              </a:spcAft>
            </a:pPr>
            <a:r>
              <a:rPr sz="2700" b="1" i="0">
                <a:solidFill>
                  <a:srgbClr val="FFFFFF"/>
                </a:solidFill>
                <a:latin typeface="Calibri"/>
              </a:rPr>
              <a:t>y ni siquiera pueden medir cuántas.</a:t>
            </a:r>
          </a:p>
          <a:p>
            <a:pPr algn="l">
              <a:spcAft>
                <a:spcPts val="800"/>
              </a:spcAft>
            </a:pPr>
            <a:r>
              <a:rPr sz="2700" b="1" i="0">
                <a:solidFill>
                  <a:srgbClr val="FFFFFF"/>
                </a:solidFill>
                <a:latin typeface="Calibri"/>
              </a:rPr>
              <a:t/>
            </a:r>
          </a:p>
          <a:p>
            <a:pPr algn="l">
              <a:spcAft>
                <a:spcPts val="800"/>
              </a:spcAft>
            </a:pPr>
            <a:r>
              <a:rPr sz="2700" b="1" i="0">
                <a:solidFill>
                  <a:srgbClr val="FFFFFF"/>
                </a:solidFill>
                <a:latin typeface="Calibri"/>
              </a:rPr>
              <a:t>PreVet estructura esos datos y anticipa</a:t>
            </a:r>
          </a:p>
          <a:p>
            <a:pPr algn="l">
              <a:spcAft>
                <a:spcPts val="800"/>
              </a:spcAft>
            </a:pPr>
            <a:r>
              <a:rPr sz="2700" b="1" i="0">
                <a:solidFill>
                  <a:srgbClr val="FFFFFF"/>
                </a:solidFill>
                <a:latin typeface="Calibri"/>
              </a:rPr>
              <a:t>qué hora se va a perder, antes de que ocurra.</a:t>
            </a:r>
          </a:p>
        </p:txBody>
      </p:sp>
      <p:sp>
        <p:nvSpPr>
          <p:cNvPr id="6" name="Rectangle 5"/>
          <p:cNvSpPr/>
          <p:nvPr/>
        </p:nvSpPr>
        <p:spPr>
          <a:xfrm>
            <a:off x="1234440" y="4800600"/>
            <a:ext cx="2926080" cy="41148"/>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5120640"/>
            <a:ext cx="10058400" cy="914400"/>
          </a:xfrm>
          <a:prstGeom prst="rect">
            <a:avLst/>
          </a:prstGeom>
          <a:noFill/>
        </p:spPr>
        <p:txBody>
          <a:bodyPr wrap="square" anchor="t">
            <a:spAutoFit/>
          </a:bodyPr>
          <a:lstStyle/>
          <a:p>
            <a:pPr algn="l">
              <a:spcAft>
                <a:spcPts val="400"/>
              </a:spcAft>
            </a:pPr>
            <a:r>
              <a:rPr sz="1400" b="0" i="0">
                <a:solidFill>
                  <a:srgbClr val="9FB8D0"/>
                </a:solidFill>
                <a:latin typeface="Calibri"/>
              </a:rPr>
              <a:t>Katalina Mora Quiñones  ·  Uciell Madrid</a:t>
            </a:r>
          </a:p>
          <a:p>
            <a:pPr algn="l">
              <a:spcAft>
                <a:spcPts val="400"/>
              </a:spcAft>
            </a:pPr>
            <a:r>
              <a:rPr sz="1400" b="0" i="0">
                <a:solidFill>
                  <a:srgbClr val="9FB8D0"/>
                </a:solidFill>
                <a:latin typeface="Calibri"/>
              </a:rPr>
              <a:t>Capstone PTY4614 · Evaluación 1 · Septiembre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